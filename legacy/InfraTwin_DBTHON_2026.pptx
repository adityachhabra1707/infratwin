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8D614D-95F1-D2F8-38E0-F7F87C66498A}">
          <p14:sldIdLst>
            <p14:sldId id="256"/>
          </p14:sldIdLst>
        </p14:section>
        <p14:section name="Problem" id="{4CB292B2-9F5B-D612-5875-32AF2C111A9B}">
          <p14:sldIdLst>
            <p14:sldId id="257"/>
            <p14:sldId id="258"/>
          </p14:sldIdLst>
        </p14:section>
        <p14:section name="Architecture" id="{480ECC1C-FEA6-59D7-31AA-0A2A8B7E93EA}">
          <p14:sldIdLst>
            <p14:sldId id="259"/>
            <p14:sldId id="260"/>
          </p14:sldIdLst>
        </p14:section>
        <p14:section name="Database design" id="{D55F3BE6-EBF3-6A69-6CD5-70AE38BF0736}">
          <p14:sldIdLst>
            <p14:sldId id="261"/>
            <p14:sldId id="262"/>
            <p14:sldId id="263"/>
            <p14:sldId id="264"/>
          </p14:sldIdLst>
        </p14:section>
        <p14:section name="The three layers" id="{769243F2-54AA-DB4A-B49B-EDC640E11932}">
          <p14:sldIdLst>
            <p14:sldId id="265"/>
            <p14:sldId id="266"/>
            <p14:sldId id="267"/>
          </p14:sldIdLst>
        </p14:section>
        <p14:section name="Results" id="{C8AC5DDA-27FD-9714-5849-E63E1F2FFCA4}">
          <p14:sldIdLst>
            <p14:sldId id="268"/>
            <p14:sldId id="269"/>
          </p14:sldIdLst>
        </p14:section>
        <p14:section name="Close" id="{3AB2119B-F1F4-4333-D615-A6965C24194A}">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11FA1-B604-42F6-BB05-EB4AD13EDF43}" v="1" dt="2026-10-08T07:08:15.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Chhabra" userId="36e13cde8acf7372" providerId="LiveId" clId="{6DF5BEA2-90D7-4C1D-9B8A-8A0887058520}"/>
    <pc:docChg chg="modSld">
      <pc:chgData name="Aditya Chhabra" userId="36e13cde8acf7372" providerId="LiveId" clId="{6DF5BEA2-90D7-4C1D-9B8A-8A0887058520}" dt="2026-10-08T07:08:22.803" v="2"/>
      <pc:docMkLst>
        <pc:docMk/>
      </pc:docMkLst>
      <pc:sldChg chg="addSp delSp modSp mod">
        <pc:chgData name="Aditya Chhabra" userId="36e13cde8acf7372" providerId="LiveId" clId="{6DF5BEA2-90D7-4C1D-9B8A-8A0887058520}" dt="2026-10-08T07:08:22.803" v="2"/>
        <pc:sldMkLst>
          <pc:docMk/>
          <pc:sldMk cId="0" sldId="257"/>
        </pc:sldMkLst>
        <pc:spChg chg="add del mod">
          <ac:chgData name="Aditya Chhabra" userId="36e13cde8acf7372" providerId="LiveId" clId="{6DF5BEA2-90D7-4C1D-9B8A-8A0887058520}" dt="2026-10-08T07:08:22.803" v="2"/>
          <ac:spMkLst>
            <pc:docMk/>
            <pc:sldMk cId="0" sldId="257"/>
            <ac:spMk id="26" creationId="{4A5EA819-2A93-DDA7-CF48-E0D16DE4585F}"/>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Speed-up</c:v>
                </c:pt>
              </c:strCache>
            </c:strRef>
          </c:tx>
          <c:spPr>
            <a:solidFill>
              <a:srgbClr val="E07A1F"/>
            </a:solidFill>
            <a:effectLst/>
          </c:spPr>
          <c:invertIfNegative val="0"/>
          <c:dLbls>
            <c:numFmt formatCode="0.0&quot;×&quot;" sourceLinked="0"/>
            <c:spPr>
              <a:noFill/>
              <a:ln>
                <a:noFill/>
              </a:ln>
              <a:effectLst/>
            </c:spPr>
            <c:txPr>
              <a:bodyPr/>
              <a:lstStyle/>
              <a:p>
                <a:pPr>
                  <a:defRPr sz="1200" b="1" i="0" u="none" strike="noStrike">
                    <a:solidFill>
                      <a:srgbClr val="11151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Avg temp,
1 machine, 24 h</c:v>
                </c:pt>
                <c:pt idx="1">
                  <c:v>Daily averages,
all machines, 30 d</c:v>
                </c:pt>
                <c:pt idx="2">
                  <c:v>Threshold scan,
1-hour window</c:v>
                </c:pt>
                <c:pt idx="3">
                  <c:v>Similar-report search,
20k vectors</c:v>
                </c:pt>
              </c:strCache>
            </c:strRef>
          </c:cat>
          <c:val>
            <c:numRef>
              <c:f>Sheet1!$B$2:$B$5</c:f>
              <c:numCache>
                <c:formatCode>General</c:formatCode>
                <c:ptCount val="4"/>
                <c:pt idx="0">
                  <c:v>73.2</c:v>
                </c:pt>
                <c:pt idx="1">
                  <c:v>27.9</c:v>
                </c:pt>
                <c:pt idx="2">
                  <c:v>4.4000000000000004</c:v>
                </c:pt>
                <c:pt idx="3">
                  <c:v>7.3</c:v>
                </c:pt>
              </c:numCache>
            </c:numRef>
          </c:val>
          <c:extLst>
            <c:ext xmlns:c16="http://schemas.microsoft.com/office/drawing/2014/chart" uri="{C3380CC4-5D6E-409C-BE32-E72D297353CC}">
              <c16:uniqueId val="{00000000-8695-4387-93AD-BA6940A4F8F8}"/>
            </c:ext>
          </c:extLst>
        </c:ser>
        <c:dLbls>
          <c:showLegendKey val="0"/>
          <c:showVal val="1"/>
          <c:showCatName val="0"/>
          <c:showSerName val="0"/>
          <c:showPercent val="0"/>
          <c:showBubbleSize val="0"/>
        </c:dLbls>
        <c:gapWidth val="58"/>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617A"/>
                </a:solidFill>
                <a:latin typeface="+mn-lt"/>
              </a:defRPr>
            </a:pPr>
            <a:endParaRPr lang="en-US"/>
          </a:p>
        </c:txPr>
        <c:crossAx val="2094734552"/>
        <c:crosses val="autoZero"/>
        <c:auto val="1"/>
        <c:lblAlgn val="ctr"/>
        <c:lblOffset val="100"/>
        <c:noMultiLvlLbl val="1"/>
      </c:catAx>
      <c:valAx>
        <c:axId val="2094734552"/>
        <c:scaling>
          <c:orientation val="minMax"/>
          <c:max val="90"/>
          <c:min val="0"/>
        </c:scaling>
        <c:delete val="0"/>
        <c:axPos val="l"/>
        <c:majorGridlines>
          <c:spPr>
            <a:ln w="12700" cap="flat">
              <a:solidFill>
                <a:srgbClr val="E6E9EE"/>
              </a:solidFill>
              <a:prstDash val="solid"/>
              <a:round/>
            </a:ln>
          </c:spPr>
        </c:majorGridlines>
        <c:title>
          <c:tx>
            <c:rich>
              <a:bodyPr/>
              <a:lstStyle/>
              <a:p>
                <a:pPr>
                  <a:defRPr sz="1000" b="0" i="0" u="none" strike="noStrike">
                    <a:solidFill>
                      <a:srgbClr val="8A94A6"/>
                    </a:solidFill>
                    <a:latin typeface="+mn-lt"/>
                  </a:defRPr>
                </a:pPr>
                <a:r>
                  <a:rPr lang="en-IN" sz="1000" b="0" i="0" u="none" strike="noStrike">
                    <a:solidFill>
                      <a:srgbClr val="8A94A6"/>
                    </a:solidFill>
                    <a:latin typeface="+mn-lt"/>
                  </a:rPr>
                  <a:t>times faster than baseline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4A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5341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database doing the work of three. Everything in this deck was measured on a live database, not estimated.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cross-domain question. That is the one a three-system stack cannot answer in a single query, and it is the reason for the whole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'why not just use the right tool for each job'. The answer is the honest line at the bottom: we know where the ceiling is, and we are far below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sources, one database, three queries. Land on the payoff box.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asks why not a managed vector DB: the answer is on slide 3, and the cost line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this is the part the judging criteria weight most.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assets is the single source of asset identity; everything references it. The dashed line to audit_logs is a trigger, not a foreign key - an audit trail must survive the row it describes.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questions a database examiner asks. Decision 3 is the one to be humble about - name the condition under which the other choice wins.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trigger footnote is a good place to show we tested rather than assumed. We found the original pattern works on PG16 and hardened it anyway.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two-engines point is worth making: it is the difference between a demo that runs anywhere and one that needs a specific Docker image.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Neo4j: depth-3 traversals over 100 edges are not where a graph database earns its keep. At depth 10 over millions of edges, it would.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offline fallback is a robustness story, not a shortcut. Mention that the schema and queries are byte-identical either way.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the storage cost before a judge finds it. It reads as rigour, not weakness.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project that was built from one that was only designed. Do not skip it to save time.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proof line, then take questions. Have the dashboard already running on a second window.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63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057400"/>
            <a:ext cx="10332720" cy="1371600"/>
          </a:xfrm>
          <a:prstGeom prst="rect">
            <a:avLst/>
          </a:prstGeom>
          <a:noFill/>
          <a:ln/>
        </p:spPr>
        <p:txBody>
          <a:bodyPr wrap="square" rtlCol="0"/>
          <a:lstStyle>
            <a:lvl1pPr marL="0" indent="0" algn="l">
              <a:buNone/>
              <a:defRPr lang="en-US" sz="48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800" dirty="0"/>
          </a:p>
        </p:txBody>
      </p:sp>
      <p:sp>
        <p:nvSpPr>
          <p:cNvPr id="3" name="Text 0"/>
          <p:cNvSpPr>
            <a:spLocks noGrp="1"/>
          </p:cNvSpPr>
          <p:nvPr>
            <p:ph type="body" idx="101" hasCustomPrompt="1"/>
          </p:nvPr>
        </p:nvSpPr>
        <p:spPr>
          <a:xfrm>
            <a:off x="914400" y="3520440"/>
            <a:ext cx="9509760" cy="1371600"/>
          </a:xfrm>
          <a:prstGeom prst="rect">
            <a:avLst/>
          </a:prstGeom>
          <a:noFill/>
          <a:ln/>
        </p:spPr>
        <p:txBody>
          <a:bodyPr wrap="square" rtlCol="0"/>
          <a:lstStyle>
            <a:lvl1pPr marL="0" indent="0" algn="l">
              <a:buNone/>
              <a:defRPr lang="en-US" sz="1700" dirty="0">
                <a:solidFill>
                  <a:srgbClr val="C8D0DA"/>
                </a:solidFill>
              </a:defRPr>
            </a:lvl1pPr>
          </a:lstStyle>
          <a:p>
            <a:pPr marL="0" indent="0" algn="l">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E263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651760"/>
            <a:ext cx="10332720" cy="100584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914400" y="3703320"/>
            <a:ext cx="9509760" cy="822960"/>
          </a:xfrm>
          <a:prstGeom prst="rect">
            <a:avLst/>
          </a:prstGeom>
          <a:noFill/>
          <a:ln/>
        </p:spPr>
        <p:txBody>
          <a:bodyPr wrap="square" rtlCol="0"/>
          <a:lstStyle>
            <a:lvl1pPr marL="0" indent="0" algn="l">
              <a:buNone/>
              <a:defRPr lang="en-US" sz="1600" dirty="0">
                <a:solidFill>
                  <a:srgbClr val="C8D0DA"/>
                </a:solidFill>
              </a:defRPr>
            </a:lvl1pPr>
          </a:lstStyle>
          <a:p>
            <a:pPr marL="0" indent="0" algn="l">
              <a:buNone/>
            </a:pPr>
            <a:endParaRPr lang="en-US" sz="1600" dirty="0"/>
          </a:p>
        </p:txBody>
      </p:sp>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3708A"/>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rtlCol="0"/>
          <a:lstStyle>
            <a:lvl1pPr marL="0" indent="0" algn="l">
              <a:buNone/>
              <a:defRPr lang="en-US" sz="30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rtlCol="0"/>
          <a:lstStyle>
            <a:lvl1pPr marL="0" indent="0" algn="l">
              <a:buNone/>
              <a:defRPr lang="en-US" sz="1350" dirty="0">
                <a:solidFill>
                  <a:srgbClr val="67718A"/>
                </a:solidFill>
              </a:defRPr>
            </a:lvl1pPr>
          </a:lstStyle>
          <a:p>
            <a:pPr marL="0" indent="0" algn="l">
              <a:buNone/>
            </a:pPr>
            <a:endParaRPr lang="en-US" sz="1350" dirty="0"/>
          </a:p>
        </p:txBody>
      </p:sp>
      <p:sp>
        <p:nvSpPr>
          <p:cNvPr id="25"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3708A"/>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g"/>
          <p:cNvSpPr/>
          <p:nvPr/>
        </p:nvSpPr>
        <p:spPr>
          <a:xfrm>
            <a:off x="0" y="0"/>
            <a:ext cx="12161520" cy="6858000"/>
          </a:xfrm>
          <a:prstGeom prst="rect">
            <a:avLst/>
          </a:prstGeom>
          <a:solidFill>
            <a:srgbClr val="1E2630"/>
          </a:solidFill>
          <a:ln/>
        </p:spPr>
      </p:sp>
      <p:sp>
        <p:nvSpPr>
          <p:cNvPr id="3" name="dot0"/>
          <p:cNvSpPr/>
          <p:nvPr/>
        </p:nvSpPr>
        <p:spPr>
          <a:xfrm>
            <a:off x="914400" y="1371600"/>
            <a:ext cx="274320" cy="274320"/>
          </a:xfrm>
          <a:prstGeom prst="ellipse">
            <a:avLst/>
          </a:prstGeom>
          <a:solidFill>
            <a:srgbClr val="0E7490"/>
          </a:solidFill>
          <a:ln/>
        </p:spPr>
      </p:sp>
      <p:sp>
        <p:nvSpPr>
          <p:cNvPr id="4" name="dot1"/>
          <p:cNvSpPr/>
          <p:nvPr/>
        </p:nvSpPr>
        <p:spPr>
          <a:xfrm>
            <a:off x="1298448" y="1371600"/>
            <a:ext cx="274320" cy="274320"/>
          </a:xfrm>
          <a:prstGeom prst="ellipse">
            <a:avLst/>
          </a:prstGeom>
          <a:solidFill>
            <a:srgbClr val="4338CA"/>
          </a:solidFill>
          <a:ln/>
        </p:spPr>
      </p:sp>
      <p:sp>
        <p:nvSpPr>
          <p:cNvPr id="5" name="dot2"/>
          <p:cNvSpPr/>
          <p:nvPr/>
        </p:nvSpPr>
        <p:spPr>
          <a:xfrm>
            <a:off x="1682496" y="1371600"/>
            <a:ext cx="274320" cy="274320"/>
          </a:xfrm>
          <a:prstGeom prst="ellipse">
            <a:avLst/>
          </a:prstGeom>
          <a:solidFill>
            <a:srgbClr val="9D174D"/>
          </a:solidFill>
          <a:ln/>
        </p:spPr>
      </p:sp>
      <p:sp>
        <p:nvSpPr>
          <p:cNvPr id="6" name="Text 0"/>
          <p:cNvSpPr>
            <a:spLocks noGrp="1"/>
          </p:cNvSpPr>
          <p:nvPr>
            <p:ph type="title" idx="100" hasCustomPrompt="1"/>
          </p:nvPr>
        </p:nvSpPr>
        <p:spPr>
          <a:xfrm>
            <a:off x="914400" y="2057400"/>
            <a:ext cx="10332720" cy="1371600"/>
          </a:xfrm>
          <a:prstGeom prst="rect">
            <a:avLst/>
          </a:prstGeom>
          <a:noFill/>
          <a:ln/>
        </p:spPr>
        <p:txBody>
          <a:bodyPr wrap="square" lIns="0" tIns="0" rIns="0" bIns="0" rtlCol="0"/>
          <a:lstStyle/>
          <a:p>
            <a:pPr marL="0" indent="0" algn="l">
              <a:buNone/>
            </a:pPr>
            <a:r>
              <a:rPr lang="en-US" sz="4800" b="1" dirty="0">
                <a:solidFill>
                  <a:schemeClr val="bg1"/>
                </a:solidFill>
                <a:latin typeface="Cambria" pitchFamily="34" charset="0"/>
                <a:ea typeface="Cambria" pitchFamily="34" charset="-122"/>
                <a:cs typeface="Cambria" pitchFamily="34" charset="-120"/>
              </a:rPr>
              <a:t>InfraTwin</a:t>
            </a:r>
            <a:endParaRPr lang="en-US" sz="4800" dirty="0"/>
          </a:p>
        </p:txBody>
      </p:sp>
      <p:sp>
        <p:nvSpPr>
          <p:cNvPr id="7" name="Text 0"/>
          <p:cNvSpPr>
            <a:spLocks noGrp="1"/>
          </p:cNvSpPr>
          <p:nvPr>
            <p:ph type="body" idx="101" hasCustomPrompt="1"/>
          </p:nvPr>
        </p:nvSpPr>
        <p:spPr>
          <a:xfrm>
            <a:off x="914400" y="3520440"/>
            <a:ext cx="9509760" cy="1371600"/>
          </a:xfrm>
          <a:prstGeom prst="rect">
            <a:avLst/>
          </a:prstGeom>
          <a:noFill/>
          <a:ln/>
        </p:spPr>
        <p:txBody>
          <a:bodyPr wrap="square" lIns="0" tIns="0" rIns="0" bIns="0" rtlCol="0"/>
          <a:lstStyle/>
          <a:p>
            <a:pPr marL="0" indent="0" algn="l">
              <a:buNone/>
            </a:pPr>
            <a:r>
              <a:rPr lang="en-US" sz="1700" dirty="0">
                <a:solidFill>
                  <a:srgbClr val="C8D0DA"/>
                </a:solidFill>
              </a:rPr>
              <a:t>Predictive maintenance on one PostgreSQL database.</a:t>
            </a:r>
            <a:endParaRPr lang="en-US" sz="1700" dirty="0"/>
          </a:p>
          <a:p>
            <a:pPr marL="0" indent="0" algn="l">
              <a:buNone/>
            </a:pPr>
            <a:r>
              <a:rPr lang="en-US" sz="1700" dirty="0">
                <a:solidFill>
                  <a:srgbClr val="C8D0DA"/>
                </a:solidFill>
              </a:rPr>
              <a:t>Time-series anomaly detection, failure-cascade graph and semantic search — three capabilities that normally mean three systems.</a:t>
            </a:r>
            <a:endParaRPr lang="en-US" sz="1700" dirty="0"/>
          </a:p>
        </p:txBody>
      </p:sp>
      <p:sp>
        <p:nvSpPr>
          <p:cNvPr id="8" name="Text 6"/>
          <p:cNvSpPr txBox="1"/>
          <p:nvPr/>
        </p:nvSpPr>
        <p:spPr>
          <a:xfrm>
            <a:off x="914400" y="5257800"/>
            <a:ext cx="3657600" cy="274320"/>
          </a:xfrm>
          <a:prstGeom prst="rect">
            <a:avLst/>
          </a:prstGeom>
          <a:noFill/>
          <a:ln/>
        </p:spPr>
        <p:txBody>
          <a:bodyPr wrap="square" lIns="0" tIns="0" rIns="0" bIns="0" rtlCol="0" anchor="ctr"/>
          <a:lstStyle/>
          <a:p>
            <a:pPr marL="0" indent="0">
              <a:buNone/>
            </a:pPr>
            <a:r>
              <a:rPr lang="en-US" sz="1250" b="1" kern="0" spc="200" dirty="0">
                <a:solidFill>
                  <a:srgbClr val="E07A1F"/>
                </a:solidFill>
              </a:rPr>
              <a:t>DBTHON 2026</a:t>
            </a:r>
            <a:endParaRPr lang="en-US" sz="1250" dirty="0"/>
          </a:p>
        </p:txBody>
      </p:sp>
      <p:sp>
        <p:nvSpPr>
          <p:cNvPr id="9" name="Text 7"/>
          <p:cNvSpPr txBox="1"/>
          <p:nvPr/>
        </p:nvSpPr>
        <p:spPr>
          <a:xfrm>
            <a:off x="914400" y="5577840"/>
            <a:ext cx="10332720" cy="274320"/>
          </a:xfrm>
          <a:prstGeom prst="rect">
            <a:avLst/>
          </a:prstGeom>
          <a:noFill/>
          <a:ln/>
        </p:spPr>
        <p:txBody>
          <a:bodyPr wrap="square" lIns="0" tIns="0" rIns="0" bIns="0" rtlCol="0" anchor="ctr"/>
          <a:lstStyle/>
          <a:p>
            <a:pPr marL="0" indent="0">
              <a:buNone/>
            </a:pPr>
            <a:r>
              <a:rPr lang="en-US" sz="1200" dirty="0">
                <a:solidFill>
                  <a:srgbClr val="8A94A6"/>
                </a:solidFill>
              </a:rPr>
              <a:t>5,090,501 sensor readings  ·  PostgreSQL 16  ·  pgvector  ·  73× faster than the unoptimised baseline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Three questions, three systems</a:t>
            </a: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r>
              <a:rPr lang="en-US" sz="1350" dirty="0">
                <a:solidFill>
                  <a:srgbClr val="67718A"/>
                </a:solidFill>
              </a:rPr>
              <a:t>Unplanned downtime costs a mid-size plant an estimated $50k per hour. The diagnosis is slow because the answers are scattered.</a:t>
            </a:r>
            <a:endParaRPr lang="en-US" sz="1350" dirty="0"/>
          </a:p>
        </p:txBody>
      </p:sp>
      <p:sp>
        <p:nvSpPr>
          <p:cNvPr id="4" name="q0"/>
          <p:cNvSpPr/>
          <p:nvPr/>
        </p:nvSpPr>
        <p:spPr>
          <a:xfrm>
            <a:off x="502920" y="1572768"/>
            <a:ext cx="3529584" cy="2743200"/>
          </a:xfrm>
          <a:prstGeom prst="roundRect">
            <a:avLst>
              <a:gd name="adj" fmla="val 3333"/>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5" name="chip-1"/>
          <p:cNvSpPr/>
          <p:nvPr/>
        </p:nvSpPr>
        <p:spPr>
          <a:xfrm>
            <a:off x="758952" y="1810512"/>
            <a:ext cx="457200" cy="457200"/>
          </a:xfrm>
          <a:prstGeom prst="ellipse">
            <a:avLst/>
          </a:prstGeom>
          <a:solidFill>
            <a:srgbClr val="0E7490"/>
          </a:solidFill>
          <a:ln w="12700">
            <a:solidFill>
              <a:srgbClr val="0E7490"/>
            </a:solidFill>
            <a:prstDash val="solid"/>
          </a:ln>
        </p:spPr>
      </p:sp>
      <p:sp>
        <p:nvSpPr>
          <p:cNvPr id="6" name="Text 4"/>
          <p:cNvSpPr txBox="1"/>
          <p:nvPr/>
        </p:nvSpPr>
        <p:spPr>
          <a:xfrm>
            <a:off x="758952" y="181051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txBox="1"/>
          <p:nvPr/>
        </p:nvSpPr>
        <p:spPr>
          <a:xfrm>
            <a:off x="758952" y="2395728"/>
            <a:ext cx="3017520" cy="786384"/>
          </a:xfrm>
          <a:prstGeom prst="rect">
            <a:avLst/>
          </a:prstGeom>
          <a:noFill/>
          <a:ln/>
        </p:spPr>
        <p:txBody>
          <a:bodyPr wrap="square" lIns="0" tIns="0" rIns="0" bIns="0" rtlCol="0" anchor="t"/>
          <a:lstStyle/>
          <a:p>
            <a:pPr marL="0" indent="0">
              <a:lnSpc>
                <a:spcPct val="105000"/>
              </a:lnSpc>
              <a:buNone/>
            </a:pPr>
            <a:r>
              <a:rPr lang="en-US" sz="1600" b="1" dirty="0">
                <a:solidFill>
                  <a:srgbClr val="11151C"/>
                </a:solidFill>
              </a:rPr>
              <a:t>Is this machine behaving abnormally?</a:t>
            </a:r>
            <a:endParaRPr lang="en-US" sz="1600" dirty="0"/>
          </a:p>
        </p:txBody>
      </p:sp>
      <p:sp>
        <p:nvSpPr>
          <p:cNvPr id="8" name="Text 6"/>
          <p:cNvSpPr txBox="1"/>
          <p:nvPr/>
        </p:nvSpPr>
        <p:spPr>
          <a:xfrm>
            <a:off x="758952" y="3218688"/>
            <a:ext cx="3017520" cy="274320"/>
          </a:xfrm>
          <a:prstGeom prst="rect">
            <a:avLst/>
          </a:prstGeom>
          <a:noFill/>
          <a:ln/>
        </p:spPr>
        <p:txBody>
          <a:bodyPr wrap="square" lIns="0" tIns="0" rIns="0" bIns="0" rtlCol="0" anchor="ctr"/>
          <a:lstStyle/>
          <a:p>
            <a:pPr marL="0" indent="0">
              <a:buNone/>
            </a:pPr>
            <a:r>
              <a:rPr lang="en-US" sz="1150" b="1" dirty="0">
                <a:solidFill>
                  <a:srgbClr val="0E7490"/>
                </a:solidFill>
              </a:rPr>
              <a:t>Needs a time-series database</a:t>
            </a:r>
            <a:endParaRPr lang="en-US" sz="1150" dirty="0"/>
          </a:p>
        </p:txBody>
      </p:sp>
      <p:sp>
        <p:nvSpPr>
          <p:cNvPr id="9" name="Text 7"/>
          <p:cNvSpPr txBox="1"/>
          <p:nvPr/>
        </p:nvSpPr>
        <p:spPr>
          <a:xfrm>
            <a:off x="758952" y="3529584"/>
            <a:ext cx="3017520" cy="658368"/>
          </a:xfrm>
          <a:prstGeom prst="rect">
            <a:avLst/>
          </a:prstGeom>
          <a:noFill/>
          <a:ln/>
        </p:spPr>
        <p:txBody>
          <a:bodyPr wrap="square" lIns="0" tIns="0" rIns="0" bIns="0" rtlCol="0" anchor="ctr"/>
          <a:lstStyle/>
          <a:p>
            <a:pPr marL="0" indent="0">
              <a:lnSpc>
                <a:spcPct val="115000"/>
              </a:lnSpc>
              <a:buNone/>
            </a:pPr>
            <a:r>
              <a:rPr lang="en-US" sz="1200" dirty="0">
                <a:solidFill>
                  <a:srgbClr val="67718A"/>
                </a:solidFill>
              </a:rPr>
              <a:t>Compare the last hour against this machine's own history — not a global threshold.</a:t>
            </a:r>
            <a:endParaRPr lang="en-US" sz="1200" dirty="0"/>
          </a:p>
        </p:txBody>
      </p:sp>
      <p:sp>
        <p:nvSpPr>
          <p:cNvPr id="10" name="q1"/>
          <p:cNvSpPr/>
          <p:nvPr/>
        </p:nvSpPr>
        <p:spPr>
          <a:xfrm>
            <a:off x="4315968" y="1572768"/>
            <a:ext cx="3529584" cy="2743200"/>
          </a:xfrm>
          <a:prstGeom prst="roundRect">
            <a:avLst>
              <a:gd name="adj" fmla="val 3333"/>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11" name="chip-2"/>
          <p:cNvSpPr/>
          <p:nvPr/>
        </p:nvSpPr>
        <p:spPr>
          <a:xfrm>
            <a:off x="4572000" y="1810512"/>
            <a:ext cx="457200" cy="457200"/>
          </a:xfrm>
          <a:prstGeom prst="ellipse">
            <a:avLst/>
          </a:prstGeom>
          <a:solidFill>
            <a:srgbClr val="4338CA"/>
          </a:solidFill>
          <a:ln w="12700">
            <a:solidFill>
              <a:srgbClr val="4338CA"/>
            </a:solidFill>
            <a:prstDash val="solid"/>
          </a:ln>
        </p:spPr>
      </p:sp>
      <p:sp>
        <p:nvSpPr>
          <p:cNvPr id="12" name="Text 10"/>
          <p:cNvSpPr txBox="1"/>
          <p:nvPr/>
        </p:nvSpPr>
        <p:spPr>
          <a:xfrm>
            <a:off x="4572000" y="181051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txBox="1"/>
          <p:nvPr/>
        </p:nvSpPr>
        <p:spPr>
          <a:xfrm>
            <a:off x="4572000" y="2395728"/>
            <a:ext cx="3017520" cy="786384"/>
          </a:xfrm>
          <a:prstGeom prst="rect">
            <a:avLst/>
          </a:prstGeom>
          <a:noFill/>
          <a:ln/>
        </p:spPr>
        <p:txBody>
          <a:bodyPr wrap="square" lIns="0" tIns="0" rIns="0" bIns="0" rtlCol="0" anchor="t"/>
          <a:lstStyle/>
          <a:p>
            <a:pPr marL="0" indent="0">
              <a:lnSpc>
                <a:spcPct val="105000"/>
              </a:lnSpc>
              <a:buNone/>
            </a:pPr>
            <a:r>
              <a:rPr lang="en-US" sz="1600" b="1" dirty="0">
                <a:solidFill>
                  <a:srgbClr val="11151C"/>
                </a:solidFill>
              </a:rPr>
              <a:t>What else breaks if it fails?</a:t>
            </a:r>
            <a:endParaRPr lang="en-US" sz="1600" dirty="0"/>
          </a:p>
        </p:txBody>
      </p:sp>
      <p:sp>
        <p:nvSpPr>
          <p:cNvPr id="14" name="Text 12"/>
          <p:cNvSpPr txBox="1"/>
          <p:nvPr/>
        </p:nvSpPr>
        <p:spPr>
          <a:xfrm>
            <a:off x="4572000" y="3218688"/>
            <a:ext cx="3017520" cy="274320"/>
          </a:xfrm>
          <a:prstGeom prst="rect">
            <a:avLst/>
          </a:prstGeom>
          <a:noFill/>
          <a:ln/>
        </p:spPr>
        <p:txBody>
          <a:bodyPr wrap="square" lIns="0" tIns="0" rIns="0" bIns="0" rtlCol="0" anchor="ctr"/>
          <a:lstStyle/>
          <a:p>
            <a:pPr marL="0" indent="0">
              <a:buNone/>
            </a:pPr>
            <a:r>
              <a:rPr lang="en-US" sz="1150" b="1" dirty="0">
                <a:solidFill>
                  <a:srgbClr val="4338CA"/>
                </a:solidFill>
              </a:rPr>
              <a:t>Needs a graph database</a:t>
            </a:r>
            <a:endParaRPr lang="en-US" sz="1150" dirty="0"/>
          </a:p>
        </p:txBody>
      </p:sp>
      <p:sp>
        <p:nvSpPr>
          <p:cNvPr id="15" name="Text 13"/>
          <p:cNvSpPr txBox="1"/>
          <p:nvPr/>
        </p:nvSpPr>
        <p:spPr>
          <a:xfrm>
            <a:off x="4572000" y="3529584"/>
            <a:ext cx="3017520" cy="658368"/>
          </a:xfrm>
          <a:prstGeom prst="rect">
            <a:avLst/>
          </a:prstGeom>
          <a:noFill/>
          <a:ln/>
        </p:spPr>
        <p:txBody>
          <a:bodyPr wrap="square" lIns="0" tIns="0" rIns="0" bIns="0" rtlCol="0" anchor="ctr"/>
          <a:lstStyle/>
          <a:p>
            <a:pPr marL="0" indent="0">
              <a:lnSpc>
                <a:spcPct val="115000"/>
              </a:lnSpc>
              <a:buNone/>
            </a:pPr>
            <a:r>
              <a:rPr lang="en-US" sz="1200" dirty="0">
                <a:solidFill>
                  <a:srgbClr val="67718A"/>
                </a:solidFill>
              </a:rPr>
              <a:t>Walk the dependency chain upward: motor → pump → line → plant.</a:t>
            </a:r>
            <a:endParaRPr lang="en-US" sz="1200" dirty="0"/>
          </a:p>
        </p:txBody>
      </p:sp>
      <p:sp>
        <p:nvSpPr>
          <p:cNvPr id="16" name="q2"/>
          <p:cNvSpPr/>
          <p:nvPr/>
        </p:nvSpPr>
        <p:spPr>
          <a:xfrm>
            <a:off x="8129016" y="1572768"/>
            <a:ext cx="3529584" cy="2743200"/>
          </a:xfrm>
          <a:prstGeom prst="roundRect">
            <a:avLst>
              <a:gd name="adj" fmla="val 3333"/>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17" name="chip-3"/>
          <p:cNvSpPr/>
          <p:nvPr/>
        </p:nvSpPr>
        <p:spPr>
          <a:xfrm>
            <a:off x="8385048" y="1810512"/>
            <a:ext cx="457200" cy="457200"/>
          </a:xfrm>
          <a:prstGeom prst="ellipse">
            <a:avLst/>
          </a:prstGeom>
          <a:solidFill>
            <a:srgbClr val="9D174D"/>
          </a:solidFill>
          <a:ln w="12700">
            <a:solidFill>
              <a:srgbClr val="9D174D"/>
            </a:solidFill>
            <a:prstDash val="solid"/>
          </a:ln>
        </p:spPr>
      </p:sp>
      <p:sp>
        <p:nvSpPr>
          <p:cNvPr id="18" name="Text 16"/>
          <p:cNvSpPr txBox="1"/>
          <p:nvPr/>
        </p:nvSpPr>
        <p:spPr>
          <a:xfrm>
            <a:off x="8385048" y="181051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9" name="Text 17"/>
          <p:cNvSpPr txBox="1"/>
          <p:nvPr/>
        </p:nvSpPr>
        <p:spPr>
          <a:xfrm>
            <a:off x="8385048" y="2395728"/>
            <a:ext cx="3017520" cy="786384"/>
          </a:xfrm>
          <a:prstGeom prst="rect">
            <a:avLst/>
          </a:prstGeom>
          <a:noFill/>
          <a:ln/>
        </p:spPr>
        <p:txBody>
          <a:bodyPr wrap="square" lIns="0" tIns="0" rIns="0" bIns="0" rtlCol="0" anchor="t"/>
          <a:lstStyle/>
          <a:p>
            <a:pPr marL="0" indent="0">
              <a:lnSpc>
                <a:spcPct val="105000"/>
              </a:lnSpc>
              <a:buNone/>
            </a:pPr>
            <a:r>
              <a:rPr lang="en-US" sz="1600" b="1" dirty="0">
                <a:solidFill>
                  <a:srgbClr val="11151C"/>
                </a:solidFill>
              </a:rPr>
              <a:t>When did this happen before, and what fixed it?</a:t>
            </a:r>
            <a:endParaRPr lang="en-US" sz="1600" dirty="0"/>
          </a:p>
        </p:txBody>
      </p:sp>
      <p:sp>
        <p:nvSpPr>
          <p:cNvPr id="20" name="Text 18"/>
          <p:cNvSpPr txBox="1"/>
          <p:nvPr/>
        </p:nvSpPr>
        <p:spPr>
          <a:xfrm>
            <a:off x="8385048" y="3218688"/>
            <a:ext cx="3017520" cy="274320"/>
          </a:xfrm>
          <a:prstGeom prst="rect">
            <a:avLst/>
          </a:prstGeom>
          <a:noFill/>
          <a:ln/>
        </p:spPr>
        <p:txBody>
          <a:bodyPr wrap="square" lIns="0" tIns="0" rIns="0" bIns="0" rtlCol="0" anchor="ctr"/>
          <a:lstStyle/>
          <a:p>
            <a:pPr marL="0" indent="0">
              <a:buNone/>
            </a:pPr>
            <a:r>
              <a:rPr lang="en-US" sz="1150" b="1" dirty="0">
                <a:solidFill>
                  <a:srgbClr val="9D174D"/>
                </a:solidFill>
              </a:rPr>
              <a:t>Needs a vector database</a:t>
            </a:r>
            <a:endParaRPr lang="en-US" sz="1150" dirty="0"/>
          </a:p>
        </p:txBody>
      </p:sp>
      <p:sp>
        <p:nvSpPr>
          <p:cNvPr id="21" name="Text 19"/>
          <p:cNvSpPr txBox="1"/>
          <p:nvPr/>
        </p:nvSpPr>
        <p:spPr>
          <a:xfrm>
            <a:off x="8385048" y="3529584"/>
            <a:ext cx="3017520" cy="658368"/>
          </a:xfrm>
          <a:prstGeom prst="rect">
            <a:avLst/>
          </a:prstGeom>
          <a:noFill/>
          <a:ln/>
        </p:spPr>
        <p:txBody>
          <a:bodyPr wrap="square" lIns="0" tIns="0" rIns="0" bIns="0" rtlCol="0" anchor="ctr"/>
          <a:lstStyle/>
          <a:p>
            <a:pPr marL="0" indent="0">
              <a:lnSpc>
                <a:spcPct val="115000"/>
              </a:lnSpc>
              <a:buNone/>
            </a:pPr>
            <a:r>
              <a:rPr lang="en-US" sz="1200" dirty="0">
                <a:solidFill>
                  <a:srgbClr val="67718A"/>
                </a:solidFill>
              </a:rPr>
              <a:t>Search years of free-text maintenance reports by meaning, not keyword.</a:t>
            </a:r>
            <a:endParaRPr lang="en-US" sz="1200" dirty="0"/>
          </a:p>
        </p:txBody>
      </p:sp>
      <p:sp>
        <p:nvSpPr>
          <p:cNvPr id="22" name="sting"/>
          <p:cNvSpPr/>
          <p:nvPr/>
        </p:nvSpPr>
        <p:spPr>
          <a:xfrm>
            <a:off x="502920" y="4572000"/>
            <a:ext cx="11155680" cy="1481328"/>
          </a:xfrm>
          <a:prstGeom prst="roundRect">
            <a:avLst>
              <a:gd name="adj" fmla="val 6173"/>
            </a:avLst>
          </a:prstGeom>
          <a:solidFill>
            <a:srgbClr val="1E2630"/>
          </a:solidFill>
          <a:ln w="12700">
            <a:solidFill>
              <a:srgbClr val="1E2630"/>
            </a:solidFill>
            <a:prstDash val="solid"/>
          </a:ln>
        </p:spPr>
      </p:sp>
      <p:sp>
        <p:nvSpPr>
          <p:cNvPr id="23" name="Text 21"/>
          <p:cNvSpPr txBox="1"/>
          <p:nvPr/>
        </p:nvSpPr>
        <p:spPr>
          <a:xfrm>
            <a:off x="886968" y="4754880"/>
            <a:ext cx="10424160" cy="457200"/>
          </a:xfrm>
          <a:prstGeom prst="rect">
            <a:avLst/>
          </a:prstGeom>
          <a:noFill/>
          <a:ln/>
        </p:spPr>
        <p:txBody>
          <a:bodyPr wrap="square" lIns="0" tIns="0" rIns="0" bIns="0" rtlCol="0" anchor="ctr"/>
          <a:lstStyle/>
          <a:p>
            <a:pPr marL="0" indent="0">
              <a:buNone/>
            </a:pPr>
            <a:r>
              <a:rPr lang="en-US" sz="1600" b="1" dirty="0">
                <a:solidFill>
                  <a:srgbClr val="FFFFFF"/>
                </a:solidFill>
              </a:rPr>
              <a:t>Three databases means three deployments, three backups, three security models — and the one question that matters most cannot be asked at all.</a:t>
            </a:r>
            <a:endParaRPr lang="en-US" sz="1600" dirty="0"/>
          </a:p>
        </p:txBody>
      </p:sp>
      <p:sp>
        <p:nvSpPr>
          <p:cNvPr id="24" name="Text 22"/>
          <p:cNvSpPr txBox="1"/>
          <p:nvPr/>
        </p:nvSpPr>
        <p:spPr>
          <a:xfrm>
            <a:off x="886968" y="5285232"/>
            <a:ext cx="10424160" cy="548640"/>
          </a:xfrm>
          <a:prstGeom prst="rect">
            <a:avLst/>
          </a:prstGeom>
          <a:noFill/>
          <a:ln/>
        </p:spPr>
        <p:txBody>
          <a:bodyPr wrap="square" lIns="0" tIns="0" rIns="0" bIns="0" rtlCol="0" anchor="ctr"/>
          <a:lstStyle/>
          <a:p>
            <a:pPr marL="0" indent="0">
              <a:lnSpc>
                <a:spcPct val="115000"/>
              </a:lnSpc>
              <a:buNone/>
            </a:pPr>
            <a:r>
              <a:rPr lang="en-US" sz="1350" i="1" dirty="0">
                <a:solidFill>
                  <a:srgbClr val="B9C2CF"/>
                </a:solidFill>
              </a:rPr>
              <a:t>“Show me every machine downstream of the failing pump that has also had a heat-dissipation failure this month.”  That is one join across all three.</a:t>
            </a:r>
            <a:endParaRPr lang="en-US" sz="1350" dirty="0"/>
          </a:p>
        </p:txBody>
      </p:sp>
      <p:sp>
        <p:nvSpPr>
          <p:cNvPr id="25"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So we put all three in one database</a:t>
            </a: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r>
              <a:rPr lang="en-US" sz="1350" dirty="0">
                <a:solidFill>
                  <a:srgbClr val="67718A"/>
                </a:solidFill>
              </a:rPr>
              <a:t>PostgreSQL 16 with pgvector. The capabilities are extensions of one engine, not three services.</a:t>
            </a:r>
            <a:endParaRPr lang="en-US" sz="1350" dirty="0"/>
          </a:p>
        </p:txBody>
      </p:sp>
      <p:sp>
        <p:nvSpPr>
          <p:cNvPr id="4" name="before"/>
          <p:cNvSpPr/>
          <p:nvPr/>
        </p:nvSpPr>
        <p:spPr>
          <a:xfrm>
            <a:off x="502920" y="1600200"/>
            <a:ext cx="5394960" cy="3977640"/>
          </a:xfrm>
          <a:prstGeom prst="roundRect">
            <a:avLst>
              <a:gd name="adj" fmla="val 2299"/>
            </a:avLst>
          </a:prstGeom>
          <a:solidFill>
            <a:srgbClr val="F7F3F0"/>
          </a:solidFill>
          <a:ln w="12700">
            <a:solidFill>
              <a:srgbClr val="F7F3F0"/>
            </a:solidFill>
            <a:prstDash val="solid"/>
          </a:ln>
          <a:effectLst>
            <a:outerShdw blurRad="88900" dist="17780" dir="5400000" algn="bl" rotWithShape="0">
              <a:srgbClr val="9AA3B2">
                <a:alpha val="16000"/>
              </a:srgbClr>
            </a:outerShdw>
          </a:effectLst>
        </p:spPr>
      </p:sp>
      <p:sp>
        <p:nvSpPr>
          <p:cNvPr id="5" name="Text 3"/>
          <p:cNvSpPr txBox="1"/>
          <p:nvPr/>
        </p:nvSpPr>
        <p:spPr>
          <a:xfrm>
            <a:off x="822960" y="1828800"/>
            <a:ext cx="4754880" cy="329184"/>
          </a:xfrm>
          <a:prstGeom prst="rect">
            <a:avLst/>
          </a:prstGeom>
          <a:noFill/>
          <a:ln/>
        </p:spPr>
        <p:txBody>
          <a:bodyPr wrap="square" lIns="0" tIns="0" rIns="0" bIns="0" rtlCol="0" anchor="ctr"/>
          <a:lstStyle/>
          <a:p>
            <a:pPr marL="0" indent="0">
              <a:buNone/>
            </a:pPr>
            <a:r>
              <a:rPr lang="en-US" sz="1500" b="1" dirty="0">
                <a:solidFill>
                  <a:srgbClr val="8A6A52"/>
                </a:solidFill>
              </a:rPr>
              <a:t>The conventional stack</a:t>
            </a:r>
            <a:endParaRPr lang="en-US" sz="1500" dirty="0"/>
          </a:p>
        </p:txBody>
      </p:sp>
      <p:sp>
        <p:nvSpPr>
          <p:cNvPr id="6" name="Text 4"/>
          <p:cNvSpPr txBox="1"/>
          <p:nvPr/>
        </p:nvSpPr>
        <p:spPr>
          <a:xfrm>
            <a:off x="822960" y="2267712"/>
            <a:ext cx="4754880" cy="329184"/>
          </a:xfrm>
          <a:prstGeom prst="rect">
            <a:avLst/>
          </a:prstGeom>
          <a:noFill/>
          <a:ln/>
        </p:spPr>
        <p:txBody>
          <a:bodyPr wrap="square" lIns="0" tIns="0" rIns="0" bIns="0" rtlCol="0" anchor="ctr"/>
          <a:lstStyle/>
          <a:p>
            <a:pPr marL="0" indent="0">
              <a:buNone/>
            </a:pPr>
            <a:r>
              <a:rPr lang="en-US" sz="1350" b="1" dirty="0">
                <a:solidFill>
                  <a:srgbClr val="11151C"/>
                </a:solidFill>
              </a:rPr>
              <a:t>InfluxDB / Timescale</a:t>
            </a:r>
            <a:r>
              <a:rPr lang="en-US" sz="1350" dirty="0">
                <a:solidFill>
                  <a:srgbClr val="67718A"/>
                </a:solidFill>
              </a:rPr>
              <a:t>   telemetry</a:t>
            </a:r>
            <a:endParaRPr lang="en-US" sz="1350" dirty="0"/>
          </a:p>
        </p:txBody>
      </p:sp>
      <p:sp>
        <p:nvSpPr>
          <p:cNvPr id="7" name="Text 5"/>
          <p:cNvSpPr txBox="1"/>
          <p:nvPr/>
        </p:nvSpPr>
        <p:spPr>
          <a:xfrm>
            <a:off x="822960" y="2670048"/>
            <a:ext cx="4754880" cy="329184"/>
          </a:xfrm>
          <a:prstGeom prst="rect">
            <a:avLst/>
          </a:prstGeom>
          <a:noFill/>
          <a:ln/>
        </p:spPr>
        <p:txBody>
          <a:bodyPr wrap="square" lIns="0" tIns="0" rIns="0" bIns="0" rtlCol="0" anchor="ctr"/>
          <a:lstStyle/>
          <a:p>
            <a:pPr marL="0" indent="0">
              <a:buNone/>
            </a:pPr>
            <a:r>
              <a:rPr lang="en-US" sz="1350" b="1" dirty="0">
                <a:solidFill>
                  <a:srgbClr val="11151C"/>
                </a:solidFill>
              </a:rPr>
              <a:t>Neo4j</a:t>
            </a:r>
            <a:r>
              <a:rPr lang="en-US" sz="1350" dirty="0">
                <a:solidFill>
                  <a:srgbClr val="67718A"/>
                </a:solidFill>
              </a:rPr>
              <a:t>   asset graph</a:t>
            </a:r>
            <a:endParaRPr lang="en-US" sz="1350" dirty="0"/>
          </a:p>
        </p:txBody>
      </p:sp>
      <p:sp>
        <p:nvSpPr>
          <p:cNvPr id="8" name="Text 6"/>
          <p:cNvSpPr txBox="1"/>
          <p:nvPr/>
        </p:nvSpPr>
        <p:spPr>
          <a:xfrm>
            <a:off x="822960" y="3072384"/>
            <a:ext cx="4754880" cy="329184"/>
          </a:xfrm>
          <a:prstGeom prst="rect">
            <a:avLst/>
          </a:prstGeom>
          <a:noFill/>
          <a:ln/>
        </p:spPr>
        <p:txBody>
          <a:bodyPr wrap="square" lIns="0" tIns="0" rIns="0" bIns="0" rtlCol="0" anchor="ctr"/>
          <a:lstStyle/>
          <a:p>
            <a:pPr marL="0" indent="0">
              <a:buNone/>
            </a:pPr>
            <a:r>
              <a:rPr lang="en-US" sz="1350" b="1" dirty="0">
                <a:solidFill>
                  <a:srgbClr val="11151C"/>
                </a:solidFill>
              </a:rPr>
              <a:t>Pinecone / Milvus</a:t>
            </a:r>
            <a:r>
              <a:rPr lang="en-US" sz="1350" dirty="0">
                <a:solidFill>
                  <a:srgbClr val="67718A"/>
                </a:solidFill>
              </a:rPr>
              <a:t>   embeddings</a:t>
            </a:r>
            <a:endParaRPr lang="en-US" sz="1350" dirty="0"/>
          </a:p>
        </p:txBody>
      </p:sp>
      <p:sp>
        <p:nvSpPr>
          <p:cNvPr id="9" name="Text 7"/>
          <p:cNvSpPr txBox="1"/>
          <p:nvPr/>
        </p:nvSpPr>
        <p:spPr>
          <a:xfrm>
            <a:off x="822960" y="3474720"/>
            <a:ext cx="4754880" cy="329184"/>
          </a:xfrm>
          <a:prstGeom prst="rect">
            <a:avLst/>
          </a:prstGeom>
          <a:noFill/>
          <a:ln/>
        </p:spPr>
        <p:txBody>
          <a:bodyPr wrap="square" lIns="0" tIns="0" rIns="0" bIns="0" rtlCol="0" anchor="ctr"/>
          <a:lstStyle/>
          <a:p>
            <a:pPr marL="0" indent="0">
              <a:buNone/>
            </a:pPr>
            <a:r>
              <a:rPr lang="en-US" sz="1350" b="1" dirty="0">
                <a:solidFill>
                  <a:srgbClr val="11151C"/>
                </a:solidFill>
              </a:rPr>
              <a:t>PostgreSQL</a:t>
            </a:r>
            <a:r>
              <a:rPr lang="en-US" sz="1350" dirty="0">
                <a:solidFill>
                  <a:srgbClr val="67718A"/>
                </a:solidFill>
              </a:rPr>
              <a:t>   everything else</a:t>
            </a:r>
            <a:endParaRPr lang="en-US" sz="1350" dirty="0"/>
          </a:p>
        </p:txBody>
      </p:sp>
      <p:sp>
        <p:nvSpPr>
          <p:cNvPr id="10" name="Text 8"/>
          <p:cNvSpPr txBox="1"/>
          <p:nvPr/>
        </p:nvSpPr>
        <p:spPr>
          <a:xfrm>
            <a:off x="822960" y="4041648"/>
            <a:ext cx="4754880" cy="1188720"/>
          </a:xfrm>
          <a:prstGeom prst="rect">
            <a:avLst/>
          </a:prstGeom>
          <a:noFill/>
          <a:ln/>
        </p:spPr>
        <p:txBody>
          <a:bodyPr wrap="square" lIns="0" tIns="0" rIns="0" bIns="0" rtlCol="0" anchor="ctr"/>
          <a:lstStyle/>
          <a:p>
            <a:pPr marL="0" indent="0">
              <a:lnSpc>
                <a:spcPct val="130000"/>
              </a:lnSpc>
              <a:buNone/>
            </a:pPr>
            <a:r>
              <a:rPr lang="en-US" sz="1300" dirty="0">
                <a:solidFill>
                  <a:srgbClr val="8A6A52"/>
                </a:solidFill>
              </a:rPr>
              <a:t>4 deployments  ·  4 backups  ·  4 auth models</a:t>
            </a:r>
            <a:endParaRPr lang="en-US" sz="1300" dirty="0"/>
          </a:p>
          <a:p>
            <a:pPr marL="0" indent="0">
              <a:lnSpc>
                <a:spcPct val="130000"/>
              </a:lnSpc>
              <a:buNone/>
            </a:pPr>
            <a:r>
              <a:rPr lang="en-US" sz="1300" dirty="0">
                <a:solidFill>
                  <a:srgbClr val="8A6A52"/>
                </a:solidFill>
              </a:rPr>
              <a:t>cross-domain joins written by hand in application code</a:t>
            </a:r>
            <a:endParaRPr lang="en-US" sz="1300" dirty="0"/>
          </a:p>
          <a:p>
            <a:pPr marL="0" indent="0">
              <a:lnSpc>
                <a:spcPct val="130000"/>
              </a:lnSpc>
              <a:buNone/>
            </a:pPr>
            <a:r>
              <a:rPr lang="en-US" sz="1300" dirty="0">
                <a:solidFill>
                  <a:srgbClr val="8A6A52"/>
                </a:solidFill>
              </a:rPr>
              <a:t>no transaction spans them</a:t>
            </a:r>
            <a:endParaRPr lang="en-US" sz="1300" dirty="0"/>
          </a:p>
        </p:txBody>
      </p:sp>
      <p:sp>
        <p:nvSpPr>
          <p:cNvPr id="11" name="after"/>
          <p:cNvSpPr/>
          <p:nvPr/>
        </p:nvSpPr>
        <p:spPr>
          <a:xfrm>
            <a:off x="6263640" y="1600200"/>
            <a:ext cx="5394960" cy="3977640"/>
          </a:xfrm>
          <a:prstGeom prst="roundRect">
            <a:avLst>
              <a:gd name="adj" fmla="val 2299"/>
            </a:avLst>
          </a:prstGeom>
          <a:solidFill>
            <a:srgbClr val="EEF4F5"/>
          </a:solidFill>
          <a:ln w="12700">
            <a:solidFill>
              <a:srgbClr val="0E7490"/>
            </a:solidFill>
            <a:prstDash val="solid"/>
          </a:ln>
          <a:effectLst>
            <a:outerShdw blurRad="88900" dist="17780" dir="5400000" algn="bl" rotWithShape="0">
              <a:srgbClr val="9AA3B2">
                <a:alpha val="16000"/>
              </a:srgbClr>
            </a:outerShdw>
          </a:effectLst>
        </p:spPr>
      </p:sp>
      <p:sp>
        <p:nvSpPr>
          <p:cNvPr id="12" name="Text 10"/>
          <p:cNvSpPr txBox="1"/>
          <p:nvPr/>
        </p:nvSpPr>
        <p:spPr>
          <a:xfrm>
            <a:off x="6583680" y="1828800"/>
            <a:ext cx="4754880" cy="329184"/>
          </a:xfrm>
          <a:prstGeom prst="rect">
            <a:avLst/>
          </a:prstGeom>
          <a:noFill/>
          <a:ln/>
        </p:spPr>
        <p:txBody>
          <a:bodyPr wrap="square" lIns="0" tIns="0" rIns="0" bIns="0" rtlCol="0" anchor="ctr"/>
          <a:lstStyle/>
          <a:p>
            <a:pPr marL="0" indent="0">
              <a:buNone/>
            </a:pPr>
            <a:r>
              <a:rPr lang="en-US" sz="1500" b="1" dirty="0">
                <a:solidFill>
                  <a:srgbClr val="0E7490"/>
                </a:solidFill>
              </a:rPr>
              <a:t>InfraTwin</a:t>
            </a:r>
            <a:endParaRPr lang="en-US" sz="1500" dirty="0"/>
          </a:p>
        </p:txBody>
      </p:sp>
      <p:sp>
        <p:nvSpPr>
          <p:cNvPr id="13" name="d0"/>
          <p:cNvSpPr/>
          <p:nvPr/>
        </p:nvSpPr>
        <p:spPr>
          <a:xfrm>
            <a:off x="6583680" y="2340864"/>
            <a:ext cx="137160" cy="137160"/>
          </a:xfrm>
          <a:prstGeom prst="ellipse">
            <a:avLst/>
          </a:prstGeom>
          <a:solidFill>
            <a:srgbClr val="0E7490"/>
          </a:solidFill>
          <a:ln/>
        </p:spPr>
      </p:sp>
      <p:sp>
        <p:nvSpPr>
          <p:cNvPr id="14" name="Text 12"/>
          <p:cNvSpPr txBox="1"/>
          <p:nvPr/>
        </p:nvSpPr>
        <p:spPr>
          <a:xfrm>
            <a:off x="6812280" y="2267712"/>
            <a:ext cx="4572000" cy="329184"/>
          </a:xfrm>
          <a:prstGeom prst="rect">
            <a:avLst/>
          </a:prstGeom>
          <a:noFill/>
          <a:ln/>
        </p:spPr>
        <p:txBody>
          <a:bodyPr wrap="square" lIns="0" tIns="0" rIns="0" bIns="0" rtlCol="0" anchor="ctr"/>
          <a:lstStyle/>
          <a:p>
            <a:pPr marL="0" indent="0">
              <a:buNone/>
            </a:pPr>
            <a:r>
              <a:rPr lang="en-US" sz="1350" b="1" dirty="0">
                <a:solidFill>
                  <a:srgbClr val="11151C"/>
                </a:solidFill>
              </a:rPr>
              <a:t>Partitioned tables</a:t>
            </a:r>
            <a:r>
              <a:rPr lang="en-US" sz="1350" dirty="0">
                <a:solidFill>
                  <a:srgbClr val="67718A"/>
                </a:solidFill>
              </a:rPr>
              <a:t>   telemetry</a:t>
            </a:r>
            <a:endParaRPr lang="en-US" sz="1350" dirty="0"/>
          </a:p>
        </p:txBody>
      </p:sp>
      <p:sp>
        <p:nvSpPr>
          <p:cNvPr id="15" name="d1"/>
          <p:cNvSpPr/>
          <p:nvPr/>
        </p:nvSpPr>
        <p:spPr>
          <a:xfrm>
            <a:off x="6583680" y="2743200"/>
            <a:ext cx="137160" cy="137160"/>
          </a:xfrm>
          <a:prstGeom prst="ellipse">
            <a:avLst/>
          </a:prstGeom>
          <a:solidFill>
            <a:srgbClr val="4338CA"/>
          </a:solidFill>
          <a:ln/>
        </p:spPr>
      </p:sp>
      <p:sp>
        <p:nvSpPr>
          <p:cNvPr id="16" name="Text 14"/>
          <p:cNvSpPr txBox="1"/>
          <p:nvPr/>
        </p:nvSpPr>
        <p:spPr>
          <a:xfrm>
            <a:off x="6812280" y="2670048"/>
            <a:ext cx="4572000" cy="329184"/>
          </a:xfrm>
          <a:prstGeom prst="rect">
            <a:avLst/>
          </a:prstGeom>
          <a:noFill/>
          <a:ln/>
        </p:spPr>
        <p:txBody>
          <a:bodyPr wrap="square" lIns="0" tIns="0" rIns="0" bIns="0" rtlCol="0" anchor="ctr"/>
          <a:lstStyle/>
          <a:p>
            <a:pPr marL="0" indent="0">
              <a:buNone/>
            </a:pPr>
            <a:r>
              <a:rPr lang="en-US" sz="1350" b="1" dirty="0">
                <a:solidFill>
                  <a:srgbClr val="11151C"/>
                </a:solidFill>
              </a:rPr>
              <a:t>WITH RECURSIVE</a:t>
            </a:r>
            <a:r>
              <a:rPr lang="en-US" sz="1350" dirty="0">
                <a:solidFill>
                  <a:srgbClr val="67718A"/>
                </a:solidFill>
              </a:rPr>
              <a:t>   asset graph</a:t>
            </a:r>
            <a:endParaRPr lang="en-US" sz="1350" dirty="0"/>
          </a:p>
        </p:txBody>
      </p:sp>
      <p:sp>
        <p:nvSpPr>
          <p:cNvPr id="17" name="d2"/>
          <p:cNvSpPr/>
          <p:nvPr/>
        </p:nvSpPr>
        <p:spPr>
          <a:xfrm>
            <a:off x="6583680" y="3145536"/>
            <a:ext cx="137160" cy="137160"/>
          </a:xfrm>
          <a:prstGeom prst="ellipse">
            <a:avLst/>
          </a:prstGeom>
          <a:solidFill>
            <a:srgbClr val="9D174D"/>
          </a:solidFill>
          <a:ln/>
        </p:spPr>
      </p:sp>
      <p:sp>
        <p:nvSpPr>
          <p:cNvPr id="18" name="Text 16"/>
          <p:cNvSpPr txBox="1"/>
          <p:nvPr/>
        </p:nvSpPr>
        <p:spPr>
          <a:xfrm>
            <a:off x="6812280" y="3072384"/>
            <a:ext cx="4572000" cy="329184"/>
          </a:xfrm>
          <a:prstGeom prst="rect">
            <a:avLst/>
          </a:prstGeom>
          <a:noFill/>
          <a:ln/>
        </p:spPr>
        <p:txBody>
          <a:bodyPr wrap="square" lIns="0" tIns="0" rIns="0" bIns="0" rtlCol="0" anchor="ctr"/>
          <a:lstStyle/>
          <a:p>
            <a:pPr marL="0" indent="0">
              <a:buNone/>
            </a:pPr>
            <a:r>
              <a:rPr lang="en-US" sz="1350" b="1" dirty="0">
                <a:solidFill>
                  <a:srgbClr val="11151C"/>
                </a:solidFill>
              </a:rPr>
              <a:t>pgvector + HNSW</a:t>
            </a:r>
            <a:r>
              <a:rPr lang="en-US" sz="1350" dirty="0">
                <a:solidFill>
                  <a:srgbClr val="67718A"/>
                </a:solidFill>
              </a:rPr>
              <a:t>   embeddings</a:t>
            </a:r>
            <a:endParaRPr lang="en-US" sz="1350" dirty="0"/>
          </a:p>
        </p:txBody>
      </p:sp>
      <p:sp>
        <p:nvSpPr>
          <p:cNvPr id="19" name="d3"/>
          <p:cNvSpPr/>
          <p:nvPr/>
        </p:nvSpPr>
        <p:spPr>
          <a:xfrm>
            <a:off x="6583680" y="3547872"/>
            <a:ext cx="137160" cy="137160"/>
          </a:xfrm>
          <a:prstGeom prst="ellipse">
            <a:avLst/>
          </a:prstGeom>
          <a:solidFill>
            <a:srgbClr val="15803D"/>
          </a:solidFill>
          <a:ln/>
        </p:spPr>
      </p:sp>
      <p:sp>
        <p:nvSpPr>
          <p:cNvPr id="20" name="Text 18"/>
          <p:cNvSpPr txBox="1"/>
          <p:nvPr/>
        </p:nvSpPr>
        <p:spPr>
          <a:xfrm>
            <a:off x="6812280" y="3474720"/>
            <a:ext cx="4572000" cy="329184"/>
          </a:xfrm>
          <a:prstGeom prst="rect">
            <a:avLst/>
          </a:prstGeom>
          <a:noFill/>
          <a:ln/>
        </p:spPr>
        <p:txBody>
          <a:bodyPr wrap="square" lIns="0" tIns="0" rIns="0" bIns="0" rtlCol="0" anchor="ctr"/>
          <a:lstStyle/>
          <a:p>
            <a:pPr marL="0" indent="0">
              <a:buNone/>
            </a:pPr>
            <a:r>
              <a:rPr lang="en-US" sz="1350" b="1" dirty="0">
                <a:solidFill>
                  <a:srgbClr val="11151C"/>
                </a:solidFill>
              </a:rPr>
              <a:t>PostgreSQL</a:t>
            </a:r>
            <a:r>
              <a:rPr lang="en-US" sz="1350" dirty="0">
                <a:solidFill>
                  <a:srgbClr val="67718A"/>
                </a:solidFill>
              </a:rPr>
              <a:t>   everything else</a:t>
            </a:r>
            <a:endParaRPr lang="en-US" sz="1350" dirty="0"/>
          </a:p>
        </p:txBody>
      </p:sp>
      <p:sp>
        <p:nvSpPr>
          <p:cNvPr id="21" name="Text 19"/>
          <p:cNvSpPr txBox="1"/>
          <p:nvPr/>
        </p:nvSpPr>
        <p:spPr>
          <a:xfrm>
            <a:off x="6583680" y="4041648"/>
            <a:ext cx="4754880" cy="1188720"/>
          </a:xfrm>
          <a:prstGeom prst="rect">
            <a:avLst/>
          </a:prstGeom>
          <a:noFill/>
          <a:ln/>
        </p:spPr>
        <p:txBody>
          <a:bodyPr wrap="square" lIns="0" tIns="0" rIns="0" bIns="0" rtlCol="0" anchor="ctr"/>
          <a:lstStyle/>
          <a:p>
            <a:pPr marL="0" indent="0">
              <a:lnSpc>
                <a:spcPct val="130000"/>
              </a:lnSpc>
              <a:buNone/>
            </a:pPr>
            <a:r>
              <a:rPr lang="en-US" sz="1300" dirty="0">
                <a:solidFill>
                  <a:srgbClr val="0E7490"/>
                </a:solidFill>
              </a:rPr>
              <a:t>1 deployment  ·  1 backup  ·  1 security model</a:t>
            </a:r>
            <a:endParaRPr lang="en-US" sz="1300" dirty="0"/>
          </a:p>
          <a:p>
            <a:pPr marL="0" indent="0">
              <a:lnSpc>
                <a:spcPct val="130000"/>
              </a:lnSpc>
              <a:buNone/>
            </a:pPr>
            <a:r>
              <a:rPr lang="en-US" sz="1300" dirty="0">
                <a:solidFill>
                  <a:srgbClr val="0E7490"/>
                </a:solidFill>
              </a:rPr>
              <a:t>cross-domain joins are ordinary SQL</a:t>
            </a:r>
            <a:endParaRPr lang="en-US" sz="1300" dirty="0"/>
          </a:p>
          <a:p>
            <a:pPr marL="0" indent="0">
              <a:lnSpc>
                <a:spcPct val="130000"/>
              </a:lnSpc>
              <a:buNone/>
            </a:pPr>
            <a:r>
              <a:rPr lang="en-US" sz="1300" dirty="0">
                <a:solidFill>
                  <a:srgbClr val="0E7490"/>
                </a:solidFill>
              </a:rPr>
              <a:t>one ACID transaction covers all of it</a:t>
            </a:r>
            <a:endParaRPr lang="en-US" sz="1300" dirty="0"/>
          </a:p>
        </p:txBody>
      </p:sp>
      <p:sp>
        <p:nvSpPr>
          <p:cNvPr id="22" name="Text 20"/>
          <p:cNvSpPr txBox="1"/>
          <p:nvPr/>
        </p:nvSpPr>
        <p:spPr>
          <a:xfrm>
            <a:off x="502920" y="5760720"/>
            <a:ext cx="11155680" cy="566928"/>
          </a:xfrm>
          <a:prstGeom prst="rect">
            <a:avLst/>
          </a:prstGeom>
          <a:noFill/>
          <a:ln/>
        </p:spPr>
        <p:txBody>
          <a:bodyPr wrap="square" lIns="0" tIns="0" rIns="0" bIns="0" rtlCol="0" anchor="ctr"/>
          <a:lstStyle/>
          <a:p>
            <a:pPr marL="0" indent="0">
              <a:lnSpc>
                <a:spcPct val="115000"/>
              </a:lnSpc>
              <a:buNone/>
            </a:pPr>
            <a:r>
              <a:rPr lang="en-US" sz="1200" i="1" dirty="0">
                <a:solidFill>
                  <a:srgbClr val="67718A"/>
                </a:solidFill>
              </a:rPr>
              <a:t>Where this stops being right: a dedicated time-series engine wins past ~10⁹ rows per table, and a dedicated vector database wins at billion-scale ANN. At plant scale, PostgreSQL is not the bottleneck — the integration tax is.</a:t>
            </a:r>
            <a:endParaRPr lang="en-US" sz="1200" dirty="0"/>
          </a:p>
        </p:txBody>
      </p:sp>
      <p:sp>
        <p:nvSpPr>
          <p:cNvPr id="25"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How it fits together</a:t>
            </a: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r>
              <a:rPr lang="en-US" sz="1350" dirty="0">
                <a:solidFill>
                  <a:srgbClr val="67718A"/>
                </a:solidFill>
              </a:rPr>
              <a:t>One connection. Three query patterns. The results are joinable because they share a database.</a:t>
            </a:r>
            <a:endParaRPr lang="en-US" sz="1350" dirty="0"/>
          </a:p>
        </p:txBody>
      </p:sp>
      <p:sp>
        <p:nvSpPr>
          <p:cNvPr id="4" name="src"/>
          <p:cNvSpPr/>
          <p:nvPr/>
        </p:nvSpPr>
        <p:spPr>
          <a:xfrm>
            <a:off x="502920" y="1783080"/>
            <a:ext cx="2286000" cy="3200400"/>
          </a:xfrm>
          <a:prstGeom prst="roundRect">
            <a:avLst>
              <a:gd name="adj" fmla="val 4000"/>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5" name="Text 3"/>
          <p:cNvSpPr txBox="1"/>
          <p:nvPr/>
        </p:nvSpPr>
        <p:spPr>
          <a:xfrm>
            <a:off x="704088" y="1938528"/>
            <a:ext cx="1920240" cy="256032"/>
          </a:xfrm>
          <a:prstGeom prst="rect">
            <a:avLst/>
          </a:prstGeom>
          <a:noFill/>
          <a:ln/>
        </p:spPr>
        <p:txBody>
          <a:bodyPr wrap="square" lIns="0" tIns="0" rIns="0" bIns="0" rtlCol="0" anchor="ctr"/>
          <a:lstStyle/>
          <a:p>
            <a:pPr marL="0" indent="0">
              <a:buNone/>
            </a:pPr>
            <a:r>
              <a:rPr lang="en-US" sz="1050" b="1" kern="0" spc="140" dirty="0">
                <a:solidFill>
                  <a:srgbClr val="67718A"/>
                </a:solidFill>
              </a:rPr>
              <a:t>SOURCES</a:t>
            </a:r>
            <a:endParaRPr lang="en-US" sz="1050" dirty="0"/>
          </a:p>
        </p:txBody>
      </p:sp>
      <p:sp>
        <p:nvSpPr>
          <p:cNvPr id="6" name="Text 4"/>
          <p:cNvSpPr txBox="1"/>
          <p:nvPr/>
        </p:nvSpPr>
        <p:spPr>
          <a:xfrm>
            <a:off x="704088" y="2286000"/>
            <a:ext cx="1920240" cy="237744"/>
          </a:xfrm>
          <a:prstGeom prst="rect">
            <a:avLst/>
          </a:prstGeom>
          <a:noFill/>
          <a:ln/>
        </p:spPr>
        <p:txBody>
          <a:bodyPr wrap="square" lIns="0" tIns="0" rIns="0" bIns="0" rtlCol="0" anchor="ctr"/>
          <a:lstStyle/>
          <a:p>
            <a:pPr marL="0" indent="0">
              <a:buNone/>
            </a:pPr>
            <a:r>
              <a:rPr lang="en-US" sz="1250" b="1" dirty="0">
                <a:solidFill>
                  <a:srgbClr val="11151C"/>
                </a:solidFill>
              </a:rPr>
              <a:t>Sensor stream</a:t>
            </a:r>
            <a:endParaRPr lang="en-US" sz="1250" dirty="0"/>
          </a:p>
        </p:txBody>
      </p:sp>
      <p:sp>
        <p:nvSpPr>
          <p:cNvPr id="7" name="Text 5"/>
          <p:cNvSpPr txBox="1"/>
          <p:nvPr/>
        </p:nvSpPr>
        <p:spPr>
          <a:xfrm>
            <a:off x="704088" y="2523744"/>
            <a:ext cx="1920240" cy="384048"/>
          </a:xfrm>
          <a:prstGeom prst="rect">
            <a:avLst/>
          </a:prstGeom>
          <a:noFill/>
          <a:ln/>
        </p:spPr>
        <p:txBody>
          <a:bodyPr wrap="square" lIns="0" tIns="0" rIns="0" bIns="0" rtlCol="0" anchor="ctr"/>
          <a:lstStyle/>
          <a:p>
            <a:pPr marL="0" indent="0">
              <a:lnSpc>
                <a:spcPct val="110000"/>
              </a:lnSpc>
              <a:buNone/>
            </a:pPr>
            <a:r>
              <a:rPr lang="en-US" sz="1050" dirty="0">
                <a:solidFill>
                  <a:srgbClr val="67718A"/>
                </a:solidFill>
              </a:rPr>
              <a:t>1 reading/min</a:t>
            </a:r>
            <a:endParaRPr lang="en-US" sz="1050" dirty="0"/>
          </a:p>
          <a:p>
            <a:pPr marL="0" indent="0">
              <a:lnSpc>
                <a:spcPct val="110000"/>
              </a:lnSpc>
              <a:buNone/>
            </a:pPr>
            <a:r>
              <a:rPr lang="en-US" sz="1050" dirty="0">
                <a:solidFill>
                  <a:srgbClr val="67718A"/>
                </a:solidFill>
              </a:rPr>
              <a:t>101 machines</a:t>
            </a:r>
            <a:endParaRPr lang="en-US" sz="1050" dirty="0"/>
          </a:p>
        </p:txBody>
      </p:sp>
      <p:sp>
        <p:nvSpPr>
          <p:cNvPr id="8" name="Text 6"/>
          <p:cNvSpPr txBox="1"/>
          <p:nvPr/>
        </p:nvSpPr>
        <p:spPr>
          <a:xfrm>
            <a:off x="704088" y="2953512"/>
            <a:ext cx="1920240" cy="237744"/>
          </a:xfrm>
          <a:prstGeom prst="rect">
            <a:avLst/>
          </a:prstGeom>
          <a:noFill/>
          <a:ln/>
        </p:spPr>
        <p:txBody>
          <a:bodyPr wrap="square" lIns="0" tIns="0" rIns="0" bIns="0" rtlCol="0" anchor="ctr"/>
          <a:lstStyle/>
          <a:p>
            <a:pPr marL="0" indent="0">
              <a:buNone/>
            </a:pPr>
            <a:r>
              <a:rPr lang="en-US" sz="1250" b="1" dirty="0">
                <a:solidFill>
                  <a:srgbClr val="11151C"/>
                </a:solidFill>
              </a:rPr>
              <a:t>Asset registry</a:t>
            </a:r>
            <a:endParaRPr lang="en-US" sz="1250" dirty="0"/>
          </a:p>
        </p:txBody>
      </p:sp>
      <p:sp>
        <p:nvSpPr>
          <p:cNvPr id="9" name="Text 7"/>
          <p:cNvSpPr txBox="1"/>
          <p:nvPr/>
        </p:nvSpPr>
        <p:spPr>
          <a:xfrm>
            <a:off x="704088" y="3191256"/>
            <a:ext cx="1920240" cy="384048"/>
          </a:xfrm>
          <a:prstGeom prst="rect">
            <a:avLst/>
          </a:prstGeom>
          <a:noFill/>
          <a:ln/>
        </p:spPr>
        <p:txBody>
          <a:bodyPr wrap="square" lIns="0" tIns="0" rIns="0" bIns="0" rtlCol="0" anchor="ctr"/>
          <a:lstStyle/>
          <a:p>
            <a:pPr marL="0" indent="0">
              <a:lnSpc>
                <a:spcPct val="110000"/>
              </a:lnSpc>
              <a:buNone/>
            </a:pPr>
            <a:r>
              <a:rPr lang="en-US" sz="1050" dirty="0">
                <a:solidFill>
                  <a:srgbClr val="67718A"/>
                </a:solidFill>
              </a:rPr>
              <a:t>plant hierarchy</a:t>
            </a:r>
            <a:endParaRPr lang="en-US" sz="1050" dirty="0"/>
          </a:p>
        </p:txBody>
      </p:sp>
      <p:sp>
        <p:nvSpPr>
          <p:cNvPr id="10" name="Text 8"/>
          <p:cNvSpPr txBox="1"/>
          <p:nvPr/>
        </p:nvSpPr>
        <p:spPr>
          <a:xfrm>
            <a:off x="704088" y="3621024"/>
            <a:ext cx="1920240" cy="237744"/>
          </a:xfrm>
          <a:prstGeom prst="rect">
            <a:avLst/>
          </a:prstGeom>
          <a:noFill/>
          <a:ln/>
        </p:spPr>
        <p:txBody>
          <a:bodyPr wrap="square" lIns="0" tIns="0" rIns="0" bIns="0" rtlCol="0" anchor="ctr"/>
          <a:lstStyle/>
          <a:p>
            <a:pPr marL="0" indent="0">
              <a:buNone/>
            </a:pPr>
            <a:r>
              <a:rPr lang="en-US" sz="1250" b="1" dirty="0">
                <a:solidFill>
                  <a:srgbClr val="11151C"/>
                </a:solidFill>
              </a:rPr>
              <a:t>AI4I 2020</a:t>
            </a:r>
            <a:endParaRPr lang="en-US" sz="1250" dirty="0"/>
          </a:p>
        </p:txBody>
      </p:sp>
      <p:sp>
        <p:nvSpPr>
          <p:cNvPr id="11" name="Text 9"/>
          <p:cNvSpPr txBox="1"/>
          <p:nvPr/>
        </p:nvSpPr>
        <p:spPr>
          <a:xfrm>
            <a:off x="704088" y="3858768"/>
            <a:ext cx="1920240" cy="384048"/>
          </a:xfrm>
          <a:prstGeom prst="rect">
            <a:avLst/>
          </a:prstGeom>
          <a:noFill/>
          <a:ln/>
        </p:spPr>
        <p:txBody>
          <a:bodyPr wrap="square" lIns="0" tIns="0" rIns="0" bIns="0" rtlCol="0" anchor="ctr"/>
          <a:lstStyle/>
          <a:p>
            <a:pPr marL="0" indent="0">
              <a:lnSpc>
                <a:spcPct val="110000"/>
              </a:lnSpc>
              <a:buNone/>
            </a:pPr>
            <a:r>
              <a:rPr lang="en-US" sz="1050" dirty="0">
                <a:solidFill>
                  <a:srgbClr val="67718A"/>
                </a:solidFill>
              </a:rPr>
              <a:t>339 real failures</a:t>
            </a:r>
            <a:endParaRPr lang="en-US" sz="1050" dirty="0"/>
          </a:p>
        </p:txBody>
      </p:sp>
      <p:sp>
        <p:nvSpPr>
          <p:cNvPr id="12" name="Text 10"/>
          <p:cNvSpPr txBox="1"/>
          <p:nvPr/>
        </p:nvSpPr>
        <p:spPr>
          <a:xfrm>
            <a:off x="704088" y="4288536"/>
            <a:ext cx="1920240" cy="237744"/>
          </a:xfrm>
          <a:prstGeom prst="rect">
            <a:avLst/>
          </a:prstGeom>
          <a:noFill/>
          <a:ln/>
        </p:spPr>
        <p:txBody>
          <a:bodyPr wrap="square" lIns="0" tIns="0" rIns="0" bIns="0" rtlCol="0" anchor="ctr"/>
          <a:lstStyle/>
          <a:p>
            <a:pPr marL="0" indent="0">
              <a:buNone/>
            </a:pPr>
            <a:r>
              <a:rPr lang="en-US" sz="1250" b="1" dirty="0">
                <a:solidFill>
                  <a:srgbClr val="11151C"/>
                </a:solidFill>
              </a:rPr>
              <a:t>Technician notes</a:t>
            </a:r>
            <a:endParaRPr lang="en-US" sz="1250" dirty="0"/>
          </a:p>
        </p:txBody>
      </p:sp>
      <p:sp>
        <p:nvSpPr>
          <p:cNvPr id="13" name="Text 11"/>
          <p:cNvSpPr txBox="1"/>
          <p:nvPr/>
        </p:nvSpPr>
        <p:spPr>
          <a:xfrm>
            <a:off x="704088" y="4526280"/>
            <a:ext cx="1920240" cy="384048"/>
          </a:xfrm>
          <a:prstGeom prst="rect">
            <a:avLst/>
          </a:prstGeom>
          <a:noFill/>
          <a:ln/>
        </p:spPr>
        <p:txBody>
          <a:bodyPr wrap="square" lIns="0" tIns="0" rIns="0" bIns="0" rtlCol="0" anchor="ctr"/>
          <a:lstStyle/>
          <a:p>
            <a:pPr marL="0" indent="0">
              <a:lnSpc>
                <a:spcPct val="110000"/>
              </a:lnSpc>
              <a:buNone/>
            </a:pPr>
            <a:r>
              <a:rPr lang="en-US" sz="1050" dirty="0">
                <a:solidFill>
                  <a:srgbClr val="67718A"/>
                </a:solidFill>
              </a:rPr>
              <a:t>free text</a:t>
            </a:r>
            <a:endParaRPr lang="en-US" sz="1050" dirty="0"/>
          </a:p>
        </p:txBody>
      </p:sp>
      <p:sp>
        <p:nvSpPr>
          <p:cNvPr id="14" name="db"/>
          <p:cNvSpPr/>
          <p:nvPr/>
        </p:nvSpPr>
        <p:spPr>
          <a:xfrm>
            <a:off x="3127248" y="1783080"/>
            <a:ext cx="4206240" cy="3200400"/>
          </a:xfrm>
          <a:prstGeom prst="roundRect">
            <a:avLst>
              <a:gd name="adj" fmla="val 2857"/>
            </a:avLst>
          </a:prstGeom>
          <a:solidFill>
            <a:srgbClr val="1E2630"/>
          </a:solidFill>
          <a:ln w="12700">
            <a:solidFill>
              <a:srgbClr val="1E2630"/>
            </a:solidFill>
            <a:prstDash val="solid"/>
          </a:ln>
        </p:spPr>
      </p:sp>
      <p:sp>
        <p:nvSpPr>
          <p:cNvPr id="15" name="Text 13"/>
          <p:cNvSpPr txBox="1"/>
          <p:nvPr/>
        </p:nvSpPr>
        <p:spPr>
          <a:xfrm>
            <a:off x="3328416" y="1938528"/>
            <a:ext cx="3840480" cy="310896"/>
          </a:xfrm>
          <a:prstGeom prst="rect">
            <a:avLst/>
          </a:prstGeom>
          <a:noFill/>
          <a:ln/>
        </p:spPr>
        <p:txBody>
          <a:bodyPr wrap="square" lIns="0" tIns="0" rIns="0" bIns="0" rtlCol="0" anchor="ctr"/>
          <a:lstStyle/>
          <a:p>
            <a:pPr marL="0" indent="0">
              <a:buNone/>
            </a:pPr>
            <a:r>
              <a:rPr lang="en-US" sz="1600" b="1" dirty="0">
                <a:solidFill>
                  <a:srgbClr val="FFFFFF"/>
                </a:solidFill>
              </a:rPr>
              <a:t>PostgreSQL 16</a:t>
            </a:r>
            <a:endParaRPr lang="en-US" sz="1600" dirty="0"/>
          </a:p>
        </p:txBody>
      </p:sp>
      <p:sp>
        <p:nvSpPr>
          <p:cNvPr id="16" name="Text 14"/>
          <p:cNvSpPr txBox="1"/>
          <p:nvPr/>
        </p:nvSpPr>
        <p:spPr>
          <a:xfrm>
            <a:off x="3328416" y="2249424"/>
            <a:ext cx="3840480" cy="237744"/>
          </a:xfrm>
          <a:prstGeom prst="rect">
            <a:avLst/>
          </a:prstGeom>
          <a:noFill/>
          <a:ln/>
        </p:spPr>
        <p:txBody>
          <a:bodyPr wrap="square" lIns="0" tIns="0" rIns="0" bIns="0" rtlCol="0" anchor="ctr"/>
          <a:lstStyle/>
          <a:p>
            <a:pPr marL="0" indent="0">
              <a:buNone/>
            </a:pPr>
            <a:r>
              <a:rPr lang="en-US" sz="1050" dirty="0">
                <a:solidFill>
                  <a:srgbClr val="8A94A6"/>
                </a:solidFill>
              </a:rPr>
              <a:t>one database  ·  one connection</a:t>
            </a:r>
            <a:endParaRPr lang="en-US" sz="1050" dirty="0"/>
          </a:p>
        </p:txBody>
      </p:sp>
      <p:sp>
        <p:nvSpPr>
          <p:cNvPr id="17" name="t0"/>
          <p:cNvSpPr/>
          <p:nvPr/>
        </p:nvSpPr>
        <p:spPr>
          <a:xfrm>
            <a:off x="3328416" y="2633472"/>
            <a:ext cx="3803904" cy="384048"/>
          </a:xfrm>
          <a:prstGeom prst="roundRect">
            <a:avLst>
              <a:gd name="adj" fmla="val 14286"/>
            </a:avLst>
          </a:prstGeom>
          <a:solidFill>
            <a:srgbClr val="2A3542"/>
          </a:solidFill>
          <a:ln/>
        </p:spPr>
      </p:sp>
      <p:sp>
        <p:nvSpPr>
          <p:cNvPr id="18" name="td0"/>
          <p:cNvSpPr/>
          <p:nvPr/>
        </p:nvSpPr>
        <p:spPr>
          <a:xfrm>
            <a:off x="3456432" y="2766060"/>
            <a:ext cx="118872" cy="118872"/>
          </a:xfrm>
          <a:prstGeom prst="ellipse">
            <a:avLst/>
          </a:prstGeom>
          <a:solidFill>
            <a:srgbClr val="0E7490"/>
          </a:solidFill>
          <a:ln/>
        </p:spPr>
      </p:sp>
      <p:sp>
        <p:nvSpPr>
          <p:cNvPr id="19" name="Text 17"/>
          <p:cNvSpPr txBox="1"/>
          <p:nvPr/>
        </p:nvSpPr>
        <p:spPr>
          <a:xfrm>
            <a:off x="3657600" y="2633472"/>
            <a:ext cx="3383280" cy="384048"/>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sensor_readings</a:t>
            </a:r>
            <a:r>
              <a:rPr lang="en-US" sz="1000" dirty="0">
                <a:solidFill>
                  <a:srgbClr val="9AA6B6"/>
                </a:solidFill>
              </a:rPr>
              <a:t>   partitioned by day · 5.09M rows</a:t>
            </a:r>
            <a:endParaRPr lang="en-US" sz="1000" dirty="0"/>
          </a:p>
        </p:txBody>
      </p:sp>
      <p:sp>
        <p:nvSpPr>
          <p:cNvPr id="20" name="t1"/>
          <p:cNvSpPr/>
          <p:nvPr/>
        </p:nvSpPr>
        <p:spPr>
          <a:xfrm>
            <a:off x="3328416" y="3081528"/>
            <a:ext cx="3803904" cy="384048"/>
          </a:xfrm>
          <a:prstGeom prst="roundRect">
            <a:avLst>
              <a:gd name="adj" fmla="val 14286"/>
            </a:avLst>
          </a:prstGeom>
          <a:solidFill>
            <a:srgbClr val="2A3542"/>
          </a:solidFill>
          <a:ln/>
        </p:spPr>
      </p:sp>
      <p:sp>
        <p:nvSpPr>
          <p:cNvPr id="21" name="td1"/>
          <p:cNvSpPr/>
          <p:nvPr/>
        </p:nvSpPr>
        <p:spPr>
          <a:xfrm>
            <a:off x="3456432" y="3214116"/>
            <a:ext cx="118872" cy="118872"/>
          </a:xfrm>
          <a:prstGeom prst="ellipse">
            <a:avLst/>
          </a:prstGeom>
          <a:solidFill>
            <a:srgbClr val="0E7490"/>
          </a:solidFill>
          <a:ln/>
        </p:spPr>
      </p:sp>
      <p:sp>
        <p:nvSpPr>
          <p:cNvPr id="22" name="Text 20"/>
          <p:cNvSpPr txBox="1"/>
          <p:nvPr/>
        </p:nvSpPr>
        <p:spPr>
          <a:xfrm>
            <a:off x="3657600" y="3081528"/>
            <a:ext cx="3383280" cy="384048"/>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readings_hourly</a:t>
            </a:r>
            <a:r>
              <a:rPr lang="en-US" sz="1000" dirty="0">
                <a:solidFill>
                  <a:srgbClr val="9AA6B6"/>
                </a:solidFill>
              </a:rPr>
              <a:t>   pre-aggregated roll-up</a:t>
            </a:r>
            <a:endParaRPr lang="en-US" sz="1000" dirty="0"/>
          </a:p>
        </p:txBody>
      </p:sp>
      <p:sp>
        <p:nvSpPr>
          <p:cNvPr id="23" name="t2"/>
          <p:cNvSpPr/>
          <p:nvPr/>
        </p:nvSpPr>
        <p:spPr>
          <a:xfrm>
            <a:off x="3328416" y="3529584"/>
            <a:ext cx="3803904" cy="384048"/>
          </a:xfrm>
          <a:prstGeom prst="roundRect">
            <a:avLst>
              <a:gd name="adj" fmla="val 14286"/>
            </a:avLst>
          </a:prstGeom>
          <a:solidFill>
            <a:srgbClr val="2A3542"/>
          </a:solidFill>
          <a:ln/>
        </p:spPr>
      </p:sp>
      <p:sp>
        <p:nvSpPr>
          <p:cNvPr id="24" name="td2"/>
          <p:cNvSpPr/>
          <p:nvPr/>
        </p:nvSpPr>
        <p:spPr>
          <a:xfrm>
            <a:off x="3456432" y="3662172"/>
            <a:ext cx="118872" cy="118872"/>
          </a:xfrm>
          <a:prstGeom prst="ellipse">
            <a:avLst/>
          </a:prstGeom>
          <a:solidFill>
            <a:srgbClr val="4338CA"/>
          </a:solidFill>
          <a:ln/>
        </p:spPr>
      </p:sp>
      <p:sp>
        <p:nvSpPr>
          <p:cNvPr id="25" name="Text 23"/>
          <p:cNvSpPr txBox="1"/>
          <p:nvPr/>
        </p:nvSpPr>
        <p:spPr>
          <a:xfrm>
            <a:off x="3657600" y="3529584"/>
            <a:ext cx="3383280" cy="384048"/>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asset_dependencies</a:t>
            </a:r>
            <a:r>
              <a:rPr lang="en-US" sz="1000" dirty="0">
                <a:solidFill>
                  <a:srgbClr val="9AA6B6"/>
                </a:solidFill>
              </a:rPr>
              <a:t>   directed graph, self-referencing</a:t>
            </a:r>
            <a:endParaRPr lang="en-US" sz="1000" dirty="0"/>
          </a:p>
        </p:txBody>
      </p:sp>
      <p:sp>
        <p:nvSpPr>
          <p:cNvPr id="26" name="t3"/>
          <p:cNvSpPr/>
          <p:nvPr/>
        </p:nvSpPr>
        <p:spPr>
          <a:xfrm>
            <a:off x="3328416" y="3977640"/>
            <a:ext cx="3803904" cy="384048"/>
          </a:xfrm>
          <a:prstGeom prst="roundRect">
            <a:avLst>
              <a:gd name="adj" fmla="val 14286"/>
            </a:avLst>
          </a:prstGeom>
          <a:solidFill>
            <a:srgbClr val="2A3542"/>
          </a:solidFill>
          <a:ln/>
        </p:spPr>
      </p:sp>
      <p:sp>
        <p:nvSpPr>
          <p:cNvPr id="27" name="td3"/>
          <p:cNvSpPr/>
          <p:nvPr/>
        </p:nvSpPr>
        <p:spPr>
          <a:xfrm>
            <a:off x="3456432" y="4110228"/>
            <a:ext cx="118872" cy="118872"/>
          </a:xfrm>
          <a:prstGeom prst="ellipse">
            <a:avLst/>
          </a:prstGeom>
          <a:solidFill>
            <a:srgbClr val="9D174D"/>
          </a:solidFill>
          <a:ln/>
        </p:spPr>
      </p:sp>
      <p:sp>
        <p:nvSpPr>
          <p:cNvPr id="28" name="Text 26"/>
          <p:cNvSpPr txBox="1"/>
          <p:nvPr/>
        </p:nvSpPr>
        <p:spPr>
          <a:xfrm>
            <a:off x="3657600" y="3977640"/>
            <a:ext cx="3383280" cy="384048"/>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maintenance_reports</a:t>
            </a:r>
            <a:r>
              <a:rPr lang="en-US" sz="1000" dirty="0">
                <a:solidFill>
                  <a:srgbClr val="9AA6B6"/>
                </a:solidFill>
              </a:rPr>
              <a:t>   vector(384) + HNSW index</a:t>
            </a:r>
            <a:endParaRPr lang="en-US" sz="1000" dirty="0"/>
          </a:p>
        </p:txBody>
      </p:sp>
      <p:sp>
        <p:nvSpPr>
          <p:cNvPr id="29" name="t4"/>
          <p:cNvSpPr/>
          <p:nvPr/>
        </p:nvSpPr>
        <p:spPr>
          <a:xfrm>
            <a:off x="3328416" y="4425696"/>
            <a:ext cx="3803904" cy="384048"/>
          </a:xfrm>
          <a:prstGeom prst="roundRect">
            <a:avLst>
              <a:gd name="adj" fmla="val 14286"/>
            </a:avLst>
          </a:prstGeom>
          <a:solidFill>
            <a:srgbClr val="2A3542"/>
          </a:solidFill>
          <a:ln/>
        </p:spPr>
      </p:sp>
      <p:sp>
        <p:nvSpPr>
          <p:cNvPr id="30" name="td4"/>
          <p:cNvSpPr/>
          <p:nvPr/>
        </p:nvSpPr>
        <p:spPr>
          <a:xfrm>
            <a:off x="3456432" y="4558284"/>
            <a:ext cx="118872" cy="118872"/>
          </a:xfrm>
          <a:prstGeom prst="ellipse">
            <a:avLst/>
          </a:prstGeom>
          <a:solidFill>
            <a:srgbClr val="15803D"/>
          </a:solidFill>
          <a:ln/>
        </p:spPr>
      </p:sp>
      <p:sp>
        <p:nvSpPr>
          <p:cNvPr id="31" name="Text 29"/>
          <p:cNvSpPr txBox="1"/>
          <p:nvPr/>
        </p:nvSpPr>
        <p:spPr>
          <a:xfrm>
            <a:off x="3657600" y="4425696"/>
            <a:ext cx="3383280" cy="384048"/>
          </a:xfrm>
          <a:prstGeom prst="rect">
            <a:avLst/>
          </a:prstGeom>
          <a:noFill/>
          <a:ln/>
        </p:spPr>
        <p:txBody>
          <a:bodyPr wrap="square" lIns="0" tIns="0" rIns="0" bIns="0" rtlCol="0" anchor="ctr"/>
          <a:lstStyle/>
          <a:p>
            <a:pPr marL="0" indent="0">
              <a:buNone/>
            </a:pPr>
            <a:r>
              <a:rPr lang="en-US" sz="1000" b="1" dirty="0">
                <a:solidFill>
                  <a:srgbClr val="FFFFFF"/>
                </a:solidFill>
                <a:latin typeface="Courier New" pitchFamily="34" charset="0"/>
                <a:ea typeface="Courier New" pitchFamily="34" charset="-122"/>
                <a:cs typeface="Courier New" pitchFamily="34" charset="-120"/>
              </a:rPr>
              <a:t>audit_logs</a:t>
            </a:r>
            <a:r>
              <a:rPr lang="en-US" sz="1000" dirty="0">
                <a:solidFill>
                  <a:srgbClr val="9AA6B6"/>
                </a:solidFill>
              </a:rPr>
              <a:t>   append-only, trigger-written</a:t>
            </a:r>
            <a:endParaRPr lang="en-US" sz="1000" dirty="0"/>
          </a:p>
        </p:txBody>
      </p:sp>
      <p:sp>
        <p:nvSpPr>
          <p:cNvPr id="32" name="q"/>
          <p:cNvSpPr/>
          <p:nvPr/>
        </p:nvSpPr>
        <p:spPr>
          <a:xfrm>
            <a:off x="7717536" y="1783080"/>
            <a:ext cx="3941064" cy="3200400"/>
          </a:xfrm>
          <a:prstGeom prst="roundRect">
            <a:avLst>
              <a:gd name="adj" fmla="val 2857"/>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33" name="Text 31"/>
          <p:cNvSpPr txBox="1"/>
          <p:nvPr/>
        </p:nvSpPr>
        <p:spPr>
          <a:xfrm>
            <a:off x="7918704" y="1938528"/>
            <a:ext cx="3566160" cy="256032"/>
          </a:xfrm>
          <a:prstGeom prst="rect">
            <a:avLst/>
          </a:prstGeom>
          <a:noFill/>
          <a:ln/>
        </p:spPr>
        <p:txBody>
          <a:bodyPr wrap="square" lIns="0" tIns="0" rIns="0" bIns="0" rtlCol="0" anchor="ctr"/>
          <a:lstStyle/>
          <a:p>
            <a:pPr marL="0" indent="0">
              <a:buNone/>
            </a:pPr>
            <a:r>
              <a:rPr lang="en-US" sz="1050" b="1" kern="0" spc="140" dirty="0">
                <a:solidFill>
                  <a:srgbClr val="67718A"/>
                </a:solidFill>
              </a:rPr>
              <a:t>THREE QUERIES</a:t>
            </a:r>
            <a:endParaRPr lang="en-US" sz="1050" dirty="0"/>
          </a:p>
        </p:txBody>
      </p:sp>
      <p:sp>
        <p:nvSpPr>
          <p:cNvPr id="34" name="chip-1"/>
          <p:cNvSpPr/>
          <p:nvPr/>
        </p:nvSpPr>
        <p:spPr>
          <a:xfrm>
            <a:off x="7918704" y="2359152"/>
            <a:ext cx="347472" cy="347472"/>
          </a:xfrm>
          <a:prstGeom prst="ellipse">
            <a:avLst/>
          </a:prstGeom>
          <a:solidFill>
            <a:srgbClr val="0E7490"/>
          </a:solidFill>
          <a:ln w="12700">
            <a:solidFill>
              <a:srgbClr val="0E7490"/>
            </a:solidFill>
            <a:prstDash val="solid"/>
          </a:ln>
        </p:spPr>
      </p:sp>
      <p:sp>
        <p:nvSpPr>
          <p:cNvPr id="35" name="Text 33"/>
          <p:cNvSpPr txBox="1"/>
          <p:nvPr/>
        </p:nvSpPr>
        <p:spPr>
          <a:xfrm>
            <a:off x="7918704" y="235915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36" name="Text 34"/>
          <p:cNvSpPr txBox="1"/>
          <p:nvPr/>
        </p:nvSpPr>
        <p:spPr>
          <a:xfrm>
            <a:off x="8375904" y="2331720"/>
            <a:ext cx="3108960" cy="256032"/>
          </a:xfrm>
          <a:prstGeom prst="rect">
            <a:avLst/>
          </a:prstGeom>
          <a:noFill/>
          <a:ln/>
        </p:spPr>
        <p:txBody>
          <a:bodyPr wrap="square" lIns="0" tIns="0" rIns="0" bIns="0" rtlCol="0" anchor="ctr"/>
          <a:lstStyle/>
          <a:p>
            <a:pPr marL="0" indent="0">
              <a:buNone/>
            </a:pPr>
            <a:r>
              <a:rPr lang="en-US" sz="1300" b="1" dirty="0">
                <a:solidFill>
                  <a:srgbClr val="11151C"/>
                </a:solidFill>
              </a:rPr>
              <a:t>Anomaly detection</a:t>
            </a:r>
            <a:endParaRPr lang="en-US" sz="1300" dirty="0"/>
          </a:p>
        </p:txBody>
      </p:sp>
      <p:sp>
        <p:nvSpPr>
          <p:cNvPr id="37" name="Text 35"/>
          <p:cNvSpPr txBox="1"/>
          <p:nvPr/>
        </p:nvSpPr>
        <p:spPr>
          <a:xfrm>
            <a:off x="8375904" y="2587752"/>
            <a:ext cx="3108960" cy="256032"/>
          </a:xfrm>
          <a:prstGeom prst="rect">
            <a:avLst/>
          </a:prstGeom>
          <a:noFill/>
          <a:ln/>
        </p:spPr>
        <p:txBody>
          <a:bodyPr wrap="square" lIns="0" tIns="0" rIns="0" bIns="0" rtlCol="0" anchor="ctr"/>
          <a:lstStyle/>
          <a:p>
            <a:pPr marL="0" indent="0">
              <a:buNone/>
            </a:pPr>
            <a:r>
              <a:rPr lang="en-US" sz="1050" dirty="0">
                <a:solidFill>
                  <a:srgbClr val="67718A"/>
                </a:solidFill>
              </a:rPr>
              <a:t>roll-up + per-asset z-score</a:t>
            </a:r>
            <a:endParaRPr lang="en-US" sz="1050" dirty="0"/>
          </a:p>
        </p:txBody>
      </p:sp>
      <p:sp>
        <p:nvSpPr>
          <p:cNvPr id="38" name="chip-2"/>
          <p:cNvSpPr/>
          <p:nvPr/>
        </p:nvSpPr>
        <p:spPr>
          <a:xfrm>
            <a:off x="7918704" y="3227832"/>
            <a:ext cx="347472" cy="347472"/>
          </a:xfrm>
          <a:prstGeom prst="ellipse">
            <a:avLst/>
          </a:prstGeom>
          <a:solidFill>
            <a:srgbClr val="4338CA"/>
          </a:solidFill>
          <a:ln w="12700">
            <a:solidFill>
              <a:srgbClr val="4338CA"/>
            </a:solidFill>
            <a:prstDash val="solid"/>
          </a:ln>
        </p:spPr>
      </p:sp>
      <p:sp>
        <p:nvSpPr>
          <p:cNvPr id="39" name="Text 37"/>
          <p:cNvSpPr txBox="1"/>
          <p:nvPr/>
        </p:nvSpPr>
        <p:spPr>
          <a:xfrm>
            <a:off x="7918704" y="32278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40" name="Text 38"/>
          <p:cNvSpPr txBox="1"/>
          <p:nvPr/>
        </p:nvSpPr>
        <p:spPr>
          <a:xfrm>
            <a:off x="8375904" y="3200400"/>
            <a:ext cx="3108960" cy="256032"/>
          </a:xfrm>
          <a:prstGeom prst="rect">
            <a:avLst/>
          </a:prstGeom>
          <a:noFill/>
          <a:ln/>
        </p:spPr>
        <p:txBody>
          <a:bodyPr wrap="square" lIns="0" tIns="0" rIns="0" bIns="0" rtlCol="0" anchor="ctr"/>
          <a:lstStyle/>
          <a:p>
            <a:pPr marL="0" indent="0">
              <a:buNone/>
            </a:pPr>
            <a:r>
              <a:rPr lang="en-US" sz="1300" b="1" dirty="0">
                <a:solidFill>
                  <a:srgbClr val="11151C"/>
                </a:solidFill>
              </a:rPr>
              <a:t>Failure cascade</a:t>
            </a:r>
            <a:endParaRPr lang="en-US" sz="1300" dirty="0"/>
          </a:p>
        </p:txBody>
      </p:sp>
      <p:sp>
        <p:nvSpPr>
          <p:cNvPr id="41" name="Text 39"/>
          <p:cNvSpPr txBox="1"/>
          <p:nvPr/>
        </p:nvSpPr>
        <p:spPr>
          <a:xfrm>
            <a:off x="8375904" y="3456432"/>
            <a:ext cx="3108960" cy="256032"/>
          </a:xfrm>
          <a:prstGeom prst="rect">
            <a:avLst/>
          </a:prstGeom>
          <a:noFill/>
          <a:ln/>
        </p:spPr>
        <p:txBody>
          <a:bodyPr wrap="square" lIns="0" tIns="0" rIns="0" bIns="0" rtlCol="0" anchor="ctr"/>
          <a:lstStyle/>
          <a:p>
            <a:pPr marL="0" indent="0">
              <a:buNone/>
            </a:pPr>
            <a:r>
              <a:rPr lang="en-US" sz="1050" dirty="0">
                <a:solidFill>
                  <a:srgbClr val="67718A"/>
                </a:solidFill>
              </a:rPr>
              <a:t>WITH RECURSIVE, depth-bounded</a:t>
            </a:r>
            <a:endParaRPr lang="en-US" sz="1050" dirty="0"/>
          </a:p>
        </p:txBody>
      </p:sp>
      <p:sp>
        <p:nvSpPr>
          <p:cNvPr id="42" name="chip-3"/>
          <p:cNvSpPr/>
          <p:nvPr/>
        </p:nvSpPr>
        <p:spPr>
          <a:xfrm>
            <a:off x="7918704" y="4096512"/>
            <a:ext cx="347472" cy="347472"/>
          </a:xfrm>
          <a:prstGeom prst="ellipse">
            <a:avLst/>
          </a:prstGeom>
          <a:solidFill>
            <a:srgbClr val="9D174D"/>
          </a:solidFill>
          <a:ln w="12700">
            <a:solidFill>
              <a:srgbClr val="9D174D"/>
            </a:solidFill>
            <a:prstDash val="solid"/>
          </a:ln>
        </p:spPr>
      </p:sp>
      <p:sp>
        <p:nvSpPr>
          <p:cNvPr id="43" name="Text 41"/>
          <p:cNvSpPr txBox="1"/>
          <p:nvPr/>
        </p:nvSpPr>
        <p:spPr>
          <a:xfrm>
            <a:off x="7918704" y="409651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44" name="Text 42"/>
          <p:cNvSpPr txBox="1"/>
          <p:nvPr/>
        </p:nvSpPr>
        <p:spPr>
          <a:xfrm>
            <a:off x="8375904" y="4069080"/>
            <a:ext cx="3108960" cy="256032"/>
          </a:xfrm>
          <a:prstGeom prst="rect">
            <a:avLst/>
          </a:prstGeom>
          <a:noFill/>
          <a:ln/>
        </p:spPr>
        <p:txBody>
          <a:bodyPr wrap="square" lIns="0" tIns="0" rIns="0" bIns="0" rtlCol="0" anchor="ctr"/>
          <a:lstStyle/>
          <a:p>
            <a:pPr marL="0" indent="0">
              <a:buNone/>
            </a:pPr>
            <a:r>
              <a:rPr lang="en-US" sz="1300" b="1" dirty="0">
                <a:solidFill>
                  <a:srgbClr val="11151C"/>
                </a:solidFill>
              </a:rPr>
              <a:t>Similar failures</a:t>
            </a:r>
            <a:endParaRPr lang="en-US" sz="1300" dirty="0"/>
          </a:p>
        </p:txBody>
      </p:sp>
      <p:sp>
        <p:nvSpPr>
          <p:cNvPr id="45" name="Text 43"/>
          <p:cNvSpPr txBox="1"/>
          <p:nvPr/>
        </p:nvSpPr>
        <p:spPr>
          <a:xfrm>
            <a:off x="8375904" y="4325112"/>
            <a:ext cx="3108960" cy="256032"/>
          </a:xfrm>
          <a:prstGeom prst="rect">
            <a:avLst/>
          </a:prstGeom>
          <a:noFill/>
          <a:ln/>
        </p:spPr>
        <p:txBody>
          <a:bodyPr wrap="square" lIns="0" tIns="0" rIns="0" bIns="0" rtlCol="0" anchor="ctr"/>
          <a:lstStyle/>
          <a:p>
            <a:pPr marL="0" indent="0">
              <a:buNone/>
            </a:pPr>
            <a:r>
              <a:rPr lang="en-US" sz="1050" dirty="0">
                <a:solidFill>
                  <a:srgbClr val="67718A"/>
                </a:solidFill>
              </a:rPr>
              <a:t>HNSW nearest neighbour</a:t>
            </a:r>
            <a:endParaRPr lang="en-US" sz="1050" dirty="0"/>
          </a:p>
        </p:txBody>
      </p:sp>
      <p:sp>
        <p:nvSpPr>
          <p:cNvPr id="46" name="Text 44"/>
          <p:cNvSpPr txBox="1"/>
          <p:nvPr/>
        </p:nvSpPr>
        <p:spPr>
          <a:xfrm>
            <a:off x="7918704" y="4590288"/>
            <a:ext cx="3566160" cy="256032"/>
          </a:xfrm>
          <a:prstGeom prst="rect">
            <a:avLst/>
          </a:prstGeom>
          <a:noFill/>
          <a:ln/>
        </p:spPr>
        <p:txBody>
          <a:bodyPr wrap="square" lIns="0" tIns="0" rIns="0" bIns="0" rtlCol="0" anchor="ctr"/>
          <a:lstStyle/>
          <a:p>
            <a:pPr marL="0" indent="0">
              <a:buNone/>
            </a:pPr>
            <a:r>
              <a:rPr lang="en-US" sz="1100" i="1" dirty="0">
                <a:solidFill>
                  <a:srgbClr val="67718A"/>
                </a:solidFill>
              </a:rPr>
              <a:t>Streamlit dashboard reads all three</a:t>
            </a:r>
            <a:endParaRPr lang="en-US" sz="1100" dirty="0"/>
          </a:p>
        </p:txBody>
      </p:sp>
      <p:sp>
        <p:nvSpPr>
          <p:cNvPr id="47" name="arrow0"/>
          <p:cNvSpPr txBox="1"/>
          <p:nvPr/>
        </p:nvSpPr>
        <p:spPr>
          <a:xfrm>
            <a:off x="2807208" y="3200400"/>
            <a:ext cx="365760" cy="365760"/>
          </a:xfrm>
          <a:prstGeom prst="rect">
            <a:avLst/>
          </a:prstGeom>
          <a:noFill/>
          <a:ln/>
        </p:spPr>
        <p:txBody>
          <a:bodyPr wrap="square" lIns="0" tIns="0" rIns="0" bIns="0" rtlCol="0" anchor="ctr"/>
          <a:lstStyle/>
          <a:p>
            <a:pPr marL="0" indent="0" algn="ctr">
              <a:buNone/>
            </a:pPr>
            <a:r>
              <a:rPr lang="en-US" sz="2000" dirty="0">
                <a:solidFill>
                  <a:srgbClr val="67718A"/>
                </a:solidFill>
              </a:rPr>
              <a:t>→</a:t>
            </a:r>
            <a:endParaRPr lang="en-US" sz="2000" dirty="0"/>
          </a:p>
        </p:txBody>
      </p:sp>
      <p:sp>
        <p:nvSpPr>
          <p:cNvPr id="48" name="arrow1"/>
          <p:cNvSpPr txBox="1"/>
          <p:nvPr/>
        </p:nvSpPr>
        <p:spPr>
          <a:xfrm>
            <a:off x="7388352" y="3200400"/>
            <a:ext cx="365760" cy="365760"/>
          </a:xfrm>
          <a:prstGeom prst="rect">
            <a:avLst/>
          </a:prstGeom>
          <a:noFill/>
          <a:ln/>
        </p:spPr>
        <p:txBody>
          <a:bodyPr wrap="square" lIns="0" tIns="0" rIns="0" bIns="0" rtlCol="0" anchor="ctr"/>
          <a:lstStyle/>
          <a:p>
            <a:pPr marL="0" indent="0" algn="ctr">
              <a:buNone/>
            </a:pPr>
            <a:r>
              <a:rPr lang="en-US" sz="2000" dirty="0">
                <a:solidFill>
                  <a:srgbClr val="67718A"/>
                </a:solidFill>
              </a:rPr>
              <a:t>→</a:t>
            </a:r>
            <a:endParaRPr lang="en-US" sz="2000" dirty="0"/>
          </a:p>
        </p:txBody>
      </p:sp>
      <p:sp>
        <p:nvSpPr>
          <p:cNvPr id="49" name="note"/>
          <p:cNvSpPr/>
          <p:nvPr/>
        </p:nvSpPr>
        <p:spPr>
          <a:xfrm>
            <a:off x="502920" y="5193792"/>
            <a:ext cx="11155680" cy="841248"/>
          </a:xfrm>
          <a:prstGeom prst="roundRect">
            <a:avLst>
              <a:gd name="adj" fmla="val 10870"/>
            </a:avLst>
          </a:prstGeom>
          <a:solidFill>
            <a:srgbClr val="FDF6EE"/>
          </a:solidFill>
          <a:ln w="12700">
            <a:solidFill>
              <a:srgbClr val="FDF6EE"/>
            </a:solidFill>
            <a:prstDash val="solid"/>
          </a:ln>
        </p:spPr>
      </p:sp>
      <p:sp>
        <p:nvSpPr>
          <p:cNvPr id="50" name="Text 48"/>
          <p:cNvSpPr txBox="1"/>
          <p:nvPr/>
        </p:nvSpPr>
        <p:spPr>
          <a:xfrm>
            <a:off x="822960" y="5358384"/>
            <a:ext cx="10515600" cy="548640"/>
          </a:xfrm>
          <a:prstGeom prst="rect">
            <a:avLst/>
          </a:prstGeom>
          <a:noFill/>
          <a:ln/>
        </p:spPr>
        <p:txBody>
          <a:bodyPr wrap="square" lIns="0" tIns="0" rIns="0" bIns="0" rtlCol="0" anchor="ctr"/>
          <a:lstStyle/>
          <a:p>
            <a:pPr marL="0" indent="0">
              <a:lnSpc>
                <a:spcPct val="115000"/>
              </a:lnSpc>
              <a:buNone/>
            </a:pPr>
            <a:r>
              <a:rPr lang="en-US" sz="1300" b="1" dirty="0">
                <a:solidFill>
                  <a:srgbClr val="11151C"/>
                </a:solidFill>
              </a:rPr>
              <a:t>The payoff:  </a:t>
            </a:r>
            <a:r>
              <a:rPr lang="en-US" sz="1300" dirty="0">
                <a:solidFill>
                  <a:srgbClr val="7A5A3A"/>
                </a:solidFill>
              </a:rPr>
              <a:t>because all three live in one database, the cascade result and the similar-failure result can be filtered by the same asset in a single statement. Across three systems that is three round trips and a join written by hand.</a:t>
            </a:r>
            <a:endParaRPr lang="en-US" sz="1300" dirty="0"/>
          </a:p>
        </p:txBody>
      </p:sp>
      <p:sp>
        <p:nvSpPr>
          <p:cNvPr id="51"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Technology stack</a:t>
            </a: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r>
              <a:rPr lang="en-US" sz="1350" dirty="0">
                <a:solidFill>
                  <a:srgbClr val="67718A"/>
                </a:solidFill>
              </a:rPr>
              <a:t>Every choice, and what it was chosen over.</a:t>
            </a:r>
            <a:endParaRPr lang="en-US" sz="1350" dirty="0"/>
          </a:p>
        </p:txBody>
      </p:sp>
      <p:sp>
        <p:nvSpPr>
          <p:cNvPr id="4" name="row0"/>
          <p:cNvSpPr/>
          <p:nvPr/>
        </p:nvSpPr>
        <p:spPr>
          <a:xfrm>
            <a:off x="502920" y="1453896"/>
            <a:ext cx="11155680" cy="484632"/>
          </a:xfrm>
          <a:prstGeom prst="rect">
            <a:avLst/>
          </a:prstGeom>
          <a:solidFill>
            <a:srgbClr val="F7F8FA"/>
          </a:solidFill>
          <a:ln/>
        </p:spPr>
      </p:sp>
      <p:sp>
        <p:nvSpPr>
          <p:cNvPr id="5" name="rd0"/>
          <p:cNvSpPr/>
          <p:nvPr/>
        </p:nvSpPr>
        <p:spPr>
          <a:xfrm>
            <a:off x="612648" y="1636776"/>
            <a:ext cx="128016" cy="128016"/>
          </a:xfrm>
          <a:prstGeom prst="ellipse">
            <a:avLst/>
          </a:prstGeom>
          <a:solidFill>
            <a:srgbClr val="4338CA"/>
          </a:solidFill>
          <a:ln/>
        </p:spPr>
      </p:sp>
      <p:sp>
        <p:nvSpPr>
          <p:cNvPr id="6" name="Text 4"/>
          <p:cNvSpPr txBox="1"/>
          <p:nvPr/>
        </p:nvSpPr>
        <p:spPr>
          <a:xfrm>
            <a:off x="850392" y="1517904"/>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Database</a:t>
            </a:r>
            <a:endParaRPr lang="en-US" sz="1150" dirty="0"/>
          </a:p>
        </p:txBody>
      </p:sp>
      <p:sp>
        <p:nvSpPr>
          <p:cNvPr id="7" name="Text 5"/>
          <p:cNvSpPr txBox="1"/>
          <p:nvPr/>
        </p:nvSpPr>
        <p:spPr>
          <a:xfrm>
            <a:off x="2286000" y="1517904"/>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PostgreSQL 16</a:t>
            </a:r>
            <a:endParaRPr lang="en-US" sz="1200" dirty="0"/>
          </a:p>
        </p:txBody>
      </p:sp>
      <p:sp>
        <p:nvSpPr>
          <p:cNvPr id="8" name="Text 6"/>
          <p:cNvSpPr txBox="1"/>
          <p:nvPr/>
        </p:nvSpPr>
        <p:spPr>
          <a:xfrm>
            <a:off x="6172200" y="1517904"/>
            <a:ext cx="5349240" cy="365760"/>
          </a:xfrm>
          <a:prstGeom prst="rect">
            <a:avLst/>
          </a:prstGeom>
          <a:noFill/>
          <a:ln/>
        </p:spPr>
        <p:txBody>
          <a:bodyPr wrap="square" lIns="0" tIns="0" rIns="0" bIns="0" rtlCol="0" anchor="ctr"/>
          <a:lstStyle/>
          <a:p>
            <a:pPr marL="0" indent="0">
              <a:buNone/>
            </a:pPr>
            <a:r>
              <a:rPr lang="en-US" sz="1150" dirty="0">
                <a:solidFill>
                  <a:srgbClr val="55617A"/>
                </a:solidFill>
              </a:rPr>
              <a:t>Everything. One engine, one backup, one security model.</a:t>
            </a:r>
            <a:endParaRPr lang="en-US" sz="1150" dirty="0"/>
          </a:p>
        </p:txBody>
      </p:sp>
      <p:sp>
        <p:nvSpPr>
          <p:cNvPr id="9" name="rd1"/>
          <p:cNvSpPr/>
          <p:nvPr/>
        </p:nvSpPr>
        <p:spPr>
          <a:xfrm>
            <a:off x="612648" y="2144268"/>
            <a:ext cx="128016" cy="128016"/>
          </a:xfrm>
          <a:prstGeom prst="ellipse">
            <a:avLst/>
          </a:prstGeom>
          <a:solidFill>
            <a:srgbClr val="0E7490"/>
          </a:solidFill>
          <a:ln/>
        </p:spPr>
      </p:sp>
      <p:sp>
        <p:nvSpPr>
          <p:cNvPr id="10" name="Text 8"/>
          <p:cNvSpPr txBox="1"/>
          <p:nvPr/>
        </p:nvSpPr>
        <p:spPr>
          <a:xfrm>
            <a:off x="850392" y="2025396"/>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Time-series</a:t>
            </a:r>
            <a:endParaRPr lang="en-US" sz="1150" dirty="0"/>
          </a:p>
        </p:txBody>
      </p:sp>
      <p:sp>
        <p:nvSpPr>
          <p:cNvPr id="11" name="Text 9"/>
          <p:cNvSpPr txBox="1"/>
          <p:nvPr/>
        </p:nvSpPr>
        <p:spPr>
          <a:xfrm>
            <a:off x="2286000" y="2025396"/>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TimescaleDB hypertable  or  native PARTITION BY RANGE</a:t>
            </a:r>
            <a:endParaRPr lang="en-US" sz="1200" dirty="0"/>
          </a:p>
        </p:txBody>
      </p:sp>
      <p:sp>
        <p:nvSpPr>
          <p:cNvPr id="12" name="Text 10"/>
          <p:cNvSpPr txBox="1"/>
          <p:nvPr/>
        </p:nvSpPr>
        <p:spPr>
          <a:xfrm>
            <a:off x="6172200" y="2025396"/>
            <a:ext cx="5349240" cy="365760"/>
          </a:xfrm>
          <a:prstGeom prst="rect">
            <a:avLst/>
          </a:prstGeom>
          <a:noFill/>
          <a:ln/>
        </p:spPr>
        <p:txBody>
          <a:bodyPr wrap="square" lIns="0" tIns="0" rIns="0" bIns="0" rtlCol="0" anchor="ctr"/>
          <a:lstStyle/>
          <a:p>
            <a:pPr marL="0" indent="0">
              <a:buNone/>
            </a:pPr>
            <a:r>
              <a:rPr lang="en-US" sz="1150" dirty="0">
                <a:solidFill>
                  <a:srgbClr val="55617A"/>
                </a:solidFill>
              </a:rPr>
              <a:t>Both ship. Detected at setup — the portable path needs no extension.</a:t>
            </a:r>
            <a:endParaRPr lang="en-US" sz="1150" dirty="0"/>
          </a:p>
        </p:txBody>
      </p:sp>
      <p:sp>
        <p:nvSpPr>
          <p:cNvPr id="13" name="row2"/>
          <p:cNvSpPr/>
          <p:nvPr/>
        </p:nvSpPr>
        <p:spPr>
          <a:xfrm>
            <a:off x="502920" y="2468880"/>
            <a:ext cx="11155680" cy="484632"/>
          </a:xfrm>
          <a:prstGeom prst="rect">
            <a:avLst/>
          </a:prstGeom>
          <a:solidFill>
            <a:srgbClr val="F7F8FA"/>
          </a:solidFill>
          <a:ln/>
        </p:spPr>
      </p:sp>
      <p:sp>
        <p:nvSpPr>
          <p:cNvPr id="14" name="rd2"/>
          <p:cNvSpPr/>
          <p:nvPr/>
        </p:nvSpPr>
        <p:spPr>
          <a:xfrm>
            <a:off x="612648" y="2651760"/>
            <a:ext cx="128016" cy="128016"/>
          </a:xfrm>
          <a:prstGeom prst="ellipse">
            <a:avLst/>
          </a:prstGeom>
          <a:solidFill>
            <a:srgbClr val="9D174D"/>
          </a:solidFill>
          <a:ln/>
        </p:spPr>
      </p:sp>
      <p:sp>
        <p:nvSpPr>
          <p:cNvPr id="15" name="Text 13"/>
          <p:cNvSpPr txBox="1"/>
          <p:nvPr/>
        </p:nvSpPr>
        <p:spPr>
          <a:xfrm>
            <a:off x="850392" y="2532888"/>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Vector search</a:t>
            </a:r>
            <a:endParaRPr lang="en-US" sz="1150" dirty="0"/>
          </a:p>
        </p:txBody>
      </p:sp>
      <p:sp>
        <p:nvSpPr>
          <p:cNvPr id="16" name="Text 14"/>
          <p:cNvSpPr txBox="1"/>
          <p:nvPr/>
        </p:nvSpPr>
        <p:spPr>
          <a:xfrm>
            <a:off x="2286000" y="2532888"/>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pgvector 0.8 · HNSW, cosine</a:t>
            </a:r>
            <a:endParaRPr lang="en-US" sz="1200" dirty="0"/>
          </a:p>
        </p:txBody>
      </p:sp>
      <p:sp>
        <p:nvSpPr>
          <p:cNvPr id="17" name="Text 15"/>
          <p:cNvSpPr txBox="1"/>
          <p:nvPr/>
        </p:nvSpPr>
        <p:spPr>
          <a:xfrm>
            <a:off x="6172200" y="2532888"/>
            <a:ext cx="5349240" cy="365760"/>
          </a:xfrm>
          <a:prstGeom prst="rect">
            <a:avLst/>
          </a:prstGeom>
          <a:noFill/>
          <a:ln/>
        </p:spPr>
        <p:txBody>
          <a:bodyPr wrap="square" lIns="0" tIns="0" rIns="0" bIns="0" rtlCol="0" anchor="ctr"/>
          <a:lstStyle/>
          <a:p>
            <a:pPr marL="0" indent="0">
              <a:buNone/>
            </a:pPr>
            <a:r>
              <a:rPr lang="en-US" sz="1150" dirty="0">
                <a:solidFill>
                  <a:srgbClr val="55617A"/>
                </a:solidFill>
              </a:rPr>
              <a:t>Embedding sits beside the failure record, so similarity results join directly.</a:t>
            </a:r>
            <a:endParaRPr lang="en-US" sz="1150" dirty="0"/>
          </a:p>
        </p:txBody>
      </p:sp>
      <p:sp>
        <p:nvSpPr>
          <p:cNvPr id="18" name="rd3"/>
          <p:cNvSpPr/>
          <p:nvPr/>
        </p:nvSpPr>
        <p:spPr>
          <a:xfrm>
            <a:off x="612648" y="3159252"/>
            <a:ext cx="128016" cy="128016"/>
          </a:xfrm>
          <a:prstGeom prst="ellipse">
            <a:avLst/>
          </a:prstGeom>
          <a:solidFill>
            <a:srgbClr val="9D174D"/>
          </a:solidFill>
          <a:ln/>
        </p:spPr>
      </p:sp>
      <p:sp>
        <p:nvSpPr>
          <p:cNvPr id="19" name="Text 17"/>
          <p:cNvSpPr txBox="1"/>
          <p:nvPr/>
        </p:nvSpPr>
        <p:spPr>
          <a:xfrm>
            <a:off x="850392" y="3040380"/>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Embeddings</a:t>
            </a:r>
            <a:endParaRPr lang="en-US" sz="1150" dirty="0"/>
          </a:p>
        </p:txBody>
      </p:sp>
      <p:sp>
        <p:nvSpPr>
          <p:cNvPr id="20" name="Text 18"/>
          <p:cNvSpPr txBox="1"/>
          <p:nvPr/>
        </p:nvSpPr>
        <p:spPr>
          <a:xfrm>
            <a:off x="2286000" y="3040380"/>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sentence-transformers  all-MiniLM-L6-v2</a:t>
            </a:r>
            <a:endParaRPr lang="en-US" sz="1200" dirty="0"/>
          </a:p>
        </p:txBody>
      </p:sp>
      <p:sp>
        <p:nvSpPr>
          <p:cNvPr id="21" name="Text 19"/>
          <p:cNvSpPr txBox="1"/>
          <p:nvPr/>
        </p:nvSpPr>
        <p:spPr>
          <a:xfrm>
            <a:off x="6172200" y="3040380"/>
            <a:ext cx="5349240" cy="365760"/>
          </a:xfrm>
          <a:prstGeom prst="rect">
            <a:avLst/>
          </a:prstGeom>
          <a:noFill/>
          <a:ln/>
        </p:spPr>
        <p:txBody>
          <a:bodyPr wrap="square" lIns="0" tIns="0" rIns="0" bIns="0" rtlCol="0" anchor="ctr"/>
          <a:lstStyle/>
          <a:p>
            <a:pPr marL="0" indent="0">
              <a:buNone/>
            </a:pPr>
            <a:r>
              <a:rPr lang="en-US" sz="1150" dirty="0">
                <a:solidFill>
                  <a:srgbClr val="55617A"/>
                </a:solidFill>
              </a:rPr>
              <a:t>384-dim, CPU, ~80 MB. Offline lexical fallback if the model cannot be fetched.</a:t>
            </a:r>
            <a:endParaRPr lang="en-US" sz="1150" dirty="0"/>
          </a:p>
        </p:txBody>
      </p:sp>
      <p:sp>
        <p:nvSpPr>
          <p:cNvPr id="22" name="row4"/>
          <p:cNvSpPr/>
          <p:nvPr/>
        </p:nvSpPr>
        <p:spPr>
          <a:xfrm>
            <a:off x="502920" y="3483864"/>
            <a:ext cx="11155680" cy="484632"/>
          </a:xfrm>
          <a:prstGeom prst="rect">
            <a:avLst/>
          </a:prstGeom>
          <a:solidFill>
            <a:srgbClr val="F7F8FA"/>
          </a:solidFill>
          <a:ln/>
        </p:spPr>
      </p:sp>
      <p:sp>
        <p:nvSpPr>
          <p:cNvPr id="23" name="rd4"/>
          <p:cNvSpPr/>
          <p:nvPr/>
        </p:nvSpPr>
        <p:spPr>
          <a:xfrm>
            <a:off x="612648" y="3666744"/>
            <a:ext cx="128016" cy="128016"/>
          </a:xfrm>
          <a:prstGeom prst="ellipse">
            <a:avLst/>
          </a:prstGeom>
          <a:solidFill>
            <a:srgbClr val="15803D"/>
          </a:solidFill>
          <a:ln/>
        </p:spPr>
      </p:sp>
      <p:sp>
        <p:nvSpPr>
          <p:cNvPr id="24" name="Text 22"/>
          <p:cNvSpPr txBox="1"/>
          <p:nvPr/>
        </p:nvSpPr>
        <p:spPr>
          <a:xfrm>
            <a:off x="850392" y="3547872"/>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Application</a:t>
            </a:r>
            <a:endParaRPr lang="en-US" sz="1150" dirty="0"/>
          </a:p>
        </p:txBody>
      </p:sp>
      <p:sp>
        <p:nvSpPr>
          <p:cNvPr id="25" name="Text 23"/>
          <p:cNvSpPr txBox="1"/>
          <p:nvPr/>
        </p:nvSpPr>
        <p:spPr>
          <a:xfrm>
            <a:off x="2286000" y="3547872"/>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Python 3 · psycopg 3 · pandas · numpy</a:t>
            </a:r>
            <a:endParaRPr lang="en-US" sz="1200" dirty="0"/>
          </a:p>
        </p:txBody>
      </p:sp>
      <p:sp>
        <p:nvSpPr>
          <p:cNvPr id="26" name="Text 24"/>
          <p:cNvSpPr txBox="1"/>
          <p:nvPr/>
        </p:nvSpPr>
        <p:spPr>
          <a:xfrm>
            <a:off x="6172200" y="3547872"/>
            <a:ext cx="5349240" cy="365760"/>
          </a:xfrm>
          <a:prstGeom prst="rect">
            <a:avLst/>
          </a:prstGeom>
          <a:noFill/>
          <a:ln/>
        </p:spPr>
        <p:txBody>
          <a:bodyPr wrap="square" lIns="0" tIns="0" rIns="0" bIns="0" rtlCol="0" anchor="ctr"/>
          <a:lstStyle/>
          <a:p>
            <a:pPr marL="0" indent="0">
              <a:buNone/>
            </a:pPr>
            <a:r>
              <a:rPr lang="en-US" sz="1150" dirty="0">
                <a:solidFill>
                  <a:srgbClr val="55617A"/>
                </a:solidFill>
              </a:rPr>
              <a:t>Server-side binding and native COPY for the bulk load.</a:t>
            </a:r>
            <a:endParaRPr lang="en-US" sz="1150" dirty="0"/>
          </a:p>
        </p:txBody>
      </p:sp>
      <p:sp>
        <p:nvSpPr>
          <p:cNvPr id="27" name="rd5"/>
          <p:cNvSpPr/>
          <p:nvPr/>
        </p:nvSpPr>
        <p:spPr>
          <a:xfrm>
            <a:off x="612648" y="4174236"/>
            <a:ext cx="128016" cy="128016"/>
          </a:xfrm>
          <a:prstGeom prst="ellipse">
            <a:avLst/>
          </a:prstGeom>
          <a:solidFill>
            <a:srgbClr val="15803D"/>
          </a:solidFill>
          <a:ln/>
        </p:spPr>
      </p:sp>
      <p:sp>
        <p:nvSpPr>
          <p:cNvPr id="28" name="Text 26"/>
          <p:cNvSpPr txBox="1"/>
          <p:nvPr/>
        </p:nvSpPr>
        <p:spPr>
          <a:xfrm>
            <a:off x="850392" y="4055364"/>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Dashboard</a:t>
            </a:r>
            <a:endParaRPr lang="en-US" sz="1150" dirty="0"/>
          </a:p>
        </p:txBody>
      </p:sp>
      <p:sp>
        <p:nvSpPr>
          <p:cNvPr id="29" name="Text 27"/>
          <p:cNvSpPr txBox="1"/>
          <p:nvPr/>
        </p:nvSpPr>
        <p:spPr>
          <a:xfrm>
            <a:off x="2286000" y="4055364"/>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Streamlit 1.40</a:t>
            </a:r>
            <a:endParaRPr lang="en-US" sz="1200" dirty="0"/>
          </a:p>
        </p:txBody>
      </p:sp>
      <p:sp>
        <p:nvSpPr>
          <p:cNvPr id="30" name="Text 28"/>
          <p:cNvSpPr txBox="1"/>
          <p:nvPr/>
        </p:nvSpPr>
        <p:spPr>
          <a:xfrm>
            <a:off x="6172200" y="4055364"/>
            <a:ext cx="5349240" cy="365760"/>
          </a:xfrm>
          <a:prstGeom prst="rect">
            <a:avLst/>
          </a:prstGeom>
          <a:noFill/>
          <a:ln/>
        </p:spPr>
        <p:txBody>
          <a:bodyPr wrap="square" lIns="0" tIns="0" rIns="0" bIns="0" rtlCol="0" anchor="ctr"/>
          <a:lstStyle/>
          <a:p>
            <a:pPr marL="0" indent="0">
              <a:buNone/>
            </a:pPr>
            <a:r>
              <a:rPr lang="en-US" sz="1150" dirty="0">
                <a:solidFill>
                  <a:srgbClr val="55617A"/>
                </a:solidFill>
              </a:rPr>
              <a:t>Three panels in 190 lines instead of a hand-written frontend.</a:t>
            </a:r>
            <a:endParaRPr lang="en-US" sz="1150" dirty="0"/>
          </a:p>
        </p:txBody>
      </p:sp>
      <p:sp>
        <p:nvSpPr>
          <p:cNvPr id="31" name="row6"/>
          <p:cNvSpPr/>
          <p:nvPr/>
        </p:nvSpPr>
        <p:spPr>
          <a:xfrm>
            <a:off x="502920" y="4498848"/>
            <a:ext cx="11155680" cy="484632"/>
          </a:xfrm>
          <a:prstGeom prst="rect">
            <a:avLst/>
          </a:prstGeom>
          <a:solidFill>
            <a:srgbClr val="F7F8FA"/>
          </a:solidFill>
          <a:ln/>
        </p:spPr>
      </p:sp>
      <p:sp>
        <p:nvSpPr>
          <p:cNvPr id="32" name="rd6"/>
          <p:cNvSpPr/>
          <p:nvPr/>
        </p:nvSpPr>
        <p:spPr>
          <a:xfrm>
            <a:off x="612648" y="4681728"/>
            <a:ext cx="128016" cy="128016"/>
          </a:xfrm>
          <a:prstGeom prst="ellipse">
            <a:avLst/>
          </a:prstGeom>
          <a:solidFill>
            <a:srgbClr val="67718A"/>
          </a:solidFill>
          <a:ln/>
        </p:spPr>
      </p:sp>
      <p:sp>
        <p:nvSpPr>
          <p:cNvPr id="33" name="Text 31"/>
          <p:cNvSpPr txBox="1"/>
          <p:nvPr/>
        </p:nvSpPr>
        <p:spPr>
          <a:xfrm>
            <a:off x="850392" y="4562856"/>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Packaging</a:t>
            </a:r>
            <a:endParaRPr lang="en-US" sz="1150" dirty="0"/>
          </a:p>
        </p:txBody>
      </p:sp>
      <p:sp>
        <p:nvSpPr>
          <p:cNvPr id="34" name="Text 32"/>
          <p:cNvSpPr txBox="1"/>
          <p:nvPr/>
        </p:nvSpPr>
        <p:spPr>
          <a:xfrm>
            <a:off x="2286000" y="4562856"/>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Docker Compose · Makefile</a:t>
            </a:r>
            <a:endParaRPr lang="en-US" sz="1200" dirty="0"/>
          </a:p>
        </p:txBody>
      </p:sp>
      <p:sp>
        <p:nvSpPr>
          <p:cNvPr id="35" name="Text 33"/>
          <p:cNvSpPr txBox="1"/>
          <p:nvPr/>
        </p:nvSpPr>
        <p:spPr>
          <a:xfrm>
            <a:off x="6172200" y="4562856"/>
            <a:ext cx="5349240" cy="365760"/>
          </a:xfrm>
          <a:prstGeom prst="rect">
            <a:avLst/>
          </a:prstGeom>
          <a:noFill/>
          <a:ln/>
        </p:spPr>
        <p:txBody>
          <a:bodyPr wrap="square" lIns="0" tIns="0" rIns="0" bIns="0" rtlCol="0" anchor="ctr"/>
          <a:lstStyle/>
          <a:p>
            <a:pPr marL="0" indent="0">
              <a:buNone/>
            </a:pPr>
            <a:r>
              <a:rPr lang="en-US" sz="1150" dirty="0">
                <a:solidFill>
                  <a:srgbClr val="55617A"/>
                </a:solidFill>
              </a:rPr>
              <a:t>make all runs the whole pipeline in about two minutes.</a:t>
            </a:r>
            <a:endParaRPr lang="en-US" sz="1150" dirty="0"/>
          </a:p>
        </p:txBody>
      </p:sp>
      <p:sp>
        <p:nvSpPr>
          <p:cNvPr id="36" name="rd7"/>
          <p:cNvSpPr/>
          <p:nvPr/>
        </p:nvSpPr>
        <p:spPr>
          <a:xfrm>
            <a:off x="612648" y="5189220"/>
            <a:ext cx="128016" cy="128016"/>
          </a:xfrm>
          <a:prstGeom prst="ellipse">
            <a:avLst/>
          </a:prstGeom>
          <a:solidFill>
            <a:srgbClr val="67718A"/>
          </a:solidFill>
          <a:ln/>
        </p:spPr>
      </p:sp>
      <p:sp>
        <p:nvSpPr>
          <p:cNvPr id="37" name="Text 35"/>
          <p:cNvSpPr txBox="1"/>
          <p:nvPr/>
        </p:nvSpPr>
        <p:spPr>
          <a:xfrm>
            <a:off x="850392" y="5070348"/>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Testing</a:t>
            </a:r>
            <a:endParaRPr lang="en-US" sz="1150" dirty="0"/>
          </a:p>
        </p:txBody>
      </p:sp>
      <p:sp>
        <p:nvSpPr>
          <p:cNvPr id="38" name="Text 36"/>
          <p:cNvSpPr txBox="1"/>
          <p:nvPr/>
        </p:nvSpPr>
        <p:spPr>
          <a:xfrm>
            <a:off x="2286000" y="5070348"/>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pytest · 34 tests · 28 runtime self-checks</a:t>
            </a:r>
            <a:endParaRPr lang="en-US" sz="1200" dirty="0"/>
          </a:p>
        </p:txBody>
      </p:sp>
      <p:sp>
        <p:nvSpPr>
          <p:cNvPr id="39" name="Text 37"/>
          <p:cNvSpPr txBox="1"/>
          <p:nvPr/>
        </p:nvSpPr>
        <p:spPr>
          <a:xfrm>
            <a:off x="6172200" y="5070348"/>
            <a:ext cx="5349240" cy="365760"/>
          </a:xfrm>
          <a:prstGeom prst="rect">
            <a:avLst/>
          </a:prstGeom>
          <a:noFill/>
          <a:ln/>
        </p:spPr>
        <p:txBody>
          <a:bodyPr wrap="square" lIns="0" tIns="0" rIns="0" bIns="0" rtlCol="0" anchor="ctr"/>
          <a:lstStyle/>
          <a:p>
            <a:pPr marL="0" indent="0">
              <a:buNone/>
            </a:pPr>
            <a:r>
              <a:rPr lang="en-US" sz="1150" dirty="0">
                <a:solidFill>
                  <a:srgbClr val="55617A"/>
                </a:solidFill>
              </a:rPr>
              <a:t>Constraint violations are attempted and asserted to fail.</a:t>
            </a:r>
            <a:endParaRPr lang="en-US" sz="1150" dirty="0"/>
          </a:p>
        </p:txBody>
      </p:sp>
      <p:sp>
        <p:nvSpPr>
          <p:cNvPr id="40" name="row8"/>
          <p:cNvSpPr/>
          <p:nvPr/>
        </p:nvSpPr>
        <p:spPr>
          <a:xfrm>
            <a:off x="502920" y="5513832"/>
            <a:ext cx="11155680" cy="484632"/>
          </a:xfrm>
          <a:prstGeom prst="rect">
            <a:avLst/>
          </a:prstGeom>
          <a:solidFill>
            <a:srgbClr val="F7F8FA"/>
          </a:solidFill>
          <a:ln/>
        </p:spPr>
      </p:sp>
      <p:sp>
        <p:nvSpPr>
          <p:cNvPr id="41" name="rd8"/>
          <p:cNvSpPr/>
          <p:nvPr/>
        </p:nvSpPr>
        <p:spPr>
          <a:xfrm>
            <a:off x="612648" y="5696712"/>
            <a:ext cx="128016" cy="128016"/>
          </a:xfrm>
          <a:prstGeom prst="ellipse">
            <a:avLst/>
          </a:prstGeom>
          <a:solidFill>
            <a:srgbClr val="E07A1F"/>
          </a:solidFill>
          <a:ln/>
        </p:spPr>
      </p:sp>
      <p:sp>
        <p:nvSpPr>
          <p:cNvPr id="42" name="Text 40"/>
          <p:cNvSpPr txBox="1"/>
          <p:nvPr/>
        </p:nvSpPr>
        <p:spPr>
          <a:xfrm>
            <a:off x="850392" y="5577840"/>
            <a:ext cx="1417320" cy="365760"/>
          </a:xfrm>
          <a:prstGeom prst="rect">
            <a:avLst/>
          </a:prstGeom>
          <a:noFill/>
          <a:ln/>
        </p:spPr>
        <p:txBody>
          <a:bodyPr wrap="square" lIns="0" tIns="0" rIns="0" bIns="0" rtlCol="0" anchor="ctr"/>
          <a:lstStyle/>
          <a:p>
            <a:pPr marL="0" indent="0">
              <a:buNone/>
            </a:pPr>
            <a:r>
              <a:rPr lang="en-US" sz="1150" b="1" dirty="0">
                <a:solidFill>
                  <a:srgbClr val="67718A"/>
                </a:solidFill>
              </a:rPr>
              <a:t>Dataset</a:t>
            </a:r>
            <a:endParaRPr lang="en-US" sz="1150" dirty="0"/>
          </a:p>
        </p:txBody>
      </p:sp>
      <p:sp>
        <p:nvSpPr>
          <p:cNvPr id="43" name="Text 41"/>
          <p:cNvSpPr txBox="1"/>
          <p:nvPr/>
        </p:nvSpPr>
        <p:spPr>
          <a:xfrm>
            <a:off x="2286000" y="5577840"/>
            <a:ext cx="3794760" cy="365760"/>
          </a:xfrm>
          <a:prstGeom prst="rect">
            <a:avLst/>
          </a:prstGeom>
          <a:noFill/>
          <a:ln/>
        </p:spPr>
        <p:txBody>
          <a:bodyPr wrap="square" lIns="0" tIns="0" rIns="0" bIns="0" rtlCol="0" anchor="ctr"/>
          <a:lstStyle/>
          <a:p>
            <a:pPr marL="0" indent="0">
              <a:buNone/>
            </a:pPr>
            <a:r>
              <a:rPr lang="en-US" sz="1200" b="1" dirty="0">
                <a:solidFill>
                  <a:srgbClr val="11151C"/>
                </a:solidFill>
              </a:rPr>
              <a:t>AI4I 2020 (UCI, CC BY 4.0)</a:t>
            </a:r>
            <a:endParaRPr lang="en-US" sz="1200" dirty="0"/>
          </a:p>
        </p:txBody>
      </p:sp>
      <p:sp>
        <p:nvSpPr>
          <p:cNvPr id="44" name="Text 42"/>
          <p:cNvSpPr txBox="1"/>
          <p:nvPr/>
        </p:nvSpPr>
        <p:spPr>
          <a:xfrm>
            <a:off x="6172200" y="5577840"/>
            <a:ext cx="5349240" cy="365760"/>
          </a:xfrm>
          <a:prstGeom prst="rect">
            <a:avLst/>
          </a:prstGeom>
          <a:noFill/>
          <a:ln/>
        </p:spPr>
        <p:txBody>
          <a:bodyPr wrap="square" lIns="0" tIns="0" rIns="0" bIns="0" rtlCol="0" anchor="ctr"/>
          <a:lstStyle/>
          <a:p>
            <a:pPr marL="0" indent="0">
              <a:buNone/>
            </a:pPr>
            <a:r>
              <a:rPr lang="en-US" sz="1150" dirty="0">
                <a:solidFill>
                  <a:srgbClr val="55617A"/>
                </a:solidFill>
              </a:rPr>
              <a:t>339 real failures across five documented modes.</a:t>
            </a:r>
            <a:endParaRPr lang="en-US" sz="1150" dirty="0"/>
          </a:p>
        </p:txBody>
      </p:sp>
      <p:sp>
        <p:nvSpPr>
          <p:cNvPr id="45" name="Text 43"/>
          <p:cNvSpPr txBox="1"/>
          <p:nvPr/>
        </p:nvSpPr>
        <p:spPr>
          <a:xfrm>
            <a:off x="502920" y="6181344"/>
            <a:ext cx="11155680" cy="365760"/>
          </a:xfrm>
          <a:prstGeom prst="rect">
            <a:avLst/>
          </a:prstGeom>
          <a:noFill/>
          <a:ln/>
        </p:spPr>
        <p:txBody>
          <a:bodyPr wrap="square" lIns="0" tIns="0" rIns="0" bIns="0" rtlCol="0" anchor="ctr"/>
          <a:lstStyle/>
          <a:p>
            <a:pPr marL="0" indent="0">
              <a:buNone/>
            </a:pPr>
            <a:r>
              <a:rPr lang="en-US" sz="1200" i="1" dirty="0">
                <a:solidFill>
                  <a:srgbClr val="67718A"/>
                </a:solidFill>
              </a:rPr>
              <a:t>Nothing here is a hosted service. The entire project runs on a laptop with Docker, or on a free hosted PostgreSQL if Docker is blocked.</a:t>
            </a:r>
            <a:endParaRPr lang="en-US" sz="1200" dirty="0"/>
          </a:p>
        </p:txBody>
      </p:sp>
      <p:sp>
        <p:nvSpPr>
          <p:cNvPr id="46"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651760"/>
            <a:ext cx="10332720" cy="1005840"/>
          </a:xfrm>
          <a:prstGeom prst="rect">
            <a:avLst/>
          </a:prstGeom>
          <a:noFill/>
          <a:ln/>
        </p:spPr>
        <p:txBody>
          <a:bodyPr wrap="square" lIns="0" tIns="0" rIns="0" bIns="0" rtlCol="0"/>
          <a:lstStyle/>
          <a:p>
            <a:pPr marL="0" indent="0" algn="l">
              <a:buNone/>
            </a:pPr>
            <a:r>
              <a:rPr lang="en-US" sz="4000" b="1" dirty="0">
                <a:solidFill>
                  <a:schemeClr val="bg1"/>
                </a:solidFill>
                <a:latin typeface="Cambria" pitchFamily="34" charset="0"/>
                <a:ea typeface="Cambria" pitchFamily="34" charset="-122"/>
                <a:cs typeface="Cambria" pitchFamily="34" charset="-120"/>
              </a:rPr>
              <a:t>Database design</a:t>
            </a:r>
            <a:endParaRPr lang="en-US" sz="4000" dirty="0"/>
          </a:p>
        </p:txBody>
      </p:sp>
      <p:sp>
        <p:nvSpPr>
          <p:cNvPr id="3" name="Text 0"/>
          <p:cNvSpPr>
            <a:spLocks noGrp="1"/>
          </p:cNvSpPr>
          <p:nvPr>
            <p:ph type="body" idx="101" hasCustomPrompt="1"/>
          </p:nvPr>
        </p:nvSpPr>
        <p:spPr>
          <a:xfrm>
            <a:off x="914400" y="3703320"/>
            <a:ext cx="9509760" cy="822960"/>
          </a:xfrm>
          <a:prstGeom prst="rect">
            <a:avLst/>
          </a:prstGeom>
          <a:noFill/>
          <a:ln/>
        </p:spPr>
        <p:txBody>
          <a:bodyPr wrap="square" lIns="0" tIns="0" rIns="0" bIns="0" rtlCol="0"/>
          <a:lstStyle/>
          <a:p>
            <a:pPr marL="0" indent="0" algn="l">
              <a:buNone/>
            </a:pPr>
            <a:r>
              <a:rPr lang="en-US" sz="1600" dirty="0">
                <a:solidFill>
                  <a:srgbClr val="C8D0DA"/>
                </a:solidFill>
              </a:rPr>
              <a:t>Entities, relationships, normalisation, constraints — and the decisions behind them</a:t>
            </a:r>
            <a:endParaRPr lang="en-US" sz="1600" dirty="0"/>
          </a:p>
        </p:txBody>
      </p:sp>
      <p:sp>
        <p:nvSpPr>
          <p:cNvPr id="4" name="sd0"/>
          <p:cNvSpPr/>
          <p:nvPr/>
        </p:nvSpPr>
        <p:spPr>
          <a:xfrm>
            <a:off x="914400" y="2103120"/>
            <a:ext cx="237744" cy="237744"/>
          </a:xfrm>
          <a:prstGeom prst="ellipse">
            <a:avLst/>
          </a:prstGeom>
          <a:solidFill>
            <a:srgbClr val="0E7490"/>
          </a:solidFill>
          <a:ln/>
        </p:spPr>
      </p:sp>
      <p:sp>
        <p:nvSpPr>
          <p:cNvPr id="5" name="sd1"/>
          <p:cNvSpPr/>
          <p:nvPr/>
        </p:nvSpPr>
        <p:spPr>
          <a:xfrm>
            <a:off x="1298448" y="2103120"/>
            <a:ext cx="237744" cy="237744"/>
          </a:xfrm>
          <a:prstGeom prst="ellipse">
            <a:avLst/>
          </a:prstGeom>
          <a:solidFill>
            <a:srgbClr val="4338CA"/>
          </a:solidFill>
          <a:ln/>
        </p:spPr>
      </p:sp>
      <p:sp>
        <p:nvSpPr>
          <p:cNvPr id="6" name="sd2"/>
          <p:cNvSpPr/>
          <p:nvPr/>
        </p:nvSpPr>
        <p:spPr>
          <a:xfrm>
            <a:off x="1682496" y="2103120"/>
            <a:ext cx="237744" cy="237744"/>
          </a:xfrm>
          <a:prstGeom prst="ellipse">
            <a:avLst/>
          </a:prstGeom>
          <a:solidFill>
            <a:srgbClr val="9D174D"/>
          </a:solidFill>
          <a:ln/>
        </p:spPr>
      </p:sp>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3708A"/>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Database relations</a:t>
            </a: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r>
              <a:rPr lang="en-US" sz="1350" dirty="0">
                <a:solidFill>
                  <a:srgbClr val="67718A"/>
                </a:solidFill>
              </a:rPr>
              <a:t>Generated directly from the live pg_catalog — this diagram cannot drift from the schema. 9 tables · 1 materialized view · 17 indexes · 12 constraints.</a:t>
            </a:r>
            <a:endParaRPr lang="en-US" sz="1350" dirty="0"/>
          </a:p>
        </p:txBody>
      </p:sp>
      <p:pic>
        <p:nvPicPr>
          <p:cNvPr id="4" name="er" descr="/home/claude/infratwin/docs/er_diagram_slide.png"/>
          <p:cNvPicPr>
            <a:picLocks noChangeAspect="1"/>
          </p:cNvPicPr>
          <p:nvPr/>
        </p:nvPicPr>
        <p:blipFill>
          <a:blip r:embed="rId3"/>
          <a:stretch>
            <a:fillRect/>
          </a:stretch>
        </p:blipFill>
        <p:spPr>
          <a:xfrm>
            <a:off x="384048" y="1298448"/>
            <a:ext cx="11393424" cy="5422392"/>
          </a:xfrm>
          <a:prstGeom prst="rect">
            <a:avLst/>
          </a:prstGeom>
        </p:spPr>
      </p:pic>
      <p:sp>
        <p:nvSpPr>
          <p:cNvPr id="25"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Three design decisions worth defending</a:t>
            </a:r>
            <a:endParaRPr lang="en-US" sz="3000" dirty="0"/>
          </a:p>
        </p:txBody>
      </p:sp>
      <p:sp>
        <p:nvSpPr>
          <p:cNvPr id="3" name="d1"/>
          <p:cNvSpPr/>
          <p:nvPr/>
        </p:nvSpPr>
        <p:spPr>
          <a:xfrm>
            <a:off x="502920" y="1463040"/>
            <a:ext cx="3566160" cy="3977640"/>
          </a:xfrm>
          <a:prstGeom prst="roundRect">
            <a:avLst>
              <a:gd name="adj" fmla="val 2564"/>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4" name="chip-1"/>
          <p:cNvSpPr/>
          <p:nvPr/>
        </p:nvSpPr>
        <p:spPr>
          <a:xfrm>
            <a:off x="740664" y="1682496"/>
            <a:ext cx="384048" cy="384048"/>
          </a:xfrm>
          <a:prstGeom prst="ellipse">
            <a:avLst/>
          </a:prstGeom>
          <a:solidFill>
            <a:srgbClr val="4338CA"/>
          </a:solidFill>
          <a:ln w="12700">
            <a:solidFill>
              <a:srgbClr val="4338CA"/>
            </a:solidFill>
            <a:prstDash val="solid"/>
          </a:ln>
        </p:spPr>
      </p:sp>
      <p:sp>
        <p:nvSpPr>
          <p:cNvPr id="5" name="Text 3"/>
          <p:cNvSpPr txBox="1"/>
          <p:nvPr/>
        </p:nvSpPr>
        <p:spPr>
          <a:xfrm>
            <a:off x="740664" y="16824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6" name="Text 4"/>
          <p:cNvSpPr txBox="1"/>
          <p:nvPr/>
        </p:nvSpPr>
        <p:spPr>
          <a:xfrm>
            <a:off x="740664" y="2176272"/>
            <a:ext cx="3200400" cy="566928"/>
          </a:xfrm>
          <a:prstGeom prst="rect">
            <a:avLst/>
          </a:prstGeom>
          <a:noFill/>
          <a:ln/>
        </p:spPr>
        <p:txBody>
          <a:bodyPr wrap="square" lIns="0" tIns="0" rIns="0" bIns="0" rtlCol="0" anchor="t"/>
          <a:lstStyle/>
          <a:p>
            <a:pPr marL="0" indent="0">
              <a:lnSpc>
                <a:spcPct val="105000"/>
              </a:lnSpc>
              <a:buNone/>
            </a:pPr>
            <a:r>
              <a:rPr lang="en-US" sz="1500" b="1" dirty="0">
                <a:solidFill>
                  <a:srgbClr val="11151C"/>
                </a:solidFill>
              </a:rPr>
              <a:t>An edge table, not a parent_id column</a:t>
            </a:r>
            <a:endParaRPr lang="en-US" sz="1500" dirty="0"/>
          </a:p>
        </p:txBody>
      </p:sp>
      <p:sp>
        <p:nvSpPr>
          <p:cNvPr id="7" name="Text 5"/>
          <p:cNvSpPr txBox="1"/>
          <p:nvPr/>
        </p:nvSpPr>
        <p:spPr>
          <a:xfrm>
            <a:off x="740664" y="2743200"/>
            <a:ext cx="3054096" cy="420624"/>
          </a:xfrm>
          <a:prstGeom prst="rect">
            <a:avLst/>
          </a:prstGeom>
          <a:noFill/>
          <a:ln/>
        </p:spPr>
        <p:txBody>
          <a:bodyPr wrap="square" lIns="0" tIns="0" rIns="0" bIns="0" rtlCol="0" anchor="t"/>
          <a:lstStyle/>
          <a:p>
            <a:pPr marL="0" indent="0">
              <a:lnSpc>
                <a:spcPct val="112000"/>
              </a:lnSpc>
              <a:buNone/>
            </a:pPr>
            <a:r>
              <a:rPr lang="en-US" sz="1150" dirty="0">
                <a:solidFill>
                  <a:srgbClr val="67718A"/>
                </a:solidFill>
              </a:rPr>
              <a:t>asset_dependencies is a self-referencing M:N on assets.</a:t>
            </a:r>
            <a:endParaRPr lang="en-US" sz="1150" dirty="0"/>
          </a:p>
        </p:txBody>
      </p:sp>
      <p:sp>
        <p:nvSpPr>
          <p:cNvPr id="8" name="Text 6"/>
          <p:cNvSpPr txBox="1"/>
          <p:nvPr/>
        </p:nvSpPr>
        <p:spPr>
          <a:xfrm>
            <a:off x="740664" y="3218688"/>
            <a:ext cx="3200400" cy="201168"/>
          </a:xfrm>
          <a:prstGeom prst="rect">
            <a:avLst/>
          </a:prstGeom>
          <a:noFill/>
          <a:ln/>
        </p:spPr>
        <p:txBody>
          <a:bodyPr wrap="square" lIns="0" tIns="0" rIns="0" bIns="0" rtlCol="0" anchor="ctr"/>
          <a:lstStyle/>
          <a:p>
            <a:pPr marL="0" indent="0">
              <a:buNone/>
            </a:pPr>
            <a:r>
              <a:rPr lang="en-US" sz="1050" b="1" dirty="0">
                <a:solidFill>
                  <a:srgbClr val="11151C"/>
                </a:solidFill>
              </a:rPr>
              <a:t>One asset, several parents</a:t>
            </a:r>
            <a:endParaRPr lang="en-US" sz="1050" dirty="0"/>
          </a:p>
        </p:txBody>
      </p:sp>
      <p:sp>
        <p:nvSpPr>
          <p:cNvPr id="9" name="Text 7"/>
          <p:cNvSpPr txBox="1"/>
          <p:nvPr/>
        </p:nvSpPr>
        <p:spPr>
          <a:xfrm>
            <a:off x="740664" y="3401568"/>
            <a:ext cx="3200400" cy="219456"/>
          </a:xfrm>
          <a:prstGeom prst="rect">
            <a:avLst/>
          </a:prstGeom>
          <a:noFill/>
          <a:ln/>
        </p:spPr>
        <p:txBody>
          <a:bodyPr wrap="square" lIns="0" tIns="0" rIns="0" bIns="0" rtlCol="0" anchor="ctr"/>
          <a:lstStyle/>
          <a:p>
            <a:pPr marL="0" indent="0">
              <a:buNone/>
            </a:pPr>
            <a:r>
              <a:rPr lang="en-US" sz="1050" dirty="0">
                <a:solidFill>
                  <a:srgbClr val="A06A5A"/>
                </a:solidFill>
              </a:rPr>
              <a:t>impossible</a:t>
            </a:r>
            <a:r>
              <a:rPr lang="en-US" sz="1050" dirty="0">
                <a:solidFill>
                  <a:srgbClr val="67718A"/>
                </a:solidFill>
              </a:rPr>
              <a:t>   →   </a:t>
            </a:r>
            <a:r>
              <a:rPr lang="en-US" sz="1050" b="1" dirty="0">
                <a:solidFill>
                  <a:srgbClr val="4338CA"/>
                </a:solidFill>
              </a:rPr>
              <a:t>natural</a:t>
            </a:r>
            <a:endParaRPr lang="en-US" sz="1050" dirty="0"/>
          </a:p>
        </p:txBody>
      </p:sp>
      <p:sp>
        <p:nvSpPr>
          <p:cNvPr id="10" name="Text 8"/>
          <p:cNvSpPr txBox="1"/>
          <p:nvPr/>
        </p:nvSpPr>
        <p:spPr>
          <a:xfrm>
            <a:off x="740664" y="3648456"/>
            <a:ext cx="3200400" cy="201168"/>
          </a:xfrm>
          <a:prstGeom prst="rect">
            <a:avLst/>
          </a:prstGeom>
          <a:noFill/>
          <a:ln/>
        </p:spPr>
        <p:txBody>
          <a:bodyPr wrap="square" lIns="0" tIns="0" rIns="0" bIns="0" rtlCol="0" anchor="ctr"/>
          <a:lstStyle/>
          <a:p>
            <a:pPr marL="0" indent="0">
              <a:buNone/>
            </a:pPr>
            <a:r>
              <a:rPr lang="en-US" sz="1050" b="1" dirty="0">
                <a:solidFill>
                  <a:srgbClr val="11151C"/>
                </a:solidFill>
              </a:rPr>
              <a:t>Typed relationship</a:t>
            </a:r>
            <a:endParaRPr lang="en-US" sz="1050" dirty="0"/>
          </a:p>
        </p:txBody>
      </p:sp>
      <p:sp>
        <p:nvSpPr>
          <p:cNvPr id="11" name="Text 9"/>
          <p:cNvSpPr txBox="1"/>
          <p:nvPr/>
        </p:nvSpPr>
        <p:spPr>
          <a:xfrm>
            <a:off x="740664" y="3831336"/>
            <a:ext cx="3200400" cy="219456"/>
          </a:xfrm>
          <a:prstGeom prst="rect">
            <a:avLst/>
          </a:prstGeom>
          <a:noFill/>
          <a:ln/>
        </p:spPr>
        <p:txBody>
          <a:bodyPr wrap="square" lIns="0" tIns="0" rIns="0" bIns="0" rtlCol="0" anchor="ctr"/>
          <a:lstStyle/>
          <a:p>
            <a:pPr marL="0" indent="0">
              <a:buNone/>
            </a:pPr>
            <a:r>
              <a:rPr lang="en-US" sz="1050" dirty="0">
                <a:solidFill>
                  <a:srgbClr val="A06A5A"/>
                </a:solidFill>
              </a:rPr>
              <a:t>nowhere to put it</a:t>
            </a:r>
            <a:r>
              <a:rPr lang="en-US" sz="1050" dirty="0">
                <a:solidFill>
                  <a:srgbClr val="67718A"/>
                </a:solidFill>
              </a:rPr>
              <a:t>   →   </a:t>
            </a:r>
            <a:r>
              <a:rPr lang="en-US" sz="1050" b="1" dirty="0">
                <a:solidFill>
                  <a:srgbClr val="4338CA"/>
                </a:solidFill>
              </a:rPr>
              <a:t>a column</a:t>
            </a:r>
            <a:endParaRPr lang="en-US" sz="1050" dirty="0"/>
          </a:p>
        </p:txBody>
      </p:sp>
      <p:sp>
        <p:nvSpPr>
          <p:cNvPr id="12" name="Text 10"/>
          <p:cNvSpPr txBox="1"/>
          <p:nvPr/>
        </p:nvSpPr>
        <p:spPr>
          <a:xfrm>
            <a:off x="740664" y="4078224"/>
            <a:ext cx="3200400" cy="201168"/>
          </a:xfrm>
          <a:prstGeom prst="rect">
            <a:avLst/>
          </a:prstGeom>
          <a:noFill/>
          <a:ln/>
        </p:spPr>
        <p:txBody>
          <a:bodyPr wrap="square" lIns="0" tIns="0" rIns="0" bIns="0" rtlCol="0" anchor="ctr"/>
          <a:lstStyle/>
          <a:p>
            <a:pPr marL="0" indent="0">
              <a:buNone/>
            </a:pPr>
            <a:r>
              <a:rPr lang="en-US" sz="1050" b="1" dirty="0">
                <a:solidFill>
                  <a:srgbClr val="11151C"/>
                </a:solidFill>
              </a:rPr>
              <a:t>Add a redundant feed</a:t>
            </a:r>
            <a:endParaRPr lang="en-US" sz="1050" dirty="0"/>
          </a:p>
        </p:txBody>
      </p:sp>
      <p:sp>
        <p:nvSpPr>
          <p:cNvPr id="13" name="Text 11"/>
          <p:cNvSpPr txBox="1"/>
          <p:nvPr/>
        </p:nvSpPr>
        <p:spPr>
          <a:xfrm>
            <a:off x="740664" y="4261104"/>
            <a:ext cx="3200400" cy="219456"/>
          </a:xfrm>
          <a:prstGeom prst="rect">
            <a:avLst/>
          </a:prstGeom>
          <a:noFill/>
          <a:ln/>
        </p:spPr>
        <p:txBody>
          <a:bodyPr wrap="square" lIns="0" tIns="0" rIns="0" bIns="0" rtlCol="0" anchor="ctr"/>
          <a:lstStyle/>
          <a:p>
            <a:pPr marL="0" indent="0">
              <a:buNone/>
            </a:pPr>
            <a:r>
              <a:rPr lang="en-US" sz="1050" dirty="0">
                <a:solidFill>
                  <a:srgbClr val="A06A5A"/>
                </a:solidFill>
              </a:rPr>
              <a:t>schema change</a:t>
            </a:r>
            <a:r>
              <a:rPr lang="en-US" sz="1050" dirty="0">
                <a:solidFill>
                  <a:srgbClr val="67718A"/>
                </a:solidFill>
              </a:rPr>
              <a:t>   →   </a:t>
            </a:r>
            <a:r>
              <a:rPr lang="en-US" sz="1050" b="1" dirty="0">
                <a:solidFill>
                  <a:srgbClr val="4338CA"/>
                </a:solidFill>
              </a:rPr>
              <a:t>one INSERT</a:t>
            </a:r>
            <a:endParaRPr lang="en-US" sz="1050" dirty="0"/>
          </a:p>
        </p:txBody>
      </p:sp>
      <p:sp>
        <p:nvSpPr>
          <p:cNvPr id="14" name="Text 12"/>
          <p:cNvSpPr txBox="1"/>
          <p:nvPr/>
        </p:nvSpPr>
        <p:spPr>
          <a:xfrm>
            <a:off x="740664" y="4572000"/>
            <a:ext cx="3200400" cy="713232"/>
          </a:xfrm>
          <a:prstGeom prst="rect">
            <a:avLst/>
          </a:prstGeom>
          <a:noFill/>
          <a:ln/>
        </p:spPr>
        <p:txBody>
          <a:bodyPr wrap="square" lIns="0" tIns="0" rIns="0" bIns="0" rtlCol="0" anchor="ctr"/>
          <a:lstStyle/>
          <a:p>
            <a:pPr marL="0" indent="0">
              <a:lnSpc>
                <a:spcPct val="115000"/>
              </a:lnSpc>
              <a:buNone/>
            </a:pPr>
            <a:r>
              <a:rPr lang="en-US" sz="1100" i="1" dirty="0">
                <a:solidFill>
                  <a:srgbClr val="55617A"/>
                </a:solidFill>
              </a:rPr>
              <a:t>A pump fed by two lines is ordinary in a real plant. parent_id cannot express it.</a:t>
            </a:r>
            <a:endParaRPr lang="en-US" sz="1100" dirty="0"/>
          </a:p>
        </p:txBody>
      </p:sp>
      <p:sp>
        <p:nvSpPr>
          <p:cNvPr id="15" name="d2"/>
          <p:cNvSpPr/>
          <p:nvPr/>
        </p:nvSpPr>
        <p:spPr>
          <a:xfrm>
            <a:off x="4297680" y="1463040"/>
            <a:ext cx="3566160" cy="3977640"/>
          </a:xfrm>
          <a:prstGeom prst="roundRect">
            <a:avLst>
              <a:gd name="adj" fmla="val 2564"/>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16" name="chip-2"/>
          <p:cNvSpPr/>
          <p:nvPr/>
        </p:nvSpPr>
        <p:spPr>
          <a:xfrm>
            <a:off x="4535424" y="1682496"/>
            <a:ext cx="384048" cy="384048"/>
          </a:xfrm>
          <a:prstGeom prst="ellipse">
            <a:avLst/>
          </a:prstGeom>
          <a:solidFill>
            <a:srgbClr val="9D174D"/>
          </a:solidFill>
          <a:ln w="12700">
            <a:solidFill>
              <a:srgbClr val="9D174D"/>
            </a:solidFill>
            <a:prstDash val="solid"/>
          </a:ln>
        </p:spPr>
      </p:sp>
      <p:sp>
        <p:nvSpPr>
          <p:cNvPr id="17" name="Text 15"/>
          <p:cNvSpPr txBox="1"/>
          <p:nvPr/>
        </p:nvSpPr>
        <p:spPr>
          <a:xfrm>
            <a:off x="4535424" y="16824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8" name="Text 16"/>
          <p:cNvSpPr txBox="1"/>
          <p:nvPr/>
        </p:nvSpPr>
        <p:spPr>
          <a:xfrm>
            <a:off x="4535424" y="2176272"/>
            <a:ext cx="3200400" cy="566928"/>
          </a:xfrm>
          <a:prstGeom prst="rect">
            <a:avLst/>
          </a:prstGeom>
          <a:noFill/>
          <a:ln/>
        </p:spPr>
        <p:txBody>
          <a:bodyPr wrap="square" lIns="0" tIns="0" rIns="0" bIns="0" rtlCol="0" anchor="t"/>
          <a:lstStyle/>
          <a:p>
            <a:pPr marL="0" indent="0">
              <a:lnSpc>
                <a:spcPct val="105000"/>
              </a:lnSpc>
              <a:buNone/>
            </a:pPr>
            <a:r>
              <a:rPr lang="en-US" sz="1500" b="1" dirty="0">
                <a:solidFill>
                  <a:srgbClr val="11151C"/>
                </a:solidFill>
              </a:rPr>
              <a:t>UNIQUE is what makes it 1:1</a:t>
            </a:r>
            <a:endParaRPr lang="en-US" sz="1500" dirty="0"/>
          </a:p>
        </p:txBody>
      </p:sp>
      <p:sp>
        <p:nvSpPr>
          <p:cNvPr id="19" name="Text 17"/>
          <p:cNvSpPr txBox="1"/>
          <p:nvPr/>
        </p:nvSpPr>
        <p:spPr>
          <a:xfrm>
            <a:off x="4535424" y="2743200"/>
            <a:ext cx="3054096" cy="420624"/>
          </a:xfrm>
          <a:prstGeom prst="rect">
            <a:avLst/>
          </a:prstGeom>
          <a:noFill/>
          <a:ln/>
        </p:spPr>
        <p:txBody>
          <a:bodyPr wrap="square" lIns="0" tIns="0" rIns="0" bIns="0" rtlCol="0" anchor="t"/>
          <a:lstStyle/>
          <a:p>
            <a:pPr marL="0" indent="0">
              <a:lnSpc>
                <a:spcPct val="112000"/>
              </a:lnSpc>
              <a:buNone/>
            </a:pPr>
            <a:r>
              <a:rPr lang="en-US" sz="1150" dirty="0">
                <a:solidFill>
                  <a:srgbClr val="67718A"/>
                </a:solidFill>
              </a:rPr>
              <a:t>The foreign key alone would permit many reports per failure.</a:t>
            </a:r>
            <a:endParaRPr lang="en-US" sz="1150" dirty="0"/>
          </a:p>
        </p:txBody>
      </p:sp>
      <p:sp>
        <p:nvSpPr>
          <p:cNvPr id="20" name="code"/>
          <p:cNvSpPr/>
          <p:nvPr/>
        </p:nvSpPr>
        <p:spPr>
          <a:xfrm>
            <a:off x="4535424" y="3255264"/>
            <a:ext cx="3200400" cy="713232"/>
          </a:xfrm>
          <a:prstGeom prst="roundRect">
            <a:avLst>
              <a:gd name="adj" fmla="val 12821"/>
            </a:avLst>
          </a:prstGeom>
          <a:solidFill>
            <a:srgbClr val="11151C"/>
          </a:solidFill>
          <a:ln w="12700">
            <a:solidFill>
              <a:srgbClr val="11151C"/>
            </a:solidFill>
            <a:prstDash val="solid"/>
          </a:ln>
        </p:spPr>
      </p:sp>
      <p:sp>
        <p:nvSpPr>
          <p:cNvPr id="21" name="Text 19"/>
          <p:cNvSpPr txBox="1"/>
          <p:nvPr/>
        </p:nvSpPr>
        <p:spPr>
          <a:xfrm>
            <a:off x="4681728" y="3355848"/>
            <a:ext cx="2907792" cy="512064"/>
          </a:xfrm>
          <a:prstGeom prst="rect">
            <a:avLst/>
          </a:prstGeom>
          <a:noFill/>
          <a:ln/>
        </p:spPr>
        <p:txBody>
          <a:bodyPr wrap="square" lIns="0" tIns="0" rIns="0" bIns="0" rtlCol="0" anchor="t"/>
          <a:lstStyle/>
          <a:p>
            <a:pPr marL="0" indent="0" algn="l">
              <a:lnSpc>
                <a:spcPct val="108000"/>
              </a:lnSpc>
              <a:buNone/>
            </a:pPr>
            <a:r>
              <a:rPr lang="en-US" sz="950" dirty="0">
                <a:solidFill>
                  <a:srgbClr val="D7DEE8"/>
                </a:solidFill>
                <a:latin typeface="Courier New" pitchFamily="34" charset="0"/>
                <a:ea typeface="Courier New" pitchFamily="34" charset="-122"/>
                <a:cs typeface="Courier New" pitchFamily="34" charset="-120"/>
              </a:rPr>
              <a:t>event_id INT NOT NULL UNIQUE</a:t>
            </a:r>
            <a:endParaRPr lang="en-US" sz="950" dirty="0"/>
          </a:p>
          <a:p>
            <a:pPr marL="0" indent="0" algn="l">
              <a:lnSpc>
                <a:spcPct val="108000"/>
              </a:lnSpc>
              <a:buNone/>
            </a:pPr>
            <a:r>
              <a:rPr lang="en-US" sz="950" dirty="0">
                <a:solidFill>
                  <a:srgbClr val="D7DEE8"/>
                </a:solidFill>
                <a:latin typeface="Courier New" pitchFamily="34" charset="0"/>
                <a:ea typeface="Courier New" pitchFamily="34" charset="-122"/>
                <a:cs typeface="Courier New" pitchFamily="34" charset="-120"/>
              </a:rPr>
              <a:t>  REFERENCES failure_events(event_id)</a:t>
            </a:r>
            <a:endParaRPr lang="en-US" sz="950" dirty="0"/>
          </a:p>
        </p:txBody>
      </p:sp>
      <p:sp>
        <p:nvSpPr>
          <p:cNvPr id="22" name="Text 20"/>
          <p:cNvSpPr txBox="1"/>
          <p:nvPr/>
        </p:nvSpPr>
        <p:spPr>
          <a:xfrm>
            <a:off x="4535424" y="4114800"/>
            <a:ext cx="3200400" cy="1097280"/>
          </a:xfrm>
          <a:prstGeom prst="rect">
            <a:avLst/>
          </a:prstGeom>
          <a:noFill/>
          <a:ln/>
        </p:spPr>
        <p:txBody>
          <a:bodyPr wrap="square" lIns="0" tIns="0" rIns="0" bIns="0" rtlCol="0" anchor="ctr"/>
          <a:lstStyle/>
          <a:p>
            <a:pPr marL="0" indent="0">
              <a:lnSpc>
                <a:spcPct val="115000"/>
              </a:lnSpc>
              <a:buNone/>
            </a:pPr>
            <a:r>
              <a:rPr lang="en-US" sz="1100" i="1" dirty="0">
                <a:solidFill>
                  <a:srgbClr val="55617A"/>
                </a:solidFill>
              </a:rPr>
              <a:t>Without UNIQUE, the similar-failure search could return three rows that are all the same incident.</a:t>
            </a:r>
            <a:endParaRPr lang="en-US" sz="1100" dirty="0"/>
          </a:p>
        </p:txBody>
      </p:sp>
      <p:sp>
        <p:nvSpPr>
          <p:cNvPr id="23" name="d3"/>
          <p:cNvSpPr/>
          <p:nvPr/>
        </p:nvSpPr>
        <p:spPr>
          <a:xfrm>
            <a:off x="8092440" y="1463040"/>
            <a:ext cx="3566160" cy="3977640"/>
          </a:xfrm>
          <a:prstGeom prst="roundRect">
            <a:avLst>
              <a:gd name="adj" fmla="val 2564"/>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24" name="chip-3"/>
          <p:cNvSpPr/>
          <p:nvPr/>
        </p:nvSpPr>
        <p:spPr>
          <a:xfrm>
            <a:off x="8330184" y="1682496"/>
            <a:ext cx="384048" cy="384048"/>
          </a:xfrm>
          <a:prstGeom prst="ellipse">
            <a:avLst/>
          </a:prstGeom>
          <a:solidFill>
            <a:srgbClr val="15803D"/>
          </a:solidFill>
          <a:ln w="12700">
            <a:solidFill>
              <a:srgbClr val="15803D"/>
            </a:solidFill>
            <a:prstDash val="solid"/>
          </a:ln>
        </p:spPr>
      </p:sp>
      <p:sp>
        <p:nvSpPr>
          <p:cNvPr id="25" name="Text 23"/>
          <p:cNvSpPr txBox="1"/>
          <p:nvPr/>
        </p:nvSpPr>
        <p:spPr>
          <a:xfrm>
            <a:off x="8330184" y="16824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6" name="Text 24"/>
          <p:cNvSpPr txBox="1"/>
          <p:nvPr/>
        </p:nvSpPr>
        <p:spPr>
          <a:xfrm>
            <a:off x="8330184" y="2176272"/>
            <a:ext cx="3054096" cy="566928"/>
          </a:xfrm>
          <a:prstGeom prst="rect">
            <a:avLst/>
          </a:prstGeom>
          <a:noFill/>
          <a:ln/>
        </p:spPr>
        <p:txBody>
          <a:bodyPr wrap="square" lIns="0" tIns="0" rIns="0" bIns="0" rtlCol="0" anchor="t"/>
          <a:lstStyle/>
          <a:p>
            <a:pPr marL="0" indent="0">
              <a:lnSpc>
                <a:spcPct val="105000"/>
              </a:lnSpc>
              <a:buNone/>
            </a:pPr>
            <a:r>
              <a:rPr lang="en-US" sz="1500" b="1" dirty="0">
                <a:solidFill>
                  <a:srgbClr val="11151C"/>
                </a:solidFill>
              </a:rPr>
              <a:t>CHECK constraints over lookup tables</a:t>
            </a:r>
            <a:endParaRPr lang="en-US" sz="1500" dirty="0"/>
          </a:p>
        </p:txBody>
      </p:sp>
      <p:sp>
        <p:nvSpPr>
          <p:cNvPr id="27" name="Text 25"/>
          <p:cNvSpPr txBox="1"/>
          <p:nvPr/>
        </p:nvSpPr>
        <p:spPr>
          <a:xfrm>
            <a:off x="8330184" y="2743200"/>
            <a:ext cx="3054096" cy="640080"/>
          </a:xfrm>
          <a:prstGeom prst="rect">
            <a:avLst/>
          </a:prstGeom>
          <a:noFill/>
          <a:ln/>
        </p:spPr>
        <p:txBody>
          <a:bodyPr wrap="square" lIns="0" tIns="0" rIns="0" bIns="0" rtlCol="0" anchor="t"/>
          <a:lstStyle/>
          <a:p>
            <a:pPr marL="0" indent="0">
              <a:lnSpc>
                <a:spcPct val="112000"/>
              </a:lnSpc>
              <a:buNone/>
            </a:pPr>
            <a:r>
              <a:rPr lang="en-US" sz="1150" dirty="0">
                <a:solidFill>
                  <a:srgbClr val="67718A"/>
                </a:solidFill>
              </a:rPr>
              <a:t>asset_type and failure_type are TEXT + CHECK, not foreign keys to a lookup table.</a:t>
            </a:r>
            <a:endParaRPr lang="en-US" sz="1150" dirty="0"/>
          </a:p>
        </p:txBody>
      </p:sp>
      <p:sp>
        <p:nvSpPr>
          <p:cNvPr id="28" name="Text 26"/>
          <p:cNvSpPr txBox="1"/>
          <p:nvPr/>
        </p:nvSpPr>
        <p:spPr>
          <a:xfrm>
            <a:off x="8330184" y="3621024"/>
            <a:ext cx="3054096" cy="1645920"/>
          </a:xfrm>
          <a:prstGeom prst="rect">
            <a:avLst/>
          </a:prstGeom>
          <a:noFill/>
          <a:ln/>
        </p:spPr>
        <p:txBody>
          <a:bodyPr wrap="square" lIns="0" tIns="0" rIns="0" bIns="0" rtlCol="0" anchor="ctr"/>
          <a:lstStyle/>
          <a:p>
            <a:pPr marL="0" indent="0">
              <a:lnSpc>
                <a:spcPct val="115000"/>
              </a:lnSpc>
              <a:buNone/>
            </a:pPr>
            <a:r>
              <a:rPr lang="en-US" sz="1100" i="1" dirty="0">
                <a:solidFill>
                  <a:srgbClr val="55617A"/>
                </a:solidFill>
              </a:rPr>
              <a:t>Both are closed sets — four physical types, five AI4I codes. A lookup table buys flexibility nobody needs and costs a join on every query. If the set became user-defined, the lookup table would be correct.</a:t>
            </a:r>
            <a:endParaRPr lang="en-US" sz="1100" dirty="0"/>
          </a:p>
        </p:txBody>
      </p:sp>
      <p:sp>
        <p:nvSpPr>
          <p:cNvPr id="29" name="nf"/>
          <p:cNvSpPr/>
          <p:nvPr/>
        </p:nvSpPr>
        <p:spPr>
          <a:xfrm>
            <a:off x="502920" y="5614416"/>
            <a:ext cx="11155680" cy="749808"/>
          </a:xfrm>
          <a:prstGeom prst="roundRect">
            <a:avLst>
              <a:gd name="adj" fmla="val 12195"/>
            </a:avLst>
          </a:prstGeom>
          <a:solidFill>
            <a:srgbClr val="EEF4F5"/>
          </a:solidFill>
          <a:ln w="12700">
            <a:solidFill>
              <a:srgbClr val="EEF4F5"/>
            </a:solidFill>
            <a:prstDash val="solid"/>
          </a:ln>
        </p:spPr>
      </p:sp>
      <p:sp>
        <p:nvSpPr>
          <p:cNvPr id="30" name="Text 28"/>
          <p:cNvSpPr txBox="1"/>
          <p:nvPr/>
        </p:nvSpPr>
        <p:spPr>
          <a:xfrm>
            <a:off x="822960" y="5760720"/>
            <a:ext cx="10515600" cy="475488"/>
          </a:xfrm>
          <a:prstGeom prst="rect">
            <a:avLst/>
          </a:prstGeom>
          <a:noFill/>
          <a:ln/>
        </p:spPr>
        <p:txBody>
          <a:bodyPr wrap="square" lIns="0" tIns="0" rIns="0" bIns="0" rtlCol="0" anchor="ctr"/>
          <a:lstStyle/>
          <a:p>
            <a:pPr marL="0" indent="0">
              <a:lnSpc>
                <a:spcPct val="115000"/>
              </a:lnSpc>
              <a:buNone/>
            </a:pPr>
            <a:r>
              <a:rPr lang="en-US" sz="1250" b="1" dirty="0">
                <a:solidFill>
                  <a:srgbClr val="0E7490"/>
                </a:solidFill>
              </a:rPr>
              <a:t>Normal form:  </a:t>
            </a:r>
            <a:r>
              <a:rPr lang="en-US" sz="1250" dirty="0">
                <a:solidFill>
                  <a:srgbClr val="35505A"/>
                </a:solidFill>
              </a:rPr>
              <a:t>3NF throughout. sensor_readings stores asset_id, never the machine's name or location — renaming a machine is one UPDATE, not five million. readings_hourly is the one deliberate denormalisation, and it is a measured trade.</a:t>
            </a:r>
            <a:endParaRPr lang="en-US" sz="1250" dirty="0"/>
          </a:p>
        </p:txBody>
      </p:sp>
      <p:sp>
        <p:nvSpPr>
          <p:cNvPr id="32"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endParaRPr lang="en-US" sz="1350" dirty="0"/>
          </a:p>
        </p:txBody>
      </p:sp>
      <p:sp>
        <p:nvSpPr>
          <p:cNvPr id="31"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Integrity lives in the database, not the application</a:t>
            </a: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r>
              <a:rPr lang="en-US" sz="1350" dirty="0">
                <a:solidFill>
                  <a:srgbClr val="67718A"/>
                </a:solidFill>
              </a:rPr>
              <a:t>Every rule holds no matter what connects — the app, psql, or a migration script.</a:t>
            </a:r>
            <a:endParaRPr lang="en-US" sz="1350" dirty="0"/>
          </a:p>
        </p:txBody>
      </p:sp>
      <p:sp>
        <p:nvSpPr>
          <p:cNvPr id="4" name="Text 2"/>
          <p:cNvSpPr txBox="1"/>
          <p:nvPr/>
        </p:nvSpPr>
        <p:spPr>
          <a:xfrm>
            <a:off x="502920" y="1481328"/>
            <a:ext cx="2743200" cy="237744"/>
          </a:xfrm>
          <a:prstGeom prst="rect">
            <a:avLst/>
          </a:prstGeom>
          <a:noFill/>
          <a:ln/>
        </p:spPr>
        <p:txBody>
          <a:bodyPr wrap="square" lIns="0" tIns="0" rIns="0" bIns="0" rtlCol="0" anchor="ctr"/>
          <a:lstStyle/>
          <a:p>
            <a:pPr marL="0" indent="0">
              <a:buNone/>
            </a:pPr>
            <a:r>
              <a:rPr lang="en-US" sz="1050" b="1" kern="0" spc="140" dirty="0">
                <a:solidFill>
                  <a:srgbClr val="67718A"/>
                </a:solidFill>
              </a:rPr>
              <a:t>CONSTRAINTS</a:t>
            </a:r>
            <a:endParaRPr lang="en-US" sz="1050" dirty="0"/>
          </a:p>
        </p:txBody>
      </p:sp>
      <p:sp>
        <p:nvSpPr>
          <p:cNvPr id="5" name="cr0"/>
          <p:cNvSpPr/>
          <p:nvPr/>
        </p:nvSpPr>
        <p:spPr>
          <a:xfrm>
            <a:off x="502920" y="1755648"/>
            <a:ext cx="6903720" cy="457200"/>
          </a:xfrm>
          <a:prstGeom prst="rect">
            <a:avLst/>
          </a:prstGeom>
          <a:solidFill>
            <a:srgbClr val="F7F8FA"/>
          </a:solidFill>
          <a:ln/>
        </p:spPr>
      </p:sp>
      <p:sp>
        <p:nvSpPr>
          <p:cNvPr id="6" name="Text 4"/>
          <p:cNvSpPr txBox="1"/>
          <p:nvPr/>
        </p:nvSpPr>
        <p:spPr>
          <a:xfrm>
            <a:off x="612648" y="1810512"/>
            <a:ext cx="1737360" cy="347472"/>
          </a:xfrm>
          <a:prstGeom prst="rect">
            <a:avLst/>
          </a:prstGeom>
          <a:noFill/>
          <a:ln/>
        </p:spPr>
        <p:txBody>
          <a:bodyPr wrap="square" lIns="0" tIns="0" rIns="0" bIns="0" rtlCol="0" anchor="ctr"/>
          <a:lstStyle/>
          <a:p>
            <a:pPr marL="0" indent="0">
              <a:buNone/>
            </a:pPr>
            <a:r>
              <a:rPr lang="en-US" sz="1000" dirty="0">
                <a:solidFill>
                  <a:srgbClr val="67718A"/>
                </a:solidFill>
                <a:latin typeface="Courier New" pitchFamily="34" charset="0"/>
                <a:ea typeface="Courier New" pitchFamily="34" charset="-122"/>
                <a:cs typeface="Courier New" pitchFamily="34" charset="-120"/>
              </a:rPr>
              <a:t>assets</a:t>
            </a:r>
            <a:endParaRPr lang="en-US" sz="1000" dirty="0"/>
          </a:p>
        </p:txBody>
      </p:sp>
      <p:sp>
        <p:nvSpPr>
          <p:cNvPr id="7" name="Text 5"/>
          <p:cNvSpPr txBox="1"/>
          <p:nvPr/>
        </p:nvSpPr>
        <p:spPr>
          <a:xfrm>
            <a:off x="2377440" y="1810512"/>
            <a:ext cx="2514600" cy="347472"/>
          </a:xfrm>
          <a:prstGeom prst="rect">
            <a:avLst/>
          </a:prstGeom>
          <a:noFill/>
          <a:ln/>
        </p:spPr>
        <p:txBody>
          <a:bodyPr wrap="square" lIns="0" tIns="0" rIns="0" bIns="0" rtlCol="0" anchor="ctr"/>
          <a:lstStyle/>
          <a:p>
            <a:pPr marL="0" indent="0">
              <a:buNone/>
            </a:pPr>
            <a:r>
              <a:rPr lang="en-US" sz="1000" b="1" dirty="0">
                <a:solidFill>
                  <a:srgbClr val="11151C"/>
                </a:solidFill>
                <a:latin typeface="Courier New" pitchFamily="34" charset="0"/>
                <a:ea typeface="Courier New" pitchFamily="34" charset="-122"/>
                <a:cs typeface="Courier New" pitchFamily="34" charset="-120"/>
              </a:rPr>
              <a:t>UNIQUE (name)</a:t>
            </a:r>
            <a:endParaRPr lang="en-US" sz="1000" dirty="0"/>
          </a:p>
        </p:txBody>
      </p:sp>
      <p:sp>
        <p:nvSpPr>
          <p:cNvPr id="8" name="Text 6"/>
          <p:cNvSpPr txBox="1"/>
          <p:nvPr/>
        </p:nvSpPr>
        <p:spPr>
          <a:xfrm>
            <a:off x="4937760" y="1810512"/>
            <a:ext cx="2423160" cy="347472"/>
          </a:xfrm>
          <a:prstGeom prst="rect">
            <a:avLst/>
          </a:prstGeom>
          <a:noFill/>
          <a:ln/>
        </p:spPr>
        <p:txBody>
          <a:bodyPr wrap="square" lIns="0" tIns="0" rIns="0" bIns="0" rtlCol="0" anchor="ctr"/>
          <a:lstStyle/>
          <a:p>
            <a:pPr marL="0" indent="0">
              <a:buNone/>
            </a:pPr>
            <a:r>
              <a:rPr lang="en-US" sz="1050" dirty="0">
                <a:solidFill>
                  <a:srgbClr val="55617A"/>
                </a:solidFill>
              </a:rPr>
              <a:t>Two machines with the same tag</a:t>
            </a:r>
            <a:endParaRPr lang="en-US" sz="1050" dirty="0"/>
          </a:p>
        </p:txBody>
      </p:sp>
      <p:sp>
        <p:nvSpPr>
          <p:cNvPr id="9" name="Text 7"/>
          <p:cNvSpPr txBox="1"/>
          <p:nvPr/>
        </p:nvSpPr>
        <p:spPr>
          <a:xfrm>
            <a:off x="612648" y="2286000"/>
            <a:ext cx="1737360" cy="347472"/>
          </a:xfrm>
          <a:prstGeom prst="rect">
            <a:avLst/>
          </a:prstGeom>
          <a:noFill/>
          <a:ln/>
        </p:spPr>
        <p:txBody>
          <a:bodyPr wrap="square" lIns="0" tIns="0" rIns="0" bIns="0" rtlCol="0" anchor="ctr"/>
          <a:lstStyle/>
          <a:p>
            <a:pPr marL="0" indent="0">
              <a:buNone/>
            </a:pPr>
            <a:r>
              <a:rPr lang="en-US" sz="1000" dirty="0">
                <a:solidFill>
                  <a:srgbClr val="67718A"/>
                </a:solidFill>
                <a:latin typeface="Courier New" pitchFamily="34" charset="0"/>
                <a:ea typeface="Courier New" pitchFamily="34" charset="-122"/>
                <a:cs typeface="Courier New" pitchFamily="34" charset="-120"/>
              </a:rPr>
              <a:t>assets</a:t>
            </a:r>
            <a:endParaRPr lang="en-US" sz="1000" dirty="0"/>
          </a:p>
        </p:txBody>
      </p:sp>
      <p:sp>
        <p:nvSpPr>
          <p:cNvPr id="10" name="Text 8"/>
          <p:cNvSpPr txBox="1"/>
          <p:nvPr/>
        </p:nvSpPr>
        <p:spPr>
          <a:xfrm>
            <a:off x="2377440" y="2286000"/>
            <a:ext cx="2514600" cy="347472"/>
          </a:xfrm>
          <a:prstGeom prst="rect">
            <a:avLst/>
          </a:prstGeom>
          <a:noFill/>
          <a:ln/>
        </p:spPr>
        <p:txBody>
          <a:bodyPr wrap="square" lIns="0" tIns="0" rIns="0" bIns="0" rtlCol="0" anchor="ctr"/>
          <a:lstStyle/>
          <a:p>
            <a:pPr marL="0" indent="0">
              <a:buNone/>
            </a:pPr>
            <a:r>
              <a:rPr lang="en-US" sz="1000" b="1" dirty="0">
                <a:solidFill>
                  <a:srgbClr val="11151C"/>
                </a:solidFill>
                <a:latin typeface="Courier New" pitchFamily="34" charset="0"/>
                <a:ea typeface="Courier New" pitchFamily="34" charset="-122"/>
                <a:cs typeface="Courier New" pitchFamily="34" charset="-120"/>
              </a:rPr>
              <a:t>CHECK asset_type IN (…)</a:t>
            </a:r>
            <a:endParaRPr lang="en-US" sz="1000" dirty="0"/>
          </a:p>
        </p:txBody>
      </p:sp>
      <p:sp>
        <p:nvSpPr>
          <p:cNvPr id="11" name="Text 9"/>
          <p:cNvSpPr txBox="1"/>
          <p:nvPr/>
        </p:nvSpPr>
        <p:spPr>
          <a:xfrm>
            <a:off x="4937760" y="2286000"/>
            <a:ext cx="2423160" cy="347472"/>
          </a:xfrm>
          <a:prstGeom prst="rect">
            <a:avLst/>
          </a:prstGeom>
          <a:noFill/>
          <a:ln/>
        </p:spPr>
        <p:txBody>
          <a:bodyPr wrap="square" lIns="0" tIns="0" rIns="0" bIns="0" rtlCol="0" anchor="ctr"/>
          <a:lstStyle/>
          <a:p>
            <a:pPr marL="0" indent="0">
              <a:buNone/>
            </a:pPr>
            <a:r>
              <a:rPr lang="en-US" sz="1050" dirty="0">
                <a:solidFill>
                  <a:srgbClr val="55617A"/>
                </a:solidFill>
              </a:rPr>
              <a:t>Typos becoming new asset classes</a:t>
            </a:r>
            <a:endParaRPr lang="en-US" sz="1050" dirty="0"/>
          </a:p>
        </p:txBody>
      </p:sp>
      <p:sp>
        <p:nvSpPr>
          <p:cNvPr id="12" name="cr2"/>
          <p:cNvSpPr/>
          <p:nvPr/>
        </p:nvSpPr>
        <p:spPr>
          <a:xfrm>
            <a:off x="502920" y="2706624"/>
            <a:ext cx="6903720" cy="457200"/>
          </a:xfrm>
          <a:prstGeom prst="rect">
            <a:avLst/>
          </a:prstGeom>
          <a:solidFill>
            <a:srgbClr val="F7F8FA"/>
          </a:solidFill>
          <a:ln/>
        </p:spPr>
      </p:sp>
      <p:sp>
        <p:nvSpPr>
          <p:cNvPr id="13" name="Text 11"/>
          <p:cNvSpPr txBox="1"/>
          <p:nvPr/>
        </p:nvSpPr>
        <p:spPr>
          <a:xfrm>
            <a:off x="612648" y="2761488"/>
            <a:ext cx="1737360" cy="347472"/>
          </a:xfrm>
          <a:prstGeom prst="rect">
            <a:avLst/>
          </a:prstGeom>
          <a:noFill/>
          <a:ln/>
        </p:spPr>
        <p:txBody>
          <a:bodyPr wrap="square" lIns="0" tIns="0" rIns="0" bIns="0" rtlCol="0" anchor="ctr"/>
          <a:lstStyle/>
          <a:p>
            <a:pPr marL="0" indent="0">
              <a:buNone/>
            </a:pPr>
            <a:r>
              <a:rPr lang="en-US" sz="1000" dirty="0">
                <a:solidFill>
                  <a:srgbClr val="67718A"/>
                </a:solidFill>
                <a:latin typeface="Courier New" pitchFamily="34" charset="0"/>
                <a:ea typeface="Courier New" pitchFamily="34" charset="-122"/>
                <a:cs typeface="Courier New" pitchFamily="34" charset="-120"/>
              </a:rPr>
              <a:t>asset_dependencies</a:t>
            </a:r>
            <a:endParaRPr lang="en-US" sz="1000" dirty="0"/>
          </a:p>
        </p:txBody>
      </p:sp>
      <p:sp>
        <p:nvSpPr>
          <p:cNvPr id="14" name="Text 12"/>
          <p:cNvSpPr txBox="1"/>
          <p:nvPr/>
        </p:nvSpPr>
        <p:spPr>
          <a:xfrm>
            <a:off x="2377440" y="2761488"/>
            <a:ext cx="2514600" cy="347472"/>
          </a:xfrm>
          <a:prstGeom prst="rect">
            <a:avLst/>
          </a:prstGeom>
          <a:noFill/>
          <a:ln/>
        </p:spPr>
        <p:txBody>
          <a:bodyPr wrap="square" lIns="0" tIns="0" rIns="0" bIns="0" rtlCol="0" anchor="ctr"/>
          <a:lstStyle/>
          <a:p>
            <a:pPr marL="0" indent="0">
              <a:buNone/>
            </a:pPr>
            <a:r>
              <a:rPr lang="en-US" sz="1000" b="1" dirty="0">
                <a:solidFill>
                  <a:srgbClr val="11151C"/>
                </a:solidFill>
                <a:latin typeface="Courier New" pitchFamily="34" charset="0"/>
                <a:ea typeface="Courier New" pitchFamily="34" charset="-122"/>
                <a:cs typeface="Courier New" pitchFamily="34" charset="-120"/>
              </a:rPr>
              <a:t>PK (asset_id, dependent_id)</a:t>
            </a:r>
            <a:endParaRPr lang="en-US" sz="1000" dirty="0"/>
          </a:p>
        </p:txBody>
      </p:sp>
      <p:sp>
        <p:nvSpPr>
          <p:cNvPr id="15" name="Text 13"/>
          <p:cNvSpPr txBox="1"/>
          <p:nvPr/>
        </p:nvSpPr>
        <p:spPr>
          <a:xfrm>
            <a:off x="4937760" y="2761488"/>
            <a:ext cx="2423160" cy="347472"/>
          </a:xfrm>
          <a:prstGeom prst="rect">
            <a:avLst/>
          </a:prstGeom>
          <a:noFill/>
          <a:ln/>
        </p:spPr>
        <p:txBody>
          <a:bodyPr wrap="square" lIns="0" tIns="0" rIns="0" bIns="0" rtlCol="0" anchor="ctr"/>
          <a:lstStyle/>
          <a:p>
            <a:pPr marL="0" indent="0">
              <a:buNone/>
            </a:pPr>
            <a:r>
              <a:rPr lang="en-US" sz="1050" dirty="0">
                <a:solidFill>
                  <a:srgbClr val="55617A"/>
                </a:solidFill>
              </a:rPr>
              <a:t>Duplicate edges</a:t>
            </a:r>
            <a:endParaRPr lang="en-US" sz="1050" dirty="0"/>
          </a:p>
        </p:txBody>
      </p:sp>
      <p:sp>
        <p:nvSpPr>
          <p:cNvPr id="16" name="Text 14"/>
          <p:cNvSpPr txBox="1"/>
          <p:nvPr/>
        </p:nvSpPr>
        <p:spPr>
          <a:xfrm>
            <a:off x="612648" y="3236976"/>
            <a:ext cx="1737360" cy="347472"/>
          </a:xfrm>
          <a:prstGeom prst="rect">
            <a:avLst/>
          </a:prstGeom>
          <a:noFill/>
          <a:ln/>
        </p:spPr>
        <p:txBody>
          <a:bodyPr wrap="square" lIns="0" tIns="0" rIns="0" bIns="0" rtlCol="0" anchor="ctr"/>
          <a:lstStyle/>
          <a:p>
            <a:pPr marL="0" indent="0">
              <a:buNone/>
            </a:pPr>
            <a:r>
              <a:rPr lang="en-US" sz="1000" dirty="0">
                <a:solidFill>
                  <a:srgbClr val="67718A"/>
                </a:solidFill>
                <a:latin typeface="Courier New" pitchFamily="34" charset="0"/>
                <a:ea typeface="Courier New" pitchFamily="34" charset="-122"/>
                <a:cs typeface="Courier New" pitchFamily="34" charset="-120"/>
              </a:rPr>
              <a:t>asset_dependencies</a:t>
            </a:r>
            <a:endParaRPr lang="en-US" sz="1000" dirty="0"/>
          </a:p>
        </p:txBody>
      </p:sp>
      <p:sp>
        <p:nvSpPr>
          <p:cNvPr id="17" name="Text 15"/>
          <p:cNvSpPr txBox="1"/>
          <p:nvPr/>
        </p:nvSpPr>
        <p:spPr>
          <a:xfrm>
            <a:off x="2377440" y="3236976"/>
            <a:ext cx="2514600" cy="347472"/>
          </a:xfrm>
          <a:prstGeom prst="rect">
            <a:avLst/>
          </a:prstGeom>
          <a:noFill/>
          <a:ln/>
        </p:spPr>
        <p:txBody>
          <a:bodyPr wrap="square" lIns="0" tIns="0" rIns="0" bIns="0" rtlCol="0" anchor="ctr"/>
          <a:lstStyle/>
          <a:p>
            <a:pPr marL="0" indent="0">
              <a:buNone/>
            </a:pPr>
            <a:r>
              <a:rPr lang="en-US" sz="1000" b="1" dirty="0">
                <a:solidFill>
                  <a:srgbClr val="11151C"/>
                </a:solidFill>
                <a:latin typeface="Courier New" pitchFamily="34" charset="0"/>
                <a:ea typeface="Courier New" pitchFamily="34" charset="-122"/>
                <a:cs typeface="Courier New" pitchFamily="34" charset="-120"/>
              </a:rPr>
              <a:t>CHECK asset_id &lt;&gt; dependent_id</a:t>
            </a:r>
            <a:endParaRPr lang="en-US" sz="1000" dirty="0"/>
          </a:p>
        </p:txBody>
      </p:sp>
      <p:sp>
        <p:nvSpPr>
          <p:cNvPr id="18" name="Text 16"/>
          <p:cNvSpPr txBox="1"/>
          <p:nvPr/>
        </p:nvSpPr>
        <p:spPr>
          <a:xfrm>
            <a:off x="4937760" y="3236976"/>
            <a:ext cx="2423160" cy="347472"/>
          </a:xfrm>
          <a:prstGeom prst="rect">
            <a:avLst/>
          </a:prstGeom>
          <a:noFill/>
          <a:ln/>
        </p:spPr>
        <p:txBody>
          <a:bodyPr wrap="square" lIns="0" tIns="0" rIns="0" bIns="0" rtlCol="0" anchor="ctr"/>
          <a:lstStyle/>
          <a:p>
            <a:pPr marL="0" indent="0">
              <a:buNone/>
            </a:pPr>
            <a:r>
              <a:rPr lang="en-US" sz="1050" dirty="0">
                <a:solidFill>
                  <a:srgbClr val="55617A"/>
                </a:solidFill>
              </a:rPr>
              <a:t>A machine depending on itself</a:t>
            </a:r>
            <a:endParaRPr lang="en-US" sz="1050" dirty="0"/>
          </a:p>
        </p:txBody>
      </p:sp>
      <p:sp>
        <p:nvSpPr>
          <p:cNvPr id="19" name="cr4"/>
          <p:cNvSpPr/>
          <p:nvPr/>
        </p:nvSpPr>
        <p:spPr>
          <a:xfrm>
            <a:off x="502920" y="3657600"/>
            <a:ext cx="6903720" cy="457200"/>
          </a:xfrm>
          <a:prstGeom prst="rect">
            <a:avLst/>
          </a:prstGeom>
          <a:solidFill>
            <a:srgbClr val="F7F8FA"/>
          </a:solidFill>
          <a:ln/>
        </p:spPr>
      </p:sp>
      <p:sp>
        <p:nvSpPr>
          <p:cNvPr id="20" name="Text 18"/>
          <p:cNvSpPr txBox="1"/>
          <p:nvPr/>
        </p:nvSpPr>
        <p:spPr>
          <a:xfrm>
            <a:off x="612648" y="3712464"/>
            <a:ext cx="1737360" cy="347472"/>
          </a:xfrm>
          <a:prstGeom prst="rect">
            <a:avLst/>
          </a:prstGeom>
          <a:noFill/>
          <a:ln/>
        </p:spPr>
        <p:txBody>
          <a:bodyPr wrap="square" lIns="0" tIns="0" rIns="0" bIns="0" rtlCol="0" anchor="ctr"/>
          <a:lstStyle/>
          <a:p>
            <a:pPr marL="0" indent="0">
              <a:buNone/>
            </a:pPr>
            <a:r>
              <a:rPr lang="en-US" sz="1000" dirty="0">
                <a:solidFill>
                  <a:srgbClr val="67718A"/>
                </a:solidFill>
                <a:latin typeface="Courier New" pitchFamily="34" charset="0"/>
                <a:ea typeface="Courier New" pitchFamily="34" charset="-122"/>
                <a:cs typeface="Courier New" pitchFamily="34" charset="-120"/>
              </a:rPr>
              <a:t>failure_events</a:t>
            </a:r>
            <a:endParaRPr lang="en-US" sz="1000" dirty="0"/>
          </a:p>
        </p:txBody>
      </p:sp>
      <p:sp>
        <p:nvSpPr>
          <p:cNvPr id="21" name="Text 19"/>
          <p:cNvSpPr txBox="1"/>
          <p:nvPr/>
        </p:nvSpPr>
        <p:spPr>
          <a:xfrm>
            <a:off x="2377440" y="3712464"/>
            <a:ext cx="2514600" cy="347472"/>
          </a:xfrm>
          <a:prstGeom prst="rect">
            <a:avLst/>
          </a:prstGeom>
          <a:noFill/>
          <a:ln/>
        </p:spPr>
        <p:txBody>
          <a:bodyPr wrap="square" lIns="0" tIns="0" rIns="0" bIns="0" rtlCol="0" anchor="ctr"/>
          <a:lstStyle/>
          <a:p>
            <a:pPr marL="0" indent="0">
              <a:buNone/>
            </a:pPr>
            <a:r>
              <a:rPr lang="en-US" sz="1000" b="1" dirty="0">
                <a:solidFill>
                  <a:srgbClr val="11151C"/>
                </a:solidFill>
                <a:latin typeface="Courier New" pitchFamily="34" charset="0"/>
                <a:ea typeface="Courier New" pitchFamily="34" charset="-122"/>
                <a:cs typeface="Courier New" pitchFamily="34" charset="-120"/>
              </a:rPr>
              <a:t>CHECK failure_type IN (…)</a:t>
            </a:r>
            <a:endParaRPr lang="en-US" sz="1000" dirty="0"/>
          </a:p>
        </p:txBody>
      </p:sp>
      <p:sp>
        <p:nvSpPr>
          <p:cNvPr id="22" name="Text 20"/>
          <p:cNvSpPr txBox="1"/>
          <p:nvPr/>
        </p:nvSpPr>
        <p:spPr>
          <a:xfrm>
            <a:off x="4937760" y="3712464"/>
            <a:ext cx="2423160" cy="347472"/>
          </a:xfrm>
          <a:prstGeom prst="rect">
            <a:avLst/>
          </a:prstGeom>
          <a:noFill/>
          <a:ln/>
        </p:spPr>
        <p:txBody>
          <a:bodyPr wrap="square" lIns="0" tIns="0" rIns="0" bIns="0" rtlCol="0" anchor="ctr"/>
          <a:lstStyle/>
          <a:p>
            <a:pPr marL="0" indent="0">
              <a:buNone/>
            </a:pPr>
            <a:r>
              <a:rPr lang="en-US" sz="1050" dirty="0">
                <a:solidFill>
                  <a:srgbClr val="55617A"/>
                </a:solidFill>
              </a:rPr>
              <a:t>Codes outside the AI4I set</a:t>
            </a:r>
            <a:endParaRPr lang="en-US" sz="1050" dirty="0"/>
          </a:p>
        </p:txBody>
      </p:sp>
      <p:sp>
        <p:nvSpPr>
          <p:cNvPr id="23" name="Text 21"/>
          <p:cNvSpPr txBox="1"/>
          <p:nvPr/>
        </p:nvSpPr>
        <p:spPr>
          <a:xfrm>
            <a:off x="612648" y="4187952"/>
            <a:ext cx="1737360" cy="347472"/>
          </a:xfrm>
          <a:prstGeom prst="rect">
            <a:avLst/>
          </a:prstGeom>
          <a:noFill/>
          <a:ln/>
        </p:spPr>
        <p:txBody>
          <a:bodyPr wrap="square" lIns="0" tIns="0" rIns="0" bIns="0" rtlCol="0" anchor="ctr"/>
          <a:lstStyle/>
          <a:p>
            <a:pPr marL="0" indent="0">
              <a:buNone/>
            </a:pPr>
            <a:r>
              <a:rPr lang="en-US" sz="1000" dirty="0">
                <a:solidFill>
                  <a:srgbClr val="67718A"/>
                </a:solidFill>
                <a:latin typeface="Courier New" pitchFamily="34" charset="0"/>
                <a:ea typeface="Courier New" pitchFamily="34" charset="-122"/>
                <a:cs typeface="Courier New" pitchFamily="34" charset="-120"/>
              </a:rPr>
              <a:t>maintenance_reports</a:t>
            </a:r>
            <a:endParaRPr lang="en-US" sz="1000" dirty="0"/>
          </a:p>
        </p:txBody>
      </p:sp>
      <p:sp>
        <p:nvSpPr>
          <p:cNvPr id="24" name="Text 22"/>
          <p:cNvSpPr txBox="1"/>
          <p:nvPr/>
        </p:nvSpPr>
        <p:spPr>
          <a:xfrm>
            <a:off x="2377440" y="4187952"/>
            <a:ext cx="2514600" cy="347472"/>
          </a:xfrm>
          <a:prstGeom prst="rect">
            <a:avLst/>
          </a:prstGeom>
          <a:noFill/>
          <a:ln/>
        </p:spPr>
        <p:txBody>
          <a:bodyPr wrap="square" lIns="0" tIns="0" rIns="0" bIns="0" rtlCol="0" anchor="ctr"/>
          <a:lstStyle/>
          <a:p>
            <a:pPr marL="0" indent="0">
              <a:buNone/>
            </a:pPr>
            <a:r>
              <a:rPr lang="en-US" sz="1000" b="1" dirty="0">
                <a:solidFill>
                  <a:srgbClr val="11151C"/>
                </a:solidFill>
                <a:latin typeface="Courier New" pitchFamily="34" charset="0"/>
                <a:ea typeface="Courier New" pitchFamily="34" charset="-122"/>
                <a:cs typeface="Courier New" pitchFamily="34" charset="-120"/>
              </a:rPr>
              <a:t>UNIQUE (event_id)</a:t>
            </a:r>
            <a:endParaRPr lang="en-US" sz="1000" dirty="0"/>
          </a:p>
        </p:txBody>
      </p:sp>
      <p:sp>
        <p:nvSpPr>
          <p:cNvPr id="25" name="Text 23"/>
          <p:cNvSpPr txBox="1"/>
          <p:nvPr/>
        </p:nvSpPr>
        <p:spPr>
          <a:xfrm>
            <a:off x="4937760" y="4187952"/>
            <a:ext cx="2423160" cy="347472"/>
          </a:xfrm>
          <a:prstGeom prst="rect">
            <a:avLst/>
          </a:prstGeom>
          <a:noFill/>
          <a:ln/>
        </p:spPr>
        <p:txBody>
          <a:bodyPr wrap="square" lIns="0" tIns="0" rIns="0" bIns="0" rtlCol="0" anchor="ctr"/>
          <a:lstStyle/>
          <a:p>
            <a:pPr marL="0" indent="0">
              <a:buNone/>
            </a:pPr>
            <a:r>
              <a:rPr lang="en-US" sz="1050" dirty="0">
                <a:solidFill>
                  <a:srgbClr val="55617A"/>
                </a:solidFill>
              </a:rPr>
              <a:t>More than one report per failure</a:t>
            </a:r>
            <a:endParaRPr lang="en-US" sz="1050" dirty="0"/>
          </a:p>
        </p:txBody>
      </p:sp>
      <p:sp>
        <p:nvSpPr>
          <p:cNvPr id="26" name="cr6"/>
          <p:cNvSpPr/>
          <p:nvPr/>
        </p:nvSpPr>
        <p:spPr>
          <a:xfrm>
            <a:off x="502920" y="4608576"/>
            <a:ext cx="6903720" cy="457200"/>
          </a:xfrm>
          <a:prstGeom prst="rect">
            <a:avLst/>
          </a:prstGeom>
          <a:solidFill>
            <a:srgbClr val="F7F8FA"/>
          </a:solidFill>
          <a:ln/>
        </p:spPr>
      </p:sp>
      <p:sp>
        <p:nvSpPr>
          <p:cNvPr id="27" name="Text 25"/>
          <p:cNvSpPr txBox="1"/>
          <p:nvPr/>
        </p:nvSpPr>
        <p:spPr>
          <a:xfrm>
            <a:off x="612648" y="4663440"/>
            <a:ext cx="1737360" cy="347472"/>
          </a:xfrm>
          <a:prstGeom prst="rect">
            <a:avLst/>
          </a:prstGeom>
          <a:noFill/>
          <a:ln/>
        </p:spPr>
        <p:txBody>
          <a:bodyPr wrap="square" lIns="0" tIns="0" rIns="0" bIns="0" rtlCol="0" anchor="ctr"/>
          <a:lstStyle/>
          <a:p>
            <a:pPr marL="0" indent="0">
              <a:buNone/>
            </a:pPr>
            <a:r>
              <a:rPr lang="en-US" sz="1000" dirty="0">
                <a:solidFill>
                  <a:srgbClr val="67718A"/>
                </a:solidFill>
                <a:latin typeface="Courier New" pitchFamily="34" charset="0"/>
                <a:ea typeface="Courier New" pitchFamily="34" charset="-122"/>
                <a:cs typeface="Courier New" pitchFamily="34" charset="-120"/>
              </a:rPr>
              <a:t>all foreign keys</a:t>
            </a:r>
            <a:endParaRPr lang="en-US" sz="1000" dirty="0"/>
          </a:p>
        </p:txBody>
      </p:sp>
      <p:sp>
        <p:nvSpPr>
          <p:cNvPr id="28" name="Text 26"/>
          <p:cNvSpPr txBox="1"/>
          <p:nvPr/>
        </p:nvSpPr>
        <p:spPr>
          <a:xfrm>
            <a:off x="2377440" y="4663440"/>
            <a:ext cx="2514600" cy="347472"/>
          </a:xfrm>
          <a:prstGeom prst="rect">
            <a:avLst/>
          </a:prstGeom>
          <a:noFill/>
          <a:ln/>
        </p:spPr>
        <p:txBody>
          <a:bodyPr wrap="square" lIns="0" tIns="0" rIns="0" bIns="0" rtlCol="0" anchor="ctr"/>
          <a:lstStyle/>
          <a:p>
            <a:pPr marL="0" indent="0">
              <a:buNone/>
            </a:pPr>
            <a:r>
              <a:rPr lang="en-US" sz="1000" b="1" dirty="0">
                <a:solidFill>
                  <a:srgbClr val="11151C"/>
                </a:solidFill>
                <a:latin typeface="Courier New" pitchFamily="34" charset="0"/>
                <a:ea typeface="Courier New" pitchFamily="34" charset="-122"/>
                <a:cs typeface="Courier New" pitchFamily="34" charset="-120"/>
              </a:rPr>
              <a:t>ON DELETE CASCADE</a:t>
            </a:r>
            <a:endParaRPr lang="en-US" sz="1000" dirty="0"/>
          </a:p>
        </p:txBody>
      </p:sp>
      <p:sp>
        <p:nvSpPr>
          <p:cNvPr id="29" name="Text 27"/>
          <p:cNvSpPr txBox="1"/>
          <p:nvPr/>
        </p:nvSpPr>
        <p:spPr>
          <a:xfrm>
            <a:off x="4937760" y="4663440"/>
            <a:ext cx="2423160" cy="347472"/>
          </a:xfrm>
          <a:prstGeom prst="rect">
            <a:avLst/>
          </a:prstGeom>
          <a:noFill/>
          <a:ln/>
        </p:spPr>
        <p:txBody>
          <a:bodyPr wrap="square" lIns="0" tIns="0" rIns="0" bIns="0" rtlCol="0" anchor="ctr"/>
          <a:lstStyle/>
          <a:p>
            <a:pPr marL="0" indent="0">
              <a:buNone/>
            </a:pPr>
            <a:r>
              <a:rPr lang="en-US" sz="1050" dirty="0">
                <a:solidFill>
                  <a:srgbClr val="55617A"/>
                </a:solidFill>
              </a:rPr>
              <a:t>Orphaned readings and edges</a:t>
            </a:r>
            <a:endParaRPr lang="en-US" sz="1050" dirty="0"/>
          </a:p>
        </p:txBody>
      </p:sp>
      <p:sp>
        <p:nvSpPr>
          <p:cNvPr id="30" name="trg"/>
          <p:cNvSpPr/>
          <p:nvPr/>
        </p:nvSpPr>
        <p:spPr>
          <a:xfrm>
            <a:off x="7699248" y="1426464"/>
            <a:ext cx="3959352" cy="2487168"/>
          </a:xfrm>
          <a:prstGeom prst="roundRect">
            <a:avLst>
              <a:gd name="adj" fmla="val 3676"/>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31" name="Text 29"/>
          <p:cNvSpPr txBox="1"/>
          <p:nvPr/>
        </p:nvSpPr>
        <p:spPr>
          <a:xfrm>
            <a:off x="7918704" y="1591056"/>
            <a:ext cx="3520440" cy="274320"/>
          </a:xfrm>
          <a:prstGeom prst="rect">
            <a:avLst/>
          </a:prstGeom>
          <a:noFill/>
          <a:ln/>
        </p:spPr>
        <p:txBody>
          <a:bodyPr wrap="square" lIns="0" tIns="0" rIns="0" bIns="0" rtlCol="0" anchor="ctr"/>
          <a:lstStyle/>
          <a:p>
            <a:pPr marL="0" indent="0">
              <a:buNone/>
            </a:pPr>
            <a:r>
              <a:rPr lang="en-US" sz="1400" b="1" dirty="0">
                <a:solidFill>
                  <a:srgbClr val="11151C"/>
                </a:solidFill>
              </a:rPr>
              <a:t>The audit trigger</a:t>
            </a:r>
            <a:endParaRPr lang="en-US" sz="1400" dirty="0"/>
          </a:p>
        </p:txBody>
      </p:sp>
      <p:sp>
        <p:nvSpPr>
          <p:cNvPr id="32" name="Text 30"/>
          <p:cNvSpPr txBox="1"/>
          <p:nvPr/>
        </p:nvSpPr>
        <p:spPr>
          <a:xfrm>
            <a:off x="7918704" y="1883664"/>
            <a:ext cx="3520440" cy="640080"/>
          </a:xfrm>
          <a:prstGeom prst="rect">
            <a:avLst/>
          </a:prstGeom>
          <a:noFill/>
          <a:ln/>
        </p:spPr>
        <p:txBody>
          <a:bodyPr wrap="square" lIns="0" tIns="0" rIns="0" bIns="0" rtlCol="0" anchor="ctr"/>
          <a:lstStyle/>
          <a:p>
            <a:pPr marL="0" indent="0">
              <a:lnSpc>
                <a:spcPct val="115000"/>
              </a:lnSpc>
              <a:buNone/>
            </a:pPr>
            <a:r>
              <a:rPr lang="en-US" sz="1150" dirty="0">
                <a:solidFill>
                  <a:srgbClr val="67718A"/>
                </a:solidFill>
              </a:rPr>
              <a:t>AFTER INSERT OR UPDATE OR DELETE, FOR EACH ROW. It cannot be bypassed — it fires for the app, for psql and for a migration alike.</a:t>
            </a:r>
            <a:endParaRPr lang="en-US" sz="1150" dirty="0"/>
          </a:p>
        </p:txBody>
      </p:sp>
      <p:sp>
        <p:nvSpPr>
          <p:cNvPr id="33" name="code"/>
          <p:cNvSpPr/>
          <p:nvPr/>
        </p:nvSpPr>
        <p:spPr>
          <a:xfrm>
            <a:off x="7918704" y="2578608"/>
            <a:ext cx="3520440" cy="1078992"/>
          </a:xfrm>
          <a:prstGeom prst="roundRect">
            <a:avLst>
              <a:gd name="adj" fmla="val 8475"/>
            </a:avLst>
          </a:prstGeom>
          <a:solidFill>
            <a:srgbClr val="11151C"/>
          </a:solidFill>
          <a:ln w="12700">
            <a:solidFill>
              <a:srgbClr val="11151C"/>
            </a:solidFill>
            <a:prstDash val="solid"/>
          </a:ln>
        </p:spPr>
      </p:sp>
      <p:sp>
        <p:nvSpPr>
          <p:cNvPr id="34" name="Text 32"/>
          <p:cNvSpPr txBox="1"/>
          <p:nvPr/>
        </p:nvSpPr>
        <p:spPr>
          <a:xfrm>
            <a:off x="8065008" y="2679192"/>
            <a:ext cx="3227832" cy="877824"/>
          </a:xfrm>
          <a:prstGeom prst="rect">
            <a:avLst/>
          </a:prstGeom>
          <a:noFill/>
          <a:ln/>
        </p:spPr>
        <p:txBody>
          <a:bodyPr wrap="square" lIns="0" tIns="0" rIns="0" bIns="0" rtlCol="0" anchor="t"/>
          <a:lstStyle/>
          <a:p>
            <a:pPr marL="0" indent="0" algn="l">
              <a:lnSpc>
                <a:spcPct val="108000"/>
              </a:lnSpc>
              <a:buNone/>
            </a:pPr>
            <a:r>
              <a:rPr lang="en-US" sz="950" dirty="0">
                <a:solidFill>
                  <a:srgbClr val="D7DEE8"/>
                </a:solidFill>
                <a:latin typeface="Courier New" pitchFamily="34" charset="0"/>
                <a:ea typeface="Courier New" pitchFamily="34" charset="-122"/>
                <a:cs typeface="Courier New" pitchFamily="34" charset="-120"/>
              </a:rPr>
              <a:t>IF TG_OP = 'DELETE' THEN</a:t>
            </a:r>
            <a:endParaRPr lang="en-US" sz="950" dirty="0"/>
          </a:p>
          <a:p>
            <a:pPr marL="0" indent="0" algn="l">
              <a:lnSpc>
                <a:spcPct val="108000"/>
              </a:lnSpc>
              <a:buNone/>
            </a:pPr>
            <a:r>
              <a:rPr lang="en-US" sz="950" dirty="0">
                <a:solidFill>
                  <a:srgbClr val="D7DEE8"/>
                </a:solidFill>
                <a:latin typeface="Courier New" pitchFamily="34" charset="0"/>
                <a:ea typeface="Courier New" pitchFamily="34" charset="-122"/>
                <a:cs typeface="Courier New" pitchFamily="34" charset="-120"/>
              </a:rPr>
              <a:t>  v_pk := OLD.report_id;</a:t>
            </a:r>
            <a:endParaRPr lang="en-US" sz="950" dirty="0"/>
          </a:p>
          <a:p>
            <a:pPr marL="0" indent="0" algn="l">
              <a:lnSpc>
                <a:spcPct val="108000"/>
              </a:lnSpc>
              <a:buNone/>
            </a:pPr>
            <a:r>
              <a:rPr lang="en-US" sz="950" dirty="0">
                <a:solidFill>
                  <a:srgbClr val="D7DEE8"/>
                </a:solidFill>
                <a:latin typeface="Courier New" pitchFamily="34" charset="0"/>
                <a:ea typeface="Courier New" pitchFamily="34" charset="-122"/>
                <a:cs typeface="Courier New" pitchFamily="34" charset="-120"/>
              </a:rPr>
              <a:t>ELSE</a:t>
            </a:r>
            <a:endParaRPr lang="en-US" sz="950" dirty="0"/>
          </a:p>
          <a:p>
            <a:pPr marL="0" indent="0" algn="l">
              <a:lnSpc>
                <a:spcPct val="108000"/>
              </a:lnSpc>
              <a:buNone/>
            </a:pPr>
            <a:r>
              <a:rPr lang="en-US" sz="950" dirty="0">
                <a:solidFill>
                  <a:srgbClr val="D7DEE8"/>
                </a:solidFill>
                <a:latin typeface="Courier New" pitchFamily="34" charset="0"/>
                <a:ea typeface="Courier New" pitchFamily="34" charset="-122"/>
                <a:cs typeface="Courier New" pitchFamily="34" charset="-120"/>
              </a:rPr>
              <a:t>  v_pk := NEW.report_id;</a:t>
            </a:r>
            <a:endParaRPr lang="en-US" sz="950" dirty="0"/>
          </a:p>
          <a:p>
            <a:pPr marL="0" indent="0" algn="l">
              <a:lnSpc>
                <a:spcPct val="108000"/>
              </a:lnSpc>
              <a:buNone/>
            </a:pPr>
            <a:r>
              <a:rPr lang="en-US" sz="950" dirty="0">
                <a:solidFill>
                  <a:srgbClr val="D7DEE8"/>
                </a:solidFill>
                <a:latin typeface="Courier New" pitchFamily="34" charset="0"/>
                <a:ea typeface="Courier New" pitchFamily="34" charset="-122"/>
                <a:cs typeface="Courier New" pitchFamily="34" charset="-120"/>
              </a:rPr>
              <a:t>END IF;</a:t>
            </a:r>
            <a:endParaRPr lang="en-US" sz="950" dirty="0"/>
          </a:p>
        </p:txBody>
      </p:sp>
      <p:sp>
        <p:nvSpPr>
          <p:cNvPr id="35" name="why"/>
          <p:cNvSpPr/>
          <p:nvPr/>
        </p:nvSpPr>
        <p:spPr>
          <a:xfrm>
            <a:off x="7699248" y="4133088"/>
            <a:ext cx="3959352" cy="1609344"/>
          </a:xfrm>
          <a:prstGeom prst="roundRect">
            <a:avLst>
              <a:gd name="adj" fmla="val 5682"/>
            </a:avLst>
          </a:prstGeom>
          <a:solidFill>
            <a:srgbClr val="FDF6EE"/>
          </a:solidFill>
          <a:ln w="12700">
            <a:solidFill>
              <a:srgbClr val="FDF6EE"/>
            </a:solidFill>
            <a:prstDash val="solid"/>
          </a:ln>
        </p:spPr>
      </p:sp>
      <p:sp>
        <p:nvSpPr>
          <p:cNvPr id="36" name="Text 34"/>
          <p:cNvSpPr txBox="1"/>
          <p:nvPr/>
        </p:nvSpPr>
        <p:spPr>
          <a:xfrm>
            <a:off x="7918704" y="4279392"/>
            <a:ext cx="3520440" cy="256032"/>
          </a:xfrm>
          <a:prstGeom prst="rect">
            <a:avLst/>
          </a:prstGeom>
          <a:noFill/>
          <a:ln/>
        </p:spPr>
        <p:txBody>
          <a:bodyPr wrap="square" lIns="0" tIns="0" rIns="0" bIns="0" rtlCol="0" anchor="ctr"/>
          <a:lstStyle/>
          <a:p>
            <a:pPr marL="0" indent="0">
              <a:buNone/>
            </a:pPr>
            <a:r>
              <a:rPr lang="en-US" sz="1200" b="1" dirty="0">
                <a:solidFill>
                  <a:srgbClr val="8A6A52"/>
                </a:solidFill>
              </a:rPr>
              <a:t>Why the explicit branch</a:t>
            </a:r>
            <a:endParaRPr lang="en-US" sz="1200" dirty="0"/>
          </a:p>
        </p:txBody>
      </p:sp>
      <p:sp>
        <p:nvSpPr>
          <p:cNvPr id="37" name="Text 35"/>
          <p:cNvSpPr txBox="1"/>
          <p:nvPr/>
        </p:nvSpPr>
        <p:spPr>
          <a:xfrm>
            <a:off x="7918704" y="4553712"/>
            <a:ext cx="3520440" cy="1133856"/>
          </a:xfrm>
          <a:prstGeom prst="rect">
            <a:avLst/>
          </a:prstGeom>
          <a:noFill/>
          <a:ln/>
        </p:spPr>
        <p:txBody>
          <a:bodyPr wrap="square" lIns="0" tIns="0" rIns="0" bIns="0" rtlCol="0" anchor="ctr"/>
          <a:lstStyle/>
          <a:p>
            <a:pPr marL="0" indent="0">
              <a:lnSpc>
                <a:spcPct val="112000"/>
              </a:lnSpc>
              <a:buNone/>
            </a:pPr>
            <a:r>
              <a:rPr lang="en-US" sz="1050" dirty="0">
                <a:solidFill>
                  <a:srgbClr val="7A5A3A"/>
                </a:solidFill>
              </a:rPr>
              <a:t>In a DELETE trigger NEW is unassigned. COALESCE(NEW.report_id, OLD.report_id) happens to work on PostgreSQL 16 — we tested it — but it relies on field access against an unassigned record returning NULL rather than raising. One IF removes the question.</a:t>
            </a:r>
            <a:endParaRPr lang="en-US" sz="1050" dirty="0"/>
          </a:p>
        </p:txBody>
      </p:sp>
      <p:sp>
        <p:nvSpPr>
          <p:cNvPr id="38" name="Text 36"/>
          <p:cNvSpPr txBox="1"/>
          <p:nvPr/>
        </p:nvSpPr>
        <p:spPr>
          <a:xfrm>
            <a:off x="502920" y="5230368"/>
            <a:ext cx="6903720" cy="548640"/>
          </a:xfrm>
          <a:prstGeom prst="rect">
            <a:avLst/>
          </a:prstGeom>
          <a:noFill/>
          <a:ln/>
        </p:spPr>
        <p:txBody>
          <a:bodyPr wrap="square" lIns="0" tIns="0" rIns="0" bIns="0" rtlCol="0" anchor="ctr"/>
          <a:lstStyle/>
          <a:p>
            <a:pPr marL="0" indent="0">
              <a:lnSpc>
                <a:spcPct val="115000"/>
              </a:lnSpc>
              <a:buNone/>
            </a:pPr>
            <a:r>
              <a:rPr lang="en-US" sz="1200" i="1" dirty="0">
                <a:solidFill>
                  <a:srgbClr val="0E7490"/>
                </a:solidFill>
              </a:rPr>
              <a:t>verify.py attempts each violation and asserts it is rejected — 28 checks, all passing. These are demonstrated, not claimed.</a:t>
            </a:r>
            <a:endParaRPr lang="en-US" sz="1200" dirty="0"/>
          </a:p>
        </p:txBody>
      </p:sp>
      <p:sp>
        <p:nvSpPr>
          <p:cNvPr id="39"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ip-1"/>
          <p:cNvSpPr/>
          <p:nvPr/>
        </p:nvSpPr>
        <p:spPr>
          <a:xfrm>
            <a:off x="502920" y="384048"/>
            <a:ext cx="475488" cy="475488"/>
          </a:xfrm>
          <a:prstGeom prst="ellipse">
            <a:avLst/>
          </a:prstGeom>
          <a:solidFill>
            <a:srgbClr val="0E7490"/>
          </a:solidFill>
          <a:ln w="12700">
            <a:solidFill>
              <a:srgbClr val="0E7490"/>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4" name="Text 2"/>
          <p:cNvSpPr txBox="1"/>
          <p:nvPr/>
        </p:nvSpPr>
        <p:spPr>
          <a:xfrm>
            <a:off x="1161288" y="347472"/>
            <a:ext cx="7315200" cy="548640"/>
          </a:xfrm>
          <a:prstGeom prst="rect">
            <a:avLst/>
          </a:prstGeom>
          <a:noFill/>
          <a:ln/>
        </p:spPr>
        <p:txBody>
          <a:bodyPr wrap="square" lIns="0" tIns="0" rIns="0" bIns="0" rtlCol="0" anchor="ctr"/>
          <a:lstStyle/>
          <a:p>
            <a:pPr marL="0" indent="0">
              <a:buNone/>
            </a:pPr>
            <a:r>
              <a:rPr lang="en-US" sz="3200" b="1" dirty="0">
                <a:solidFill>
                  <a:srgbClr val="11151C"/>
                </a:solidFill>
                <a:latin typeface="Cambria" pitchFamily="34" charset="0"/>
                <a:ea typeface="Cambria" pitchFamily="34" charset="-122"/>
                <a:cs typeface="Cambria" pitchFamily="34" charset="-120"/>
              </a:rPr>
              <a:t>Time-series layer</a:t>
            </a:r>
            <a:endParaRPr lang="en-US" sz="3200" dirty="0"/>
          </a:p>
        </p:txBody>
      </p:sp>
      <p:sp>
        <p:nvSpPr>
          <p:cNvPr id="5" name="Text 3"/>
          <p:cNvSpPr txBox="1"/>
          <p:nvPr/>
        </p:nvSpPr>
        <p:spPr>
          <a:xfrm>
            <a:off x="1161288" y="914400"/>
            <a:ext cx="10515600" cy="292608"/>
          </a:xfrm>
          <a:prstGeom prst="rect">
            <a:avLst/>
          </a:prstGeom>
          <a:noFill/>
          <a:ln/>
        </p:spPr>
        <p:txBody>
          <a:bodyPr wrap="square" lIns="0" tIns="0" rIns="0" bIns="0" rtlCol="0" anchor="ctr"/>
          <a:lstStyle/>
          <a:p>
            <a:pPr marL="0" indent="0">
              <a:buNone/>
            </a:pPr>
            <a:r>
              <a:rPr lang="en-US" sz="1350" dirty="0">
                <a:solidFill>
                  <a:srgbClr val="67718A"/>
                </a:solidFill>
              </a:rPr>
              <a:t>Partitioning for the raw stream, a pre-aggregated roll-up for the baseline.</a:t>
            </a:r>
            <a:endParaRPr lang="en-US" sz="1350" dirty="0"/>
          </a:p>
        </p:txBody>
      </p:sp>
      <p:sp>
        <p:nvSpPr>
          <p:cNvPr id="6" name="part"/>
          <p:cNvSpPr/>
          <p:nvPr/>
        </p:nvSpPr>
        <p:spPr>
          <a:xfrm>
            <a:off x="502920" y="1481328"/>
            <a:ext cx="5486400" cy="2286000"/>
          </a:xfrm>
          <a:prstGeom prst="roundRect">
            <a:avLst>
              <a:gd name="adj" fmla="val 4000"/>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7" name="Text 5"/>
          <p:cNvSpPr txBox="1"/>
          <p:nvPr/>
        </p:nvSpPr>
        <p:spPr>
          <a:xfrm>
            <a:off x="777240" y="1645920"/>
            <a:ext cx="4937760" cy="274320"/>
          </a:xfrm>
          <a:prstGeom prst="rect">
            <a:avLst/>
          </a:prstGeom>
          <a:noFill/>
          <a:ln/>
        </p:spPr>
        <p:txBody>
          <a:bodyPr wrap="square" lIns="0" tIns="0" rIns="0" bIns="0" rtlCol="0" anchor="ctr"/>
          <a:lstStyle/>
          <a:p>
            <a:pPr marL="0" indent="0">
              <a:buNone/>
            </a:pPr>
            <a:r>
              <a:rPr lang="en-US" sz="1400" b="1" dirty="0">
                <a:solidFill>
                  <a:srgbClr val="11151C"/>
                </a:solidFill>
              </a:rPr>
              <a:t>One partition per day</a:t>
            </a:r>
            <a:endParaRPr lang="en-US" sz="1400" dirty="0"/>
          </a:p>
        </p:txBody>
      </p:sp>
      <p:sp>
        <p:nvSpPr>
          <p:cNvPr id="8" name="code"/>
          <p:cNvSpPr/>
          <p:nvPr/>
        </p:nvSpPr>
        <p:spPr>
          <a:xfrm>
            <a:off x="777240" y="1975104"/>
            <a:ext cx="4937760" cy="548640"/>
          </a:xfrm>
          <a:prstGeom prst="roundRect">
            <a:avLst>
              <a:gd name="adj" fmla="val 16667"/>
            </a:avLst>
          </a:prstGeom>
          <a:solidFill>
            <a:srgbClr val="11151C"/>
          </a:solidFill>
          <a:ln w="12700">
            <a:solidFill>
              <a:srgbClr val="11151C"/>
            </a:solidFill>
            <a:prstDash val="solid"/>
          </a:ln>
        </p:spPr>
      </p:sp>
      <p:sp>
        <p:nvSpPr>
          <p:cNvPr id="9" name="Text 7"/>
          <p:cNvSpPr txBox="1"/>
          <p:nvPr/>
        </p:nvSpPr>
        <p:spPr>
          <a:xfrm>
            <a:off x="923544" y="2075688"/>
            <a:ext cx="4645152" cy="347472"/>
          </a:xfrm>
          <a:prstGeom prst="rect">
            <a:avLst/>
          </a:prstGeom>
          <a:noFill/>
          <a:ln/>
        </p:spPr>
        <p:txBody>
          <a:bodyPr wrap="square" lIns="0" tIns="0" rIns="0" bIns="0" rtlCol="0" anchor="t"/>
          <a:lstStyle/>
          <a:p>
            <a:pPr marL="0" indent="0" algn="l">
              <a:lnSpc>
                <a:spcPct val="108000"/>
              </a:lnSpc>
              <a:buNone/>
            </a:pPr>
            <a:r>
              <a:rPr lang="en-US" sz="1000" dirty="0">
                <a:solidFill>
                  <a:srgbClr val="D7DEE8"/>
                </a:solidFill>
                <a:latin typeface="Courier New" pitchFamily="34" charset="0"/>
                <a:ea typeface="Courier New" pitchFamily="34" charset="-122"/>
                <a:cs typeface="Courier New" pitchFamily="34" charset="-120"/>
              </a:rPr>
              <a:t>CREATE TABLE sensor_readings (...)</a:t>
            </a:r>
            <a:endParaRPr lang="en-US" sz="1000" dirty="0"/>
          </a:p>
          <a:p>
            <a:pPr marL="0" indent="0" algn="l">
              <a:lnSpc>
                <a:spcPct val="108000"/>
              </a:lnSpc>
              <a:buNone/>
            </a:pPr>
            <a:r>
              <a:rPr lang="en-US" sz="1000" dirty="0">
                <a:solidFill>
                  <a:srgbClr val="D7DEE8"/>
                </a:solidFill>
                <a:latin typeface="Courier New" pitchFamily="34" charset="0"/>
                <a:ea typeface="Courier New" pitchFamily="34" charset="-122"/>
                <a:cs typeface="Courier New" pitchFamily="34" charset="-120"/>
              </a:rPr>
              <a:t>  PARTITION BY RANGE (time);</a:t>
            </a:r>
            <a:endParaRPr lang="en-US" sz="1000" dirty="0"/>
          </a:p>
        </p:txBody>
      </p:sp>
      <p:sp>
        <p:nvSpPr>
          <p:cNvPr id="10" name="Text 8"/>
          <p:cNvSpPr txBox="1"/>
          <p:nvPr/>
        </p:nvSpPr>
        <p:spPr>
          <a:xfrm>
            <a:off x="777240" y="2615184"/>
            <a:ext cx="4937760" cy="457200"/>
          </a:xfrm>
          <a:prstGeom prst="rect">
            <a:avLst/>
          </a:prstGeom>
          <a:noFill/>
          <a:ln/>
        </p:spPr>
        <p:txBody>
          <a:bodyPr wrap="square" lIns="0" tIns="0" rIns="0" bIns="0" rtlCol="0" anchor="ctr"/>
          <a:lstStyle/>
          <a:p>
            <a:pPr marL="0" indent="0">
              <a:lnSpc>
                <a:spcPct val="112000"/>
              </a:lnSpc>
              <a:buNone/>
            </a:pPr>
            <a:r>
              <a:rPr lang="en-US" sz="1150" b="1" dirty="0">
                <a:solidFill>
                  <a:srgbClr val="0E7490"/>
                </a:solidFill>
              </a:rPr>
              <a:t>Partition pruning. </a:t>
            </a:r>
            <a:r>
              <a:rPr lang="en-US" sz="1150" dirty="0">
                <a:solidFill>
                  <a:srgbClr val="55617A"/>
                </a:solidFill>
              </a:rPr>
              <a:t>A one-hour query reads one partition, not 48 — the planner discards the rest before executing.</a:t>
            </a:r>
            <a:endParaRPr lang="en-US" sz="1150" dirty="0"/>
          </a:p>
        </p:txBody>
      </p:sp>
      <p:sp>
        <p:nvSpPr>
          <p:cNvPr id="11" name="Text 9"/>
          <p:cNvSpPr txBox="1"/>
          <p:nvPr/>
        </p:nvSpPr>
        <p:spPr>
          <a:xfrm>
            <a:off x="777240" y="3127248"/>
            <a:ext cx="4937760" cy="457200"/>
          </a:xfrm>
          <a:prstGeom prst="rect">
            <a:avLst/>
          </a:prstGeom>
          <a:noFill/>
          <a:ln/>
        </p:spPr>
        <p:txBody>
          <a:bodyPr wrap="square" lIns="0" tIns="0" rIns="0" bIns="0" rtlCol="0" anchor="ctr"/>
          <a:lstStyle/>
          <a:p>
            <a:pPr marL="0" indent="0">
              <a:lnSpc>
                <a:spcPct val="112000"/>
              </a:lnSpc>
              <a:buNone/>
            </a:pPr>
            <a:r>
              <a:rPr lang="en-US" sz="1150" b="1" dirty="0">
                <a:solidFill>
                  <a:srgbClr val="0E7490"/>
                </a:solidFill>
              </a:rPr>
              <a:t>Cheap retention. </a:t>
            </a:r>
            <a:r>
              <a:rPr lang="en-US" sz="1150" dirty="0">
                <a:solidFill>
                  <a:srgbClr val="55617A"/>
                </a:solidFill>
              </a:rPr>
              <a:t>Dropping old data is DROP TABLE — instant — instead of a DELETE that rewrites millions of rows.</a:t>
            </a:r>
            <a:endParaRPr lang="en-US" sz="1150" dirty="0"/>
          </a:p>
        </p:txBody>
      </p:sp>
      <p:sp>
        <p:nvSpPr>
          <p:cNvPr id="12" name="roll"/>
          <p:cNvSpPr/>
          <p:nvPr/>
        </p:nvSpPr>
        <p:spPr>
          <a:xfrm>
            <a:off x="6172200" y="1481328"/>
            <a:ext cx="5486400" cy="2286000"/>
          </a:xfrm>
          <a:prstGeom prst="roundRect">
            <a:avLst>
              <a:gd name="adj" fmla="val 4000"/>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13" name="Text 11"/>
          <p:cNvSpPr txBox="1"/>
          <p:nvPr/>
        </p:nvSpPr>
        <p:spPr>
          <a:xfrm>
            <a:off x="6446520" y="1645920"/>
            <a:ext cx="4937760" cy="274320"/>
          </a:xfrm>
          <a:prstGeom prst="rect">
            <a:avLst/>
          </a:prstGeom>
          <a:noFill/>
          <a:ln/>
        </p:spPr>
        <p:txBody>
          <a:bodyPr wrap="square" lIns="0" tIns="0" rIns="0" bIns="0" rtlCol="0" anchor="ctr"/>
          <a:lstStyle/>
          <a:p>
            <a:pPr marL="0" indent="0">
              <a:buNone/>
            </a:pPr>
            <a:r>
              <a:rPr lang="en-US" sz="1400" b="1" dirty="0">
                <a:solidFill>
                  <a:srgbClr val="11151C"/>
                </a:solidFill>
              </a:rPr>
              <a:t>readings_hourly roll-up</a:t>
            </a:r>
            <a:endParaRPr lang="en-US" sz="1400" dirty="0"/>
          </a:p>
        </p:txBody>
      </p:sp>
      <p:sp>
        <p:nvSpPr>
          <p:cNvPr id="14" name="Text 12"/>
          <p:cNvSpPr txBox="1"/>
          <p:nvPr/>
        </p:nvSpPr>
        <p:spPr>
          <a:xfrm>
            <a:off x="6446520" y="1938528"/>
            <a:ext cx="4937760" cy="402336"/>
          </a:xfrm>
          <a:prstGeom prst="rect">
            <a:avLst/>
          </a:prstGeom>
          <a:noFill/>
          <a:ln/>
        </p:spPr>
        <p:txBody>
          <a:bodyPr wrap="square" lIns="0" tIns="0" rIns="0" bIns="0" rtlCol="0" anchor="ctr"/>
          <a:lstStyle/>
          <a:p>
            <a:pPr marL="0" indent="0">
              <a:lnSpc>
                <a:spcPct val="112000"/>
              </a:lnSpc>
              <a:buNone/>
            </a:pPr>
            <a:r>
              <a:rPr lang="en-US" sz="1150" dirty="0">
                <a:solidFill>
                  <a:srgbClr val="67718A"/>
                </a:solidFill>
              </a:rPr>
              <a:t>Hourly averages per asset, computed once, not on every dashboard load.</a:t>
            </a:r>
            <a:endParaRPr lang="en-US" sz="1150" dirty="0"/>
          </a:p>
        </p:txBody>
      </p:sp>
      <p:sp>
        <p:nvSpPr>
          <p:cNvPr id="15" name="Text 13"/>
          <p:cNvSpPr txBox="1"/>
          <p:nvPr/>
        </p:nvSpPr>
        <p:spPr>
          <a:xfrm>
            <a:off x="6446520" y="2432304"/>
            <a:ext cx="2103120" cy="274320"/>
          </a:xfrm>
          <a:prstGeom prst="rect">
            <a:avLst/>
          </a:prstGeom>
          <a:noFill/>
          <a:ln/>
        </p:spPr>
        <p:txBody>
          <a:bodyPr wrap="square" lIns="0" tIns="0" rIns="0" bIns="0" rtlCol="0" anchor="ctr"/>
          <a:lstStyle/>
          <a:p>
            <a:pPr marL="0" indent="0">
              <a:buNone/>
            </a:pPr>
            <a:r>
              <a:rPr lang="en-US" sz="1150" dirty="0">
                <a:solidFill>
                  <a:srgbClr val="67718A"/>
                </a:solidFill>
              </a:rPr>
              <a:t>Storage cost</a:t>
            </a:r>
            <a:endParaRPr lang="en-US" sz="1150" dirty="0"/>
          </a:p>
        </p:txBody>
      </p:sp>
      <p:sp>
        <p:nvSpPr>
          <p:cNvPr id="16" name="Text 14"/>
          <p:cNvSpPr txBox="1"/>
          <p:nvPr/>
        </p:nvSpPr>
        <p:spPr>
          <a:xfrm>
            <a:off x="8595360" y="2432304"/>
            <a:ext cx="2788920" cy="274320"/>
          </a:xfrm>
          <a:prstGeom prst="rect">
            <a:avLst/>
          </a:prstGeom>
          <a:noFill/>
          <a:ln/>
        </p:spPr>
        <p:txBody>
          <a:bodyPr wrap="square" lIns="0" tIns="0" rIns="0" bIns="0" rtlCol="0" anchor="ctr"/>
          <a:lstStyle/>
          <a:p>
            <a:pPr marL="0" indent="0">
              <a:buNone/>
            </a:pPr>
            <a:r>
              <a:rPr lang="en-US" sz="1150" dirty="0">
                <a:solidFill>
                  <a:srgbClr val="67718A"/>
                </a:solidFill>
              </a:rPr>
              <a:t>+10 MB on top of 551 MB</a:t>
            </a:r>
            <a:endParaRPr lang="en-US" sz="1150" dirty="0"/>
          </a:p>
        </p:txBody>
      </p:sp>
      <p:sp>
        <p:nvSpPr>
          <p:cNvPr id="17" name="Text 15"/>
          <p:cNvSpPr txBox="1"/>
          <p:nvPr/>
        </p:nvSpPr>
        <p:spPr>
          <a:xfrm>
            <a:off x="6446520" y="2852928"/>
            <a:ext cx="2103120" cy="274320"/>
          </a:xfrm>
          <a:prstGeom prst="rect">
            <a:avLst/>
          </a:prstGeom>
          <a:noFill/>
          <a:ln/>
        </p:spPr>
        <p:txBody>
          <a:bodyPr wrap="square" lIns="0" tIns="0" rIns="0" bIns="0" rtlCol="0" anchor="ctr"/>
          <a:lstStyle/>
          <a:p>
            <a:pPr marL="0" indent="0">
              <a:buNone/>
            </a:pPr>
            <a:r>
              <a:rPr lang="en-US" sz="1150" dirty="0">
                <a:solidFill>
                  <a:srgbClr val="67718A"/>
                </a:solidFill>
              </a:rPr>
              <a:t>Freshness cost</a:t>
            </a:r>
            <a:endParaRPr lang="en-US" sz="1150" dirty="0"/>
          </a:p>
        </p:txBody>
      </p:sp>
      <p:sp>
        <p:nvSpPr>
          <p:cNvPr id="18" name="Text 16"/>
          <p:cNvSpPr txBox="1"/>
          <p:nvPr/>
        </p:nvSpPr>
        <p:spPr>
          <a:xfrm>
            <a:off x="8595360" y="2852928"/>
            <a:ext cx="2788920" cy="274320"/>
          </a:xfrm>
          <a:prstGeom prst="rect">
            <a:avLst/>
          </a:prstGeom>
          <a:noFill/>
          <a:ln/>
        </p:spPr>
        <p:txBody>
          <a:bodyPr wrap="square" lIns="0" tIns="0" rIns="0" bIns="0" rtlCol="0" anchor="ctr"/>
          <a:lstStyle/>
          <a:p>
            <a:pPr marL="0" indent="0">
              <a:buNone/>
            </a:pPr>
            <a:r>
              <a:rPr lang="en-US" sz="1150" dirty="0">
                <a:solidFill>
                  <a:srgbClr val="67718A"/>
                </a:solidFill>
              </a:rPr>
              <a:t>stale until refreshed</a:t>
            </a:r>
            <a:endParaRPr lang="en-US" sz="1150" dirty="0"/>
          </a:p>
        </p:txBody>
      </p:sp>
      <p:sp>
        <p:nvSpPr>
          <p:cNvPr id="19" name="Text 17"/>
          <p:cNvSpPr txBox="1"/>
          <p:nvPr/>
        </p:nvSpPr>
        <p:spPr>
          <a:xfrm>
            <a:off x="6446520" y="3273552"/>
            <a:ext cx="2103120" cy="274320"/>
          </a:xfrm>
          <a:prstGeom prst="rect">
            <a:avLst/>
          </a:prstGeom>
          <a:noFill/>
          <a:ln/>
        </p:spPr>
        <p:txBody>
          <a:bodyPr wrap="square" lIns="0" tIns="0" rIns="0" bIns="0" rtlCol="0" anchor="ctr"/>
          <a:lstStyle/>
          <a:p>
            <a:pPr marL="0" indent="0">
              <a:buNone/>
            </a:pPr>
            <a:r>
              <a:rPr lang="en-US" sz="1150" dirty="0">
                <a:solidFill>
                  <a:srgbClr val="67718A"/>
                </a:solidFill>
              </a:rPr>
              <a:t>30-day aggregate</a:t>
            </a:r>
            <a:endParaRPr lang="en-US" sz="1150" dirty="0"/>
          </a:p>
        </p:txBody>
      </p:sp>
      <p:sp>
        <p:nvSpPr>
          <p:cNvPr id="20" name="Text 18"/>
          <p:cNvSpPr txBox="1"/>
          <p:nvPr/>
        </p:nvSpPr>
        <p:spPr>
          <a:xfrm>
            <a:off x="8595360" y="3273552"/>
            <a:ext cx="2788920" cy="274320"/>
          </a:xfrm>
          <a:prstGeom prst="rect">
            <a:avLst/>
          </a:prstGeom>
          <a:noFill/>
          <a:ln/>
        </p:spPr>
        <p:txBody>
          <a:bodyPr wrap="square" lIns="0" tIns="0" rIns="0" bIns="0" rtlCol="0" anchor="ctr"/>
          <a:lstStyle/>
          <a:p>
            <a:pPr marL="0" indent="0">
              <a:buNone/>
            </a:pPr>
            <a:r>
              <a:rPr lang="en-US" sz="1150" b="1" dirty="0">
                <a:solidFill>
                  <a:srgbClr val="0E7490"/>
                </a:solidFill>
              </a:rPr>
              <a:t>1,200 ms → 44 ms</a:t>
            </a:r>
            <a:endParaRPr lang="en-US" sz="1150" dirty="0"/>
          </a:p>
        </p:txBody>
      </p:sp>
      <p:sp>
        <p:nvSpPr>
          <p:cNvPr id="21" name="eng"/>
          <p:cNvSpPr/>
          <p:nvPr/>
        </p:nvSpPr>
        <p:spPr>
          <a:xfrm>
            <a:off x="502920" y="4005072"/>
            <a:ext cx="11155680" cy="1115568"/>
          </a:xfrm>
          <a:prstGeom prst="roundRect">
            <a:avLst>
              <a:gd name="adj" fmla="val 8197"/>
            </a:avLst>
          </a:prstGeom>
          <a:solidFill>
            <a:srgbClr val="EEF4F5"/>
          </a:solidFill>
          <a:ln w="12700">
            <a:solidFill>
              <a:srgbClr val="BBD6DC"/>
            </a:solidFill>
            <a:prstDash val="solid"/>
          </a:ln>
        </p:spPr>
      </p:sp>
      <p:sp>
        <p:nvSpPr>
          <p:cNvPr id="22" name="Text 20"/>
          <p:cNvSpPr txBox="1"/>
          <p:nvPr/>
        </p:nvSpPr>
        <p:spPr>
          <a:xfrm>
            <a:off x="822960" y="4133088"/>
            <a:ext cx="10515600" cy="274320"/>
          </a:xfrm>
          <a:prstGeom prst="rect">
            <a:avLst/>
          </a:prstGeom>
          <a:noFill/>
          <a:ln/>
        </p:spPr>
        <p:txBody>
          <a:bodyPr wrap="square" lIns="0" tIns="0" rIns="0" bIns="0" rtlCol="0" anchor="ctr"/>
          <a:lstStyle/>
          <a:p>
            <a:pPr marL="0" indent="0">
              <a:buNone/>
            </a:pPr>
            <a:r>
              <a:rPr lang="en-US" sz="1350" b="1" dirty="0">
                <a:solidFill>
                  <a:srgbClr val="0E7490"/>
                </a:solidFill>
              </a:rPr>
              <a:t>Two engines, one schema</a:t>
            </a:r>
            <a:endParaRPr lang="en-US" sz="1350" dirty="0"/>
          </a:p>
        </p:txBody>
      </p:sp>
      <p:sp>
        <p:nvSpPr>
          <p:cNvPr id="23" name="Text 21"/>
          <p:cNvSpPr txBox="1"/>
          <p:nvPr/>
        </p:nvSpPr>
        <p:spPr>
          <a:xfrm>
            <a:off x="822960" y="4425696"/>
            <a:ext cx="10515600" cy="621792"/>
          </a:xfrm>
          <a:prstGeom prst="rect">
            <a:avLst/>
          </a:prstGeom>
          <a:noFill/>
          <a:ln/>
        </p:spPr>
        <p:txBody>
          <a:bodyPr wrap="square" lIns="0" tIns="0" rIns="0" bIns="0" rtlCol="0" anchor="ctr"/>
          <a:lstStyle/>
          <a:p>
            <a:pPr marL="0" indent="0">
              <a:lnSpc>
                <a:spcPct val="115000"/>
              </a:lnSpc>
              <a:buNone/>
            </a:pPr>
            <a:r>
              <a:rPr lang="en-US" sz="1200" dirty="0">
                <a:solidFill>
                  <a:srgbClr val="35505A"/>
                </a:solidFill>
              </a:rPr>
              <a:t>TimescaleDB hypertable where available; native PARTITION BY RANGE where it is not. Column definitions, indexes and every downstream query are identical — only the partitioning mechanism differs. make schema detects which to use, so a locked-down lab PC or a hosted PostgreSQL with pgvector runs the same demo.</a:t>
            </a:r>
            <a:endParaRPr lang="en-US" sz="1200" dirty="0"/>
          </a:p>
        </p:txBody>
      </p:sp>
      <p:sp>
        <p:nvSpPr>
          <p:cNvPr id="24" name="Text 22"/>
          <p:cNvSpPr txBox="1"/>
          <p:nvPr/>
        </p:nvSpPr>
        <p:spPr>
          <a:xfrm>
            <a:off x="502920" y="5321808"/>
            <a:ext cx="2743200" cy="713232"/>
          </a:xfrm>
          <a:prstGeom prst="rect">
            <a:avLst/>
          </a:prstGeom>
          <a:noFill/>
          <a:ln/>
        </p:spPr>
        <p:txBody>
          <a:bodyPr wrap="square" lIns="0" tIns="0" rIns="0" bIns="0" rtlCol="0" anchor="b"/>
          <a:lstStyle/>
          <a:p>
            <a:pPr marL="0" indent="0" algn="l">
              <a:buNone/>
            </a:pPr>
            <a:r>
              <a:rPr lang="en-US" sz="3200" b="1" dirty="0">
                <a:solidFill>
                  <a:srgbClr val="0E7490"/>
                </a:solidFill>
                <a:latin typeface="Cambria" pitchFamily="34" charset="0"/>
                <a:ea typeface="Cambria" pitchFamily="34" charset="-122"/>
                <a:cs typeface="Cambria" pitchFamily="34" charset="-120"/>
              </a:rPr>
              <a:t>5,090,501</a:t>
            </a:r>
            <a:endParaRPr lang="en-US" sz="3200" dirty="0"/>
          </a:p>
        </p:txBody>
      </p:sp>
      <p:sp>
        <p:nvSpPr>
          <p:cNvPr id="25" name="Text 23"/>
          <p:cNvSpPr txBox="1"/>
          <p:nvPr/>
        </p:nvSpPr>
        <p:spPr>
          <a:xfrm>
            <a:off x="502920" y="6035040"/>
            <a:ext cx="2743200" cy="402336"/>
          </a:xfrm>
          <a:prstGeom prst="rect">
            <a:avLst/>
          </a:prstGeom>
          <a:noFill/>
          <a:ln/>
        </p:spPr>
        <p:txBody>
          <a:bodyPr wrap="square" lIns="0" tIns="0" rIns="0" bIns="0" rtlCol="0" anchor="t"/>
          <a:lstStyle/>
          <a:p>
            <a:pPr marL="0" indent="0" algn="l">
              <a:buNone/>
            </a:pPr>
            <a:r>
              <a:rPr lang="en-US" sz="1150" dirty="0">
                <a:solidFill>
                  <a:srgbClr val="67718A"/>
                </a:solidFill>
              </a:rPr>
              <a:t>sensor readings loaded</a:t>
            </a:r>
            <a:endParaRPr lang="en-US" sz="1150" dirty="0"/>
          </a:p>
        </p:txBody>
      </p:sp>
      <p:sp>
        <p:nvSpPr>
          <p:cNvPr id="26" name="Text 24"/>
          <p:cNvSpPr txBox="1"/>
          <p:nvPr/>
        </p:nvSpPr>
        <p:spPr>
          <a:xfrm>
            <a:off x="3474720" y="5321808"/>
            <a:ext cx="2743200" cy="713232"/>
          </a:xfrm>
          <a:prstGeom prst="rect">
            <a:avLst/>
          </a:prstGeom>
          <a:noFill/>
          <a:ln/>
        </p:spPr>
        <p:txBody>
          <a:bodyPr wrap="square" lIns="0" tIns="0" rIns="0" bIns="0" rtlCol="0" anchor="b"/>
          <a:lstStyle/>
          <a:p>
            <a:pPr marL="0" indent="0" algn="l">
              <a:buNone/>
            </a:pPr>
            <a:r>
              <a:rPr lang="en-US" sz="3200" b="1" dirty="0">
                <a:solidFill>
                  <a:srgbClr val="0E7490"/>
                </a:solidFill>
                <a:latin typeface="Cambria" pitchFamily="34" charset="0"/>
                <a:ea typeface="Cambria" pitchFamily="34" charset="-122"/>
                <a:cs typeface="Cambria" pitchFamily="34" charset="-120"/>
              </a:rPr>
              <a:t>52 s</a:t>
            </a:r>
            <a:endParaRPr lang="en-US" sz="3200" dirty="0"/>
          </a:p>
        </p:txBody>
      </p:sp>
      <p:sp>
        <p:nvSpPr>
          <p:cNvPr id="27" name="Text 25"/>
          <p:cNvSpPr txBox="1"/>
          <p:nvPr/>
        </p:nvSpPr>
        <p:spPr>
          <a:xfrm>
            <a:off x="3474720" y="6035040"/>
            <a:ext cx="2743200" cy="402336"/>
          </a:xfrm>
          <a:prstGeom prst="rect">
            <a:avLst/>
          </a:prstGeom>
          <a:noFill/>
          <a:ln/>
        </p:spPr>
        <p:txBody>
          <a:bodyPr wrap="square" lIns="0" tIns="0" rIns="0" bIns="0" rtlCol="0" anchor="t"/>
          <a:lstStyle/>
          <a:p>
            <a:pPr marL="0" indent="0" algn="l">
              <a:buNone/>
            </a:pPr>
            <a:r>
              <a:rPr lang="en-US" sz="1150" dirty="0">
                <a:solidFill>
                  <a:srgbClr val="67718A"/>
                </a:solidFill>
              </a:rPr>
              <a:t>to generate and load them</a:t>
            </a:r>
            <a:endParaRPr lang="en-US" sz="1150" dirty="0"/>
          </a:p>
        </p:txBody>
      </p:sp>
      <p:sp>
        <p:nvSpPr>
          <p:cNvPr id="28" name="Text 26"/>
          <p:cNvSpPr txBox="1"/>
          <p:nvPr/>
        </p:nvSpPr>
        <p:spPr>
          <a:xfrm>
            <a:off x="6400800" y="5321808"/>
            <a:ext cx="2743200" cy="713232"/>
          </a:xfrm>
          <a:prstGeom prst="rect">
            <a:avLst/>
          </a:prstGeom>
          <a:noFill/>
          <a:ln/>
        </p:spPr>
        <p:txBody>
          <a:bodyPr wrap="square" lIns="0" tIns="0" rIns="0" bIns="0" rtlCol="0" anchor="b"/>
          <a:lstStyle/>
          <a:p>
            <a:pPr marL="0" indent="0" algn="l">
              <a:buNone/>
            </a:pPr>
            <a:r>
              <a:rPr lang="en-US" sz="3200" b="1" dirty="0">
                <a:solidFill>
                  <a:srgbClr val="0E7490"/>
                </a:solidFill>
                <a:latin typeface="Cambria" pitchFamily="34" charset="0"/>
                <a:ea typeface="Cambria" pitchFamily="34" charset="-122"/>
                <a:cs typeface="Cambria" pitchFamily="34" charset="-120"/>
              </a:rPr>
              <a:t>48</a:t>
            </a:r>
            <a:endParaRPr lang="en-US" sz="3200" dirty="0"/>
          </a:p>
        </p:txBody>
      </p:sp>
      <p:sp>
        <p:nvSpPr>
          <p:cNvPr id="29" name="Text 27"/>
          <p:cNvSpPr txBox="1"/>
          <p:nvPr/>
        </p:nvSpPr>
        <p:spPr>
          <a:xfrm>
            <a:off x="6400800" y="6035040"/>
            <a:ext cx="2743200" cy="402336"/>
          </a:xfrm>
          <a:prstGeom prst="rect">
            <a:avLst/>
          </a:prstGeom>
          <a:noFill/>
          <a:ln/>
        </p:spPr>
        <p:txBody>
          <a:bodyPr wrap="square" lIns="0" tIns="0" rIns="0" bIns="0" rtlCol="0" anchor="t"/>
          <a:lstStyle/>
          <a:p>
            <a:pPr marL="0" indent="0" algn="l">
              <a:buNone/>
            </a:pPr>
            <a:r>
              <a:rPr lang="en-US" sz="1150" dirty="0">
                <a:solidFill>
                  <a:srgbClr val="67718A"/>
                </a:solidFill>
              </a:rPr>
              <a:t>daily partitions</a:t>
            </a:r>
            <a:endParaRPr lang="en-US" sz="1150" dirty="0"/>
          </a:p>
        </p:txBody>
      </p:sp>
      <p:sp>
        <p:nvSpPr>
          <p:cNvPr id="30" name="Text 28"/>
          <p:cNvSpPr txBox="1"/>
          <p:nvPr/>
        </p:nvSpPr>
        <p:spPr>
          <a:xfrm>
            <a:off x="9235440" y="5321808"/>
            <a:ext cx="2743200" cy="713232"/>
          </a:xfrm>
          <a:prstGeom prst="rect">
            <a:avLst/>
          </a:prstGeom>
          <a:noFill/>
          <a:ln/>
        </p:spPr>
        <p:txBody>
          <a:bodyPr wrap="square" lIns="0" tIns="0" rIns="0" bIns="0" rtlCol="0" anchor="b"/>
          <a:lstStyle/>
          <a:p>
            <a:pPr marL="0" indent="0" algn="l">
              <a:buNone/>
            </a:pPr>
            <a:r>
              <a:rPr lang="en-US" sz="3200" b="1" dirty="0">
                <a:solidFill>
                  <a:srgbClr val="E07A1F"/>
                </a:solidFill>
                <a:latin typeface="Cambria" pitchFamily="34" charset="0"/>
                <a:ea typeface="Cambria" pitchFamily="34" charset="-122"/>
                <a:cs typeface="Cambria" pitchFamily="34" charset="-120"/>
              </a:rPr>
              <a:t>73×</a:t>
            </a:r>
            <a:endParaRPr lang="en-US" sz="3200" dirty="0"/>
          </a:p>
        </p:txBody>
      </p:sp>
      <p:sp>
        <p:nvSpPr>
          <p:cNvPr id="31" name="Text 29"/>
          <p:cNvSpPr txBox="1"/>
          <p:nvPr/>
        </p:nvSpPr>
        <p:spPr>
          <a:xfrm>
            <a:off x="9235440" y="6035040"/>
            <a:ext cx="2743200" cy="402336"/>
          </a:xfrm>
          <a:prstGeom prst="rect">
            <a:avLst/>
          </a:prstGeom>
          <a:noFill/>
          <a:ln/>
        </p:spPr>
        <p:txBody>
          <a:bodyPr wrap="square" lIns="0" tIns="0" rIns="0" bIns="0" rtlCol="0" anchor="t"/>
          <a:lstStyle/>
          <a:p>
            <a:pPr marL="0" indent="0" algn="l">
              <a:buNone/>
            </a:pPr>
            <a:r>
              <a:rPr lang="en-US" sz="1150" dirty="0">
                <a:solidFill>
                  <a:srgbClr val="67718A"/>
                </a:solidFill>
              </a:rPr>
              <a:t>faster point query</a:t>
            </a:r>
            <a:endParaRPr lang="en-US" sz="1150" dirty="0"/>
          </a:p>
        </p:txBody>
      </p:sp>
      <p:sp>
        <p:nvSpPr>
          <p:cNvPr id="33"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endParaRPr lang="en-US" sz="3000" dirty="0"/>
          </a:p>
        </p:txBody>
      </p:sp>
      <p:sp>
        <p:nvSpPr>
          <p:cNvPr id="34"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endParaRPr lang="en-US" sz="1350" dirty="0"/>
          </a:p>
        </p:txBody>
      </p:sp>
      <p:sp>
        <p:nvSpPr>
          <p:cNvPr id="32"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hip-2"/>
          <p:cNvSpPr/>
          <p:nvPr/>
        </p:nvSpPr>
        <p:spPr>
          <a:xfrm>
            <a:off x="502920" y="384048"/>
            <a:ext cx="475488" cy="475488"/>
          </a:xfrm>
          <a:prstGeom prst="ellipse">
            <a:avLst/>
          </a:prstGeom>
          <a:solidFill>
            <a:srgbClr val="4338CA"/>
          </a:solidFill>
          <a:ln w="12700">
            <a:solidFill>
              <a:srgbClr val="4338CA"/>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4" name="Text 2"/>
          <p:cNvSpPr txBox="1"/>
          <p:nvPr/>
        </p:nvSpPr>
        <p:spPr>
          <a:xfrm>
            <a:off x="1161288" y="347472"/>
            <a:ext cx="7315200" cy="548640"/>
          </a:xfrm>
          <a:prstGeom prst="rect">
            <a:avLst/>
          </a:prstGeom>
          <a:noFill/>
          <a:ln/>
        </p:spPr>
        <p:txBody>
          <a:bodyPr wrap="square" lIns="0" tIns="0" rIns="0" bIns="0" rtlCol="0" anchor="ctr"/>
          <a:lstStyle/>
          <a:p>
            <a:pPr marL="0" indent="0">
              <a:buNone/>
            </a:pPr>
            <a:r>
              <a:rPr lang="en-US" sz="3200" b="1" dirty="0">
                <a:solidFill>
                  <a:srgbClr val="11151C"/>
                </a:solidFill>
                <a:latin typeface="Cambria" pitchFamily="34" charset="0"/>
                <a:ea typeface="Cambria" pitchFamily="34" charset="-122"/>
                <a:cs typeface="Cambria" pitchFamily="34" charset="-120"/>
              </a:rPr>
              <a:t>Graph layer</a:t>
            </a:r>
            <a:endParaRPr lang="en-US" sz="3200" dirty="0"/>
          </a:p>
        </p:txBody>
      </p:sp>
      <p:sp>
        <p:nvSpPr>
          <p:cNvPr id="5" name="Text 3"/>
          <p:cNvSpPr txBox="1"/>
          <p:nvPr/>
        </p:nvSpPr>
        <p:spPr>
          <a:xfrm>
            <a:off x="1161288" y="914400"/>
            <a:ext cx="10515600" cy="292608"/>
          </a:xfrm>
          <a:prstGeom prst="rect">
            <a:avLst/>
          </a:prstGeom>
          <a:noFill/>
          <a:ln/>
        </p:spPr>
        <p:txBody>
          <a:bodyPr wrap="square" lIns="0" tIns="0" rIns="0" bIns="0" rtlCol="0" anchor="ctr"/>
          <a:lstStyle/>
          <a:p>
            <a:pPr marL="0" indent="0">
              <a:buNone/>
            </a:pPr>
            <a:r>
              <a:rPr lang="en-US" sz="1350" dirty="0">
                <a:solidFill>
                  <a:srgbClr val="67718A"/>
                </a:solidFill>
              </a:rPr>
              <a:t>A recursive CTE walks the dependency graph upward from the failing machine.</a:t>
            </a:r>
            <a:endParaRPr lang="en-US" sz="1350" dirty="0"/>
          </a:p>
        </p:txBody>
      </p:sp>
      <p:sp>
        <p:nvSpPr>
          <p:cNvPr id="6" name="code"/>
          <p:cNvSpPr/>
          <p:nvPr/>
        </p:nvSpPr>
        <p:spPr>
          <a:xfrm>
            <a:off x="502920" y="1517904"/>
            <a:ext cx="5806440" cy="2487168"/>
          </a:xfrm>
          <a:prstGeom prst="roundRect">
            <a:avLst>
              <a:gd name="adj" fmla="val 3676"/>
            </a:avLst>
          </a:prstGeom>
          <a:solidFill>
            <a:srgbClr val="11151C"/>
          </a:solidFill>
          <a:ln w="12700">
            <a:solidFill>
              <a:srgbClr val="11151C"/>
            </a:solidFill>
            <a:prstDash val="solid"/>
          </a:ln>
        </p:spPr>
      </p:sp>
      <p:sp>
        <p:nvSpPr>
          <p:cNvPr id="7" name="Text 5"/>
          <p:cNvSpPr txBox="1"/>
          <p:nvPr/>
        </p:nvSpPr>
        <p:spPr>
          <a:xfrm>
            <a:off x="649224" y="1618488"/>
            <a:ext cx="5513832" cy="2286000"/>
          </a:xfrm>
          <a:prstGeom prst="rect">
            <a:avLst/>
          </a:prstGeom>
          <a:noFill/>
          <a:ln/>
        </p:spPr>
        <p:txBody>
          <a:bodyPr wrap="square" lIns="0" tIns="0" rIns="0" bIns="0" rtlCol="0" anchor="t"/>
          <a:lstStyle/>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WITH RECURSIVE impacted AS (</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  SELECT d.dependent_id, 1 AS depth</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  FROM   asset_dependencies d</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  WHERE  d.asset_id = :asset</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UNION ALL</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  SELECT d.dependent_id, i.depth + 1</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  FROM   asset_dependencies d</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  JOIN   impacted i ON d.asset_id = i.asset_id</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  WHERE  i.depth &lt; 5)</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SELECT a.name, a.asset_type, i.depth</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FROM impacted i JOIN assets a USING (asset_id)</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ORDER BY i.depth;</a:t>
            </a:r>
            <a:endParaRPr lang="en-US" sz="1050" dirty="0"/>
          </a:p>
        </p:txBody>
      </p:sp>
      <p:sp>
        <p:nvSpPr>
          <p:cNvPr id="8" name="casc"/>
          <p:cNvSpPr/>
          <p:nvPr/>
        </p:nvSpPr>
        <p:spPr>
          <a:xfrm>
            <a:off x="6492240" y="1517904"/>
            <a:ext cx="5166360" cy="2487168"/>
          </a:xfrm>
          <a:prstGeom prst="roundRect">
            <a:avLst>
              <a:gd name="adj" fmla="val 3676"/>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9" name="Text 7"/>
          <p:cNvSpPr txBox="1"/>
          <p:nvPr/>
        </p:nvSpPr>
        <p:spPr>
          <a:xfrm>
            <a:off x="6748272" y="1682496"/>
            <a:ext cx="4663440" cy="274320"/>
          </a:xfrm>
          <a:prstGeom prst="rect">
            <a:avLst/>
          </a:prstGeom>
          <a:noFill/>
          <a:ln/>
        </p:spPr>
        <p:txBody>
          <a:bodyPr wrap="square" lIns="0" tIns="0" rIns="0" bIns="0" rtlCol="0" anchor="ctr"/>
          <a:lstStyle/>
          <a:p>
            <a:pPr marL="0" indent="0">
              <a:buNone/>
            </a:pPr>
            <a:r>
              <a:rPr lang="en-US" sz="1300" b="1" dirty="0">
                <a:solidFill>
                  <a:srgbClr val="E07A1F"/>
                </a:solidFill>
              </a:rPr>
              <a:t>L3-P2-Motor-3 fails</a:t>
            </a:r>
            <a:endParaRPr lang="en-US" sz="1300" dirty="0"/>
          </a:p>
        </p:txBody>
      </p:sp>
      <p:sp>
        <p:nvSpPr>
          <p:cNvPr id="10" name="casc0"/>
          <p:cNvSpPr/>
          <p:nvPr/>
        </p:nvSpPr>
        <p:spPr>
          <a:xfrm>
            <a:off x="6748272" y="1975104"/>
            <a:ext cx="2103120" cy="365760"/>
          </a:xfrm>
          <a:prstGeom prst="roundRect">
            <a:avLst>
              <a:gd name="adj" fmla="val 15000"/>
            </a:avLst>
          </a:prstGeom>
          <a:solidFill>
            <a:srgbClr val="FBEEE0"/>
          </a:solidFill>
          <a:ln w="12700">
            <a:solidFill>
              <a:srgbClr val="E07A1F"/>
            </a:solidFill>
            <a:prstDash val="solid"/>
          </a:ln>
        </p:spPr>
      </p:sp>
      <p:sp>
        <p:nvSpPr>
          <p:cNvPr id="11" name="Text 9"/>
          <p:cNvSpPr txBox="1"/>
          <p:nvPr/>
        </p:nvSpPr>
        <p:spPr>
          <a:xfrm>
            <a:off x="6748272" y="1975104"/>
            <a:ext cx="2103120" cy="365760"/>
          </a:xfrm>
          <a:prstGeom prst="rect">
            <a:avLst/>
          </a:prstGeom>
          <a:noFill/>
          <a:ln/>
        </p:spPr>
        <p:txBody>
          <a:bodyPr wrap="square" lIns="0" tIns="0" rIns="0" bIns="0" rtlCol="0" anchor="ctr"/>
          <a:lstStyle/>
          <a:p>
            <a:pPr marL="0" indent="0" algn="ctr">
              <a:buNone/>
            </a:pPr>
            <a:r>
              <a:rPr lang="en-US" sz="1150" b="1" dirty="0">
                <a:solidFill>
                  <a:srgbClr val="E07A1F"/>
                </a:solidFill>
              </a:rPr>
              <a:t>Motor</a:t>
            </a:r>
            <a:endParaRPr lang="en-US" sz="1150" dirty="0"/>
          </a:p>
        </p:txBody>
      </p:sp>
      <p:sp>
        <p:nvSpPr>
          <p:cNvPr id="12" name="Text 10"/>
          <p:cNvSpPr txBox="1"/>
          <p:nvPr/>
        </p:nvSpPr>
        <p:spPr>
          <a:xfrm>
            <a:off x="8942832" y="1975104"/>
            <a:ext cx="2011680" cy="365760"/>
          </a:xfrm>
          <a:prstGeom prst="rect">
            <a:avLst/>
          </a:prstGeom>
          <a:noFill/>
          <a:ln/>
        </p:spPr>
        <p:txBody>
          <a:bodyPr wrap="square" lIns="0" tIns="0" rIns="0" bIns="0" rtlCol="0" anchor="ctr"/>
          <a:lstStyle/>
          <a:p>
            <a:pPr marL="0" indent="0">
              <a:buNone/>
            </a:pPr>
            <a:r>
              <a:rPr lang="en-US" sz="1050" dirty="0">
                <a:solidFill>
                  <a:srgbClr val="67718A"/>
                </a:solidFill>
              </a:rPr>
              <a:t>the failure</a:t>
            </a:r>
            <a:endParaRPr lang="en-US" sz="1050" dirty="0"/>
          </a:p>
        </p:txBody>
      </p:sp>
      <p:sp>
        <p:nvSpPr>
          <p:cNvPr id="13" name="casc1"/>
          <p:cNvSpPr/>
          <p:nvPr/>
        </p:nvSpPr>
        <p:spPr>
          <a:xfrm>
            <a:off x="6949440" y="2395728"/>
            <a:ext cx="2103120" cy="365760"/>
          </a:xfrm>
          <a:prstGeom prst="roundRect">
            <a:avLst>
              <a:gd name="adj" fmla="val 15000"/>
            </a:avLst>
          </a:prstGeom>
          <a:solidFill>
            <a:srgbClr val="EDEEFA"/>
          </a:solidFill>
          <a:ln w="12700">
            <a:solidFill>
              <a:srgbClr val="4338CA"/>
            </a:solidFill>
            <a:prstDash val="solid"/>
          </a:ln>
        </p:spPr>
      </p:sp>
      <p:sp>
        <p:nvSpPr>
          <p:cNvPr id="14" name="Text 12"/>
          <p:cNvSpPr txBox="1"/>
          <p:nvPr/>
        </p:nvSpPr>
        <p:spPr>
          <a:xfrm>
            <a:off x="6949440" y="2395728"/>
            <a:ext cx="2103120" cy="365760"/>
          </a:xfrm>
          <a:prstGeom prst="rect">
            <a:avLst/>
          </a:prstGeom>
          <a:noFill/>
          <a:ln/>
        </p:spPr>
        <p:txBody>
          <a:bodyPr wrap="square" lIns="0" tIns="0" rIns="0" bIns="0" rtlCol="0" anchor="ctr"/>
          <a:lstStyle/>
          <a:p>
            <a:pPr marL="0" indent="0" algn="ctr">
              <a:buNone/>
            </a:pPr>
            <a:r>
              <a:rPr lang="en-US" sz="1150" b="1" dirty="0">
                <a:solidFill>
                  <a:srgbClr val="4338CA"/>
                </a:solidFill>
              </a:rPr>
              <a:t>Pump</a:t>
            </a:r>
            <a:endParaRPr lang="en-US" sz="1150" dirty="0"/>
          </a:p>
        </p:txBody>
      </p:sp>
      <p:sp>
        <p:nvSpPr>
          <p:cNvPr id="15" name="Text 13"/>
          <p:cNvSpPr txBox="1"/>
          <p:nvPr/>
        </p:nvSpPr>
        <p:spPr>
          <a:xfrm>
            <a:off x="9144000" y="2395728"/>
            <a:ext cx="2011680" cy="365760"/>
          </a:xfrm>
          <a:prstGeom prst="rect">
            <a:avLst/>
          </a:prstGeom>
          <a:noFill/>
          <a:ln/>
        </p:spPr>
        <p:txBody>
          <a:bodyPr wrap="square" lIns="0" tIns="0" rIns="0" bIns="0" rtlCol="0" anchor="ctr"/>
          <a:lstStyle/>
          <a:p>
            <a:pPr marL="0" indent="0">
              <a:buNone/>
            </a:pPr>
            <a:r>
              <a:rPr lang="en-US" sz="1050" dirty="0">
                <a:solidFill>
                  <a:srgbClr val="67718A"/>
                </a:solidFill>
              </a:rPr>
              <a:t>depth 1  ·  powers</a:t>
            </a:r>
            <a:endParaRPr lang="en-US" sz="1050" dirty="0"/>
          </a:p>
        </p:txBody>
      </p:sp>
      <p:sp>
        <p:nvSpPr>
          <p:cNvPr id="16" name="casc2"/>
          <p:cNvSpPr/>
          <p:nvPr/>
        </p:nvSpPr>
        <p:spPr>
          <a:xfrm>
            <a:off x="7150608" y="2816352"/>
            <a:ext cx="2103120" cy="365760"/>
          </a:xfrm>
          <a:prstGeom prst="roundRect">
            <a:avLst>
              <a:gd name="adj" fmla="val 15000"/>
            </a:avLst>
          </a:prstGeom>
          <a:solidFill>
            <a:srgbClr val="EDEEFA"/>
          </a:solidFill>
          <a:ln w="12700">
            <a:solidFill>
              <a:srgbClr val="4338CA"/>
            </a:solidFill>
            <a:prstDash val="solid"/>
          </a:ln>
        </p:spPr>
      </p:sp>
      <p:sp>
        <p:nvSpPr>
          <p:cNvPr id="17" name="Text 15"/>
          <p:cNvSpPr txBox="1"/>
          <p:nvPr/>
        </p:nvSpPr>
        <p:spPr>
          <a:xfrm>
            <a:off x="7150608" y="2816352"/>
            <a:ext cx="2103120" cy="365760"/>
          </a:xfrm>
          <a:prstGeom prst="rect">
            <a:avLst/>
          </a:prstGeom>
          <a:noFill/>
          <a:ln/>
        </p:spPr>
        <p:txBody>
          <a:bodyPr wrap="square" lIns="0" tIns="0" rIns="0" bIns="0" rtlCol="0" anchor="ctr"/>
          <a:lstStyle/>
          <a:p>
            <a:pPr marL="0" indent="0" algn="ctr">
              <a:buNone/>
            </a:pPr>
            <a:r>
              <a:rPr lang="en-US" sz="1150" b="1" dirty="0">
                <a:solidFill>
                  <a:srgbClr val="4338CA"/>
                </a:solidFill>
              </a:rPr>
              <a:t>Line</a:t>
            </a:r>
            <a:endParaRPr lang="en-US" sz="1150" dirty="0"/>
          </a:p>
        </p:txBody>
      </p:sp>
      <p:sp>
        <p:nvSpPr>
          <p:cNvPr id="18" name="Text 16"/>
          <p:cNvSpPr txBox="1"/>
          <p:nvPr/>
        </p:nvSpPr>
        <p:spPr>
          <a:xfrm>
            <a:off x="9345168" y="2816352"/>
            <a:ext cx="2011680" cy="365760"/>
          </a:xfrm>
          <a:prstGeom prst="rect">
            <a:avLst/>
          </a:prstGeom>
          <a:noFill/>
          <a:ln/>
        </p:spPr>
        <p:txBody>
          <a:bodyPr wrap="square" lIns="0" tIns="0" rIns="0" bIns="0" rtlCol="0" anchor="ctr"/>
          <a:lstStyle/>
          <a:p>
            <a:pPr marL="0" indent="0">
              <a:buNone/>
            </a:pPr>
            <a:r>
              <a:rPr lang="en-US" sz="1050" dirty="0">
                <a:solidFill>
                  <a:srgbClr val="67718A"/>
                </a:solidFill>
              </a:rPr>
              <a:t>depth 2  ·  feeds</a:t>
            </a:r>
            <a:endParaRPr lang="en-US" sz="1050" dirty="0"/>
          </a:p>
        </p:txBody>
      </p:sp>
      <p:sp>
        <p:nvSpPr>
          <p:cNvPr id="19" name="casc3"/>
          <p:cNvSpPr/>
          <p:nvPr/>
        </p:nvSpPr>
        <p:spPr>
          <a:xfrm>
            <a:off x="7351776" y="3236976"/>
            <a:ext cx="2103120" cy="365760"/>
          </a:xfrm>
          <a:prstGeom prst="roundRect">
            <a:avLst>
              <a:gd name="adj" fmla="val 15000"/>
            </a:avLst>
          </a:prstGeom>
          <a:solidFill>
            <a:srgbClr val="EDEEFA"/>
          </a:solidFill>
          <a:ln w="12700">
            <a:solidFill>
              <a:srgbClr val="4338CA"/>
            </a:solidFill>
            <a:prstDash val="solid"/>
          </a:ln>
        </p:spPr>
      </p:sp>
      <p:sp>
        <p:nvSpPr>
          <p:cNvPr id="20" name="Text 18"/>
          <p:cNvSpPr txBox="1"/>
          <p:nvPr/>
        </p:nvSpPr>
        <p:spPr>
          <a:xfrm>
            <a:off x="7351776" y="3236976"/>
            <a:ext cx="2103120" cy="365760"/>
          </a:xfrm>
          <a:prstGeom prst="rect">
            <a:avLst/>
          </a:prstGeom>
          <a:noFill/>
          <a:ln/>
        </p:spPr>
        <p:txBody>
          <a:bodyPr wrap="square" lIns="0" tIns="0" rIns="0" bIns="0" rtlCol="0" anchor="ctr"/>
          <a:lstStyle/>
          <a:p>
            <a:pPr marL="0" indent="0" algn="ctr">
              <a:buNone/>
            </a:pPr>
            <a:r>
              <a:rPr lang="en-US" sz="1150" b="1" dirty="0">
                <a:solidFill>
                  <a:srgbClr val="4338CA"/>
                </a:solidFill>
              </a:rPr>
              <a:t>Plant</a:t>
            </a:r>
            <a:endParaRPr lang="en-US" sz="1150" dirty="0"/>
          </a:p>
        </p:txBody>
      </p:sp>
      <p:sp>
        <p:nvSpPr>
          <p:cNvPr id="21" name="Text 19"/>
          <p:cNvSpPr txBox="1"/>
          <p:nvPr/>
        </p:nvSpPr>
        <p:spPr>
          <a:xfrm>
            <a:off x="9546336" y="3236976"/>
            <a:ext cx="2011680" cy="365760"/>
          </a:xfrm>
          <a:prstGeom prst="rect">
            <a:avLst/>
          </a:prstGeom>
          <a:noFill/>
          <a:ln/>
        </p:spPr>
        <p:txBody>
          <a:bodyPr wrap="square" lIns="0" tIns="0" rIns="0" bIns="0" rtlCol="0" anchor="ctr"/>
          <a:lstStyle/>
          <a:p>
            <a:pPr marL="0" indent="0">
              <a:buNone/>
            </a:pPr>
            <a:r>
              <a:rPr lang="en-US" sz="1050" dirty="0">
                <a:solidFill>
                  <a:srgbClr val="67718A"/>
                </a:solidFill>
              </a:rPr>
              <a:t>depth 3  ·  feeds</a:t>
            </a:r>
            <a:endParaRPr lang="en-US" sz="1050" dirty="0"/>
          </a:p>
        </p:txBody>
      </p:sp>
      <p:sp>
        <p:nvSpPr>
          <p:cNvPr id="22" name="Text 20"/>
          <p:cNvSpPr txBox="1"/>
          <p:nvPr/>
        </p:nvSpPr>
        <p:spPr>
          <a:xfrm>
            <a:off x="6748272" y="3657600"/>
            <a:ext cx="4663440" cy="237744"/>
          </a:xfrm>
          <a:prstGeom prst="rect">
            <a:avLst/>
          </a:prstGeom>
          <a:noFill/>
          <a:ln/>
        </p:spPr>
        <p:txBody>
          <a:bodyPr wrap="square" lIns="0" tIns="0" rIns="0" bIns="0" rtlCol="0" anchor="ctr"/>
          <a:lstStyle/>
          <a:p>
            <a:pPr marL="0" indent="0">
              <a:buNone/>
            </a:pPr>
            <a:r>
              <a:rPr lang="en-US" sz="1100" i="1" dirty="0">
                <a:solidFill>
                  <a:srgbClr val="4338CA"/>
                </a:solidFill>
              </a:rPr>
              <a:t>3 assets impacted  ·  0.4 ms</a:t>
            </a:r>
            <a:endParaRPr lang="en-US" sz="1100" dirty="0"/>
          </a:p>
        </p:txBody>
      </p:sp>
      <p:sp>
        <p:nvSpPr>
          <p:cNvPr id="23" name="guard"/>
          <p:cNvSpPr/>
          <p:nvPr/>
        </p:nvSpPr>
        <p:spPr>
          <a:xfrm>
            <a:off x="502920" y="4206240"/>
            <a:ext cx="5806440" cy="1783080"/>
          </a:xfrm>
          <a:prstGeom prst="roundRect">
            <a:avLst>
              <a:gd name="adj" fmla="val 5128"/>
            </a:avLst>
          </a:prstGeom>
          <a:solidFill>
            <a:srgbClr val="FDF6EE"/>
          </a:solidFill>
          <a:ln w="12700">
            <a:solidFill>
              <a:srgbClr val="FDF6EE"/>
            </a:solidFill>
            <a:prstDash val="solid"/>
          </a:ln>
        </p:spPr>
      </p:sp>
      <p:sp>
        <p:nvSpPr>
          <p:cNvPr id="24" name="Text 22"/>
          <p:cNvSpPr txBox="1"/>
          <p:nvPr/>
        </p:nvSpPr>
        <p:spPr>
          <a:xfrm>
            <a:off x="777240" y="4370832"/>
            <a:ext cx="5257800" cy="274320"/>
          </a:xfrm>
          <a:prstGeom prst="rect">
            <a:avLst/>
          </a:prstGeom>
          <a:noFill/>
          <a:ln/>
        </p:spPr>
        <p:txBody>
          <a:bodyPr wrap="square" lIns="0" tIns="0" rIns="0" bIns="0" rtlCol="0" anchor="ctr"/>
          <a:lstStyle/>
          <a:p>
            <a:pPr marL="0" indent="0">
              <a:buNone/>
            </a:pPr>
            <a:r>
              <a:rPr lang="en-US" sz="1300" b="1" dirty="0">
                <a:solidFill>
                  <a:srgbClr val="8A6A52"/>
                </a:solidFill>
              </a:rPr>
              <a:t>depth &lt; 5 is not decoration</a:t>
            </a:r>
            <a:endParaRPr lang="en-US" sz="1300" dirty="0"/>
          </a:p>
        </p:txBody>
      </p:sp>
      <p:sp>
        <p:nvSpPr>
          <p:cNvPr id="25" name="Text 23"/>
          <p:cNvSpPr txBox="1"/>
          <p:nvPr/>
        </p:nvSpPr>
        <p:spPr>
          <a:xfrm>
            <a:off x="777240" y="4663440"/>
            <a:ext cx="5257800" cy="1097280"/>
          </a:xfrm>
          <a:prstGeom prst="rect">
            <a:avLst/>
          </a:prstGeom>
          <a:noFill/>
          <a:ln/>
        </p:spPr>
        <p:txBody>
          <a:bodyPr wrap="square" lIns="0" tIns="0" rIns="0" bIns="0" rtlCol="0" anchor="ctr"/>
          <a:lstStyle/>
          <a:p>
            <a:pPr marL="0" indent="0">
              <a:lnSpc>
                <a:spcPct val="118000"/>
              </a:lnSpc>
              <a:buNone/>
            </a:pPr>
            <a:r>
              <a:rPr lang="en-US" sz="1200" dirty="0">
                <a:solidFill>
                  <a:srgbClr val="7A5A3A"/>
                </a:solidFill>
              </a:rPr>
              <a:t>A mis-entered pair — (A→B) and (B→A) — forms a cycle, and UNION ALL without a bound never terminates. The test suite inserts exactly that cycle and asserts the query still returns.</a:t>
            </a:r>
            <a:endParaRPr lang="en-US" sz="1200" dirty="0"/>
          </a:p>
        </p:txBody>
      </p:sp>
      <p:sp>
        <p:nvSpPr>
          <p:cNvPr id="26" name="dir"/>
          <p:cNvSpPr/>
          <p:nvPr/>
        </p:nvSpPr>
        <p:spPr>
          <a:xfrm>
            <a:off x="6492240" y="4206240"/>
            <a:ext cx="5166360" cy="1783080"/>
          </a:xfrm>
          <a:prstGeom prst="roundRect">
            <a:avLst>
              <a:gd name="adj" fmla="val 5128"/>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27" name="Text 25"/>
          <p:cNvSpPr txBox="1"/>
          <p:nvPr/>
        </p:nvSpPr>
        <p:spPr>
          <a:xfrm>
            <a:off x="6748272" y="4370832"/>
            <a:ext cx="4663440" cy="274320"/>
          </a:xfrm>
          <a:prstGeom prst="rect">
            <a:avLst/>
          </a:prstGeom>
          <a:noFill/>
          <a:ln/>
        </p:spPr>
        <p:txBody>
          <a:bodyPr wrap="square" lIns="0" tIns="0" rIns="0" bIns="0" rtlCol="0" anchor="ctr"/>
          <a:lstStyle/>
          <a:p>
            <a:pPr marL="0" indent="0">
              <a:buNone/>
            </a:pPr>
            <a:r>
              <a:rPr lang="en-US" sz="1300" b="1" dirty="0">
                <a:solidFill>
                  <a:srgbClr val="11151C"/>
                </a:solidFill>
              </a:rPr>
              <a:t>Edge direction</a:t>
            </a:r>
            <a:endParaRPr lang="en-US" sz="1300" dirty="0"/>
          </a:p>
        </p:txBody>
      </p:sp>
      <p:sp>
        <p:nvSpPr>
          <p:cNvPr id="28" name="Text 26"/>
          <p:cNvSpPr txBox="1"/>
          <p:nvPr/>
        </p:nvSpPr>
        <p:spPr>
          <a:xfrm>
            <a:off x="6748272" y="4663440"/>
            <a:ext cx="4663440" cy="256032"/>
          </a:xfrm>
          <a:prstGeom prst="rect">
            <a:avLst/>
          </a:prstGeom>
          <a:noFill/>
          <a:ln/>
        </p:spPr>
        <p:txBody>
          <a:bodyPr wrap="square" lIns="0" tIns="0" rIns="0" bIns="0" rtlCol="0" anchor="ctr"/>
          <a:lstStyle/>
          <a:p>
            <a:pPr marL="0" indent="0">
              <a:buNone/>
            </a:pPr>
            <a:r>
              <a:rPr lang="en-US" sz="1150" b="1" dirty="0">
                <a:solidFill>
                  <a:srgbClr val="4338CA"/>
                </a:solidFill>
                <a:latin typeface="Courier New" pitchFamily="34" charset="0"/>
                <a:ea typeface="Courier New" pitchFamily="34" charset="-122"/>
                <a:cs typeface="Courier New" pitchFamily="34" charset="-120"/>
              </a:rPr>
              <a:t>(asset_id) → (dependent_id)</a:t>
            </a:r>
            <a:endParaRPr lang="en-US" sz="1150" dirty="0"/>
          </a:p>
        </p:txBody>
      </p:sp>
      <p:sp>
        <p:nvSpPr>
          <p:cNvPr id="29" name="Text 27"/>
          <p:cNvSpPr txBox="1"/>
          <p:nvPr/>
        </p:nvSpPr>
        <p:spPr>
          <a:xfrm>
            <a:off x="6748272" y="4974336"/>
            <a:ext cx="4663440" cy="868680"/>
          </a:xfrm>
          <a:prstGeom prst="rect">
            <a:avLst/>
          </a:prstGeom>
          <a:noFill/>
          <a:ln/>
        </p:spPr>
        <p:txBody>
          <a:bodyPr wrap="square" lIns="0" tIns="0" rIns="0" bIns="0" rtlCol="0" anchor="ctr"/>
          <a:lstStyle/>
          <a:p>
            <a:pPr marL="0" indent="0">
              <a:lnSpc>
                <a:spcPct val="118000"/>
              </a:lnSpc>
              <a:buNone/>
            </a:pPr>
            <a:r>
              <a:rPr lang="en-US" sz="1200" dirty="0">
                <a:solidFill>
                  <a:srgbClr val="55617A"/>
                </a:solidFill>
              </a:rPr>
              <a:t>Read as “dependent_id depends on asset_id”. A motor powers a pump, so the row is (motor, pump, 'powers') and a motor failure cascades upward to the plant.</a:t>
            </a:r>
            <a:endParaRPr lang="en-US" sz="1200" dirty="0"/>
          </a:p>
        </p:txBody>
      </p:sp>
      <p:sp>
        <p:nvSpPr>
          <p:cNvPr id="31"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endParaRPr lang="en-US" sz="3000" dirty="0"/>
          </a:p>
        </p:txBody>
      </p:sp>
      <p:sp>
        <p:nvSpPr>
          <p:cNvPr id="32"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endParaRPr lang="en-US" sz="1350" dirty="0"/>
          </a:p>
        </p:txBody>
      </p:sp>
      <p:sp>
        <p:nvSpPr>
          <p:cNvPr id="30"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hip-3"/>
          <p:cNvSpPr/>
          <p:nvPr/>
        </p:nvSpPr>
        <p:spPr>
          <a:xfrm>
            <a:off x="502920" y="384048"/>
            <a:ext cx="475488" cy="475488"/>
          </a:xfrm>
          <a:prstGeom prst="ellipse">
            <a:avLst/>
          </a:prstGeom>
          <a:solidFill>
            <a:srgbClr val="9D174D"/>
          </a:solidFill>
          <a:ln w="12700">
            <a:solidFill>
              <a:srgbClr val="9D174D"/>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4" name="Text 2"/>
          <p:cNvSpPr txBox="1"/>
          <p:nvPr/>
        </p:nvSpPr>
        <p:spPr>
          <a:xfrm>
            <a:off x="1161288" y="347472"/>
            <a:ext cx="7315200" cy="548640"/>
          </a:xfrm>
          <a:prstGeom prst="rect">
            <a:avLst/>
          </a:prstGeom>
          <a:noFill/>
          <a:ln/>
        </p:spPr>
        <p:txBody>
          <a:bodyPr wrap="square" lIns="0" tIns="0" rIns="0" bIns="0" rtlCol="0" anchor="ctr"/>
          <a:lstStyle/>
          <a:p>
            <a:pPr marL="0" indent="0">
              <a:buNone/>
            </a:pPr>
            <a:r>
              <a:rPr lang="en-US" sz="3200" b="1" dirty="0">
                <a:solidFill>
                  <a:srgbClr val="11151C"/>
                </a:solidFill>
                <a:latin typeface="Cambria" pitchFamily="34" charset="0"/>
                <a:ea typeface="Cambria" pitchFamily="34" charset="-122"/>
                <a:cs typeface="Cambria" pitchFamily="34" charset="-120"/>
              </a:rPr>
              <a:t>Vector layer</a:t>
            </a:r>
            <a:endParaRPr lang="en-US" sz="3200" dirty="0"/>
          </a:p>
        </p:txBody>
      </p:sp>
      <p:sp>
        <p:nvSpPr>
          <p:cNvPr id="5" name="Text 3"/>
          <p:cNvSpPr txBox="1"/>
          <p:nvPr/>
        </p:nvSpPr>
        <p:spPr>
          <a:xfrm>
            <a:off x="1161288" y="914400"/>
            <a:ext cx="10515600" cy="292608"/>
          </a:xfrm>
          <a:prstGeom prst="rect">
            <a:avLst/>
          </a:prstGeom>
          <a:noFill/>
          <a:ln/>
        </p:spPr>
        <p:txBody>
          <a:bodyPr wrap="square" lIns="0" tIns="0" rIns="0" bIns="0" rtlCol="0" anchor="ctr"/>
          <a:lstStyle/>
          <a:p>
            <a:pPr marL="0" indent="0">
              <a:buNone/>
            </a:pPr>
            <a:r>
              <a:rPr lang="en-US" sz="1350" dirty="0">
                <a:solidFill>
                  <a:srgbClr val="67718A"/>
                </a:solidFill>
              </a:rPr>
              <a:t>Report text becomes a vector(384). Finding a similar past failure is one ORDER BY.</a:t>
            </a:r>
            <a:endParaRPr lang="en-US" sz="1350" dirty="0"/>
          </a:p>
        </p:txBody>
      </p:sp>
      <p:sp>
        <p:nvSpPr>
          <p:cNvPr id="6" name="code"/>
          <p:cNvSpPr/>
          <p:nvPr/>
        </p:nvSpPr>
        <p:spPr>
          <a:xfrm>
            <a:off x="502920" y="1517904"/>
            <a:ext cx="5806440" cy="1389888"/>
          </a:xfrm>
          <a:prstGeom prst="roundRect">
            <a:avLst>
              <a:gd name="adj" fmla="val 6579"/>
            </a:avLst>
          </a:prstGeom>
          <a:solidFill>
            <a:srgbClr val="11151C"/>
          </a:solidFill>
          <a:ln w="12700">
            <a:solidFill>
              <a:srgbClr val="11151C"/>
            </a:solidFill>
            <a:prstDash val="solid"/>
          </a:ln>
        </p:spPr>
      </p:sp>
      <p:sp>
        <p:nvSpPr>
          <p:cNvPr id="7" name="Text 5"/>
          <p:cNvSpPr txBox="1"/>
          <p:nvPr/>
        </p:nvSpPr>
        <p:spPr>
          <a:xfrm>
            <a:off x="649224" y="1618488"/>
            <a:ext cx="5513832" cy="1188720"/>
          </a:xfrm>
          <a:prstGeom prst="rect">
            <a:avLst/>
          </a:prstGeom>
          <a:noFill/>
          <a:ln/>
        </p:spPr>
        <p:txBody>
          <a:bodyPr wrap="square" lIns="0" tIns="0" rIns="0" bIns="0" rtlCol="0" anchor="t"/>
          <a:lstStyle/>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SELECT f.failure_type, r.summary, r.action_taken,</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       1 - (r.embedding &lt;=&gt; :qvec) AS similarity</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FROM   maintenance_reports r</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JOIN   failure_events f USING (event_id)</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ORDER  BY r.embedding &lt;=&gt; :qvec</a:t>
            </a:r>
            <a:endParaRPr lang="en-US" sz="1050" dirty="0"/>
          </a:p>
          <a:p>
            <a:pPr marL="0" indent="0" algn="l">
              <a:lnSpc>
                <a:spcPct val="108000"/>
              </a:lnSpc>
              <a:buNone/>
            </a:pPr>
            <a:r>
              <a:rPr lang="en-US" sz="1050" dirty="0">
                <a:solidFill>
                  <a:srgbClr val="D7DEE8"/>
                </a:solidFill>
                <a:latin typeface="Courier New" pitchFamily="34" charset="0"/>
                <a:ea typeface="Courier New" pitchFamily="34" charset="-122"/>
                <a:cs typeface="Courier New" pitchFamily="34" charset="-120"/>
              </a:rPr>
              <a:t>LIMIT  3;</a:t>
            </a:r>
            <a:endParaRPr lang="en-US" sz="1050" dirty="0"/>
          </a:p>
        </p:txBody>
      </p:sp>
      <p:sp>
        <p:nvSpPr>
          <p:cNvPr id="8" name="Text 6"/>
          <p:cNvSpPr txBox="1"/>
          <p:nvPr/>
        </p:nvSpPr>
        <p:spPr>
          <a:xfrm>
            <a:off x="502920" y="3035808"/>
            <a:ext cx="5806440" cy="786384"/>
          </a:xfrm>
          <a:prstGeom prst="rect">
            <a:avLst/>
          </a:prstGeom>
          <a:noFill/>
          <a:ln/>
        </p:spPr>
        <p:txBody>
          <a:bodyPr wrap="square" lIns="0" tIns="0" rIns="0" bIns="0" rtlCol="0" anchor="ctr"/>
          <a:lstStyle/>
          <a:p>
            <a:pPr marL="0" indent="0">
              <a:lnSpc>
                <a:spcPct val="118000"/>
              </a:lnSpc>
              <a:buNone/>
            </a:pPr>
            <a:r>
              <a:rPr lang="en-US" sz="1200" b="1" dirty="0">
                <a:solidFill>
                  <a:srgbClr val="9D174D"/>
                </a:solidFill>
                <a:latin typeface="Courier New" pitchFamily="34" charset="0"/>
                <a:ea typeface="Courier New" pitchFamily="34" charset="-122"/>
                <a:cs typeface="Courier New" pitchFamily="34" charset="-120"/>
              </a:rPr>
              <a:t>&lt;=&gt;</a:t>
            </a:r>
            <a:r>
              <a:rPr lang="en-US" sz="1200" dirty="0">
                <a:solidFill>
                  <a:srgbClr val="55617A"/>
                </a:solidFill>
              </a:rPr>
              <a:t>  is cosine distance. Because the HNSW index is built on vector_cosine_ops, this is an index scan — not a scan of every report. The JOIN is the part a separate vector database cannot do.</a:t>
            </a:r>
            <a:endParaRPr lang="en-US" sz="1200" dirty="0"/>
          </a:p>
        </p:txBody>
      </p:sp>
      <p:sp>
        <p:nvSpPr>
          <p:cNvPr id="9" name="res"/>
          <p:cNvSpPr/>
          <p:nvPr/>
        </p:nvSpPr>
        <p:spPr>
          <a:xfrm>
            <a:off x="6492240" y="1517904"/>
            <a:ext cx="5166360" cy="2322576"/>
          </a:xfrm>
          <a:prstGeom prst="roundRect">
            <a:avLst>
              <a:gd name="adj" fmla="val 3937"/>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10" name="Text 8"/>
          <p:cNvSpPr txBox="1"/>
          <p:nvPr/>
        </p:nvSpPr>
        <p:spPr>
          <a:xfrm>
            <a:off x="6748272" y="1682496"/>
            <a:ext cx="4663440" cy="256032"/>
          </a:xfrm>
          <a:prstGeom prst="rect">
            <a:avLst/>
          </a:prstGeom>
          <a:noFill/>
          <a:ln/>
        </p:spPr>
        <p:txBody>
          <a:bodyPr wrap="square" lIns="0" tIns="0" rIns="0" bIns="0" rtlCol="0" anchor="ctr"/>
          <a:lstStyle/>
          <a:p>
            <a:pPr marL="0" indent="0">
              <a:buNone/>
            </a:pPr>
            <a:r>
              <a:rPr lang="en-US" sz="1200" b="1" dirty="0">
                <a:solidFill>
                  <a:srgbClr val="67718A"/>
                </a:solidFill>
              </a:rPr>
              <a:t>Operator types a symptom</a:t>
            </a:r>
            <a:endParaRPr lang="en-US" sz="1200" dirty="0"/>
          </a:p>
        </p:txBody>
      </p:sp>
      <p:sp>
        <p:nvSpPr>
          <p:cNvPr id="11" name="Text 9"/>
          <p:cNvSpPr txBox="1"/>
          <p:nvPr/>
        </p:nvSpPr>
        <p:spPr>
          <a:xfrm>
            <a:off x="6748272" y="1956816"/>
            <a:ext cx="4663440" cy="402336"/>
          </a:xfrm>
          <a:prstGeom prst="rect">
            <a:avLst/>
          </a:prstGeom>
          <a:noFill/>
          <a:ln/>
        </p:spPr>
        <p:txBody>
          <a:bodyPr wrap="square" lIns="0" tIns="0" rIns="0" bIns="0" rtlCol="0" anchor="ctr"/>
          <a:lstStyle/>
          <a:p>
            <a:pPr marL="0" indent="0">
              <a:lnSpc>
                <a:spcPct val="110000"/>
              </a:lnSpc>
              <a:buNone/>
            </a:pPr>
            <a:r>
              <a:rPr lang="en-US" sz="1250" i="1" dirty="0">
                <a:solidFill>
                  <a:srgbClr val="11151C"/>
                </a:solidFill>
              </a:rPr>
              <a:t>“temperature rising while rotational speed is low, coolant problem”</a:t>
            </a:r>
            <a:endParaRPr lang="en-US" sz="1250" dirty="0"/>
          </a:p>
        </p:txBody>
      </p:sp>
      <p:sp>
        <p:nvSpPr>
          <p:cNvPr id="12" name="hit0"/>
          <p:cNvSpPr/>
          <p:nvPr/>
        </p:nvSpPr>
        <p:spPr>
          <a:xfrm>
            <a:off x="6748272" y="2523744"/>
            <a:ext cx="4663440" cy="548640"/>
          </a:xfrm>
          <a:prstGeom prst="roundRect">
            <a:avLst>
              <a:gd name="adj" fmla="val 10000"/>
            </a:avLst>
          </a:prstGeom>
          <a:solidFill>
            <a:srgbClr val="FBEFF4"/>
          </a:solidFill>
          <a:ln/>
        </p:spPr>
      </p:sp>
      <p:sp>
        <p:nvSpPr>
          <p:cNvPr id="13" name="Text 11"/>
          <p:cNvSpPr txBox="1"/>
          <p:nvPr/>
        </p:nvSpPr>
        <p:spPr>
          <a:xfrm>
            <a:off x="6858000" y="2578608"/>
            <a:ext cx="530352" cy="219456"/>
          </a:xfrm>
          <a:prstGeom prst="rect">
            <a:avLst/>
          </a:prstGeom>
          <a:noFill/>
          <a:ln/>
        </p:spPr>
        <p:txBody>
          <a:bodyPr wrap="square" lIns="0" tIns="0" rIns="0" bIns="0" rtlCol="0" anchor="ctr"/>
          <a:lstStyle/>
          <a:p>
            <a:pPr marL="0" indent="0" algn="ctr">
              <a:buNone/>
            </a:pPr>
            <a:r>
              <a:rPr lang="en-US" sz="1000" b="1" dirty="0">
                <a:solidFill>
                  <a:srgbClr val="FFFFFF"/>
                </a:solidFill>
              </a:rPr>
              <a:t>HDF</a:t>
            </a:r>
            <a:endParaRPr lang="en-US" sz="1000" dirty="0"/>
          </a:p>
        </p:txBody>
      </p:sp>
      <p:sp>
        <p:nvSpPr>
          <p:cNvPr id="14" name="tag0"/>
          <p:cNvSpPr/>
          <p:nvPr/>
        </p:nvSpPr>
        <p:spPr>
          <a:xfrm>
            <a:off x="6858000" y="2578608"/>
            <a:ext cx="530352" cy="219456"/>
          </a:xfrm>
          <a:prstGeom prst="roundRect">
            <a:avLst>
              <a:gd name="adj" fmla="val 16667"/>
            </a:avLst>
          </a:prstGeom>
          <a:solidFill>
            <a:srgbClr val="9D174D"/>
          </a:solidFill>
          <a:ln/>
        </p:spPr>
      </p:sp>
      <p:sp>
        <p:nvSpPr>
          <p:cNvPr id="15" name="Text 13"/>
          <p:cNvSpPr txBox="1"/>
          <p:nvPr/>
        </p:nvSpPr>
        <p:spPr>
          <a:xfrm>
            <a:off x="6858000" y="2578608"/>
            <a:ext cx="530352" cy="219456"/>
          </a:xfrm>
          <a:prstGeom prst="rect">
            <a:avLst/>
          </a:prstGeom>
          <a:noFill/>
          <a:ln/>
        </p:spPr>
        <p:txBody>
          <a:bodyPr wrap="square" lIns="0" tIns="0" rIns="0" bIns="0" rtlCol="0" anchor="ctr"/>
          <a:lstStyle/>
          <a:p>
            <a:pPr marL="0" indent="0" algn="ctr">
              <a:buNone/>
            </a:pPr>
            <a:r>
              <a:rPr lang="en-US" sz="950" b="1" dirty="0">
                <a:solidFill>
                  <a:srgbClr val="FFFFFF"/>
                </a:solidFill>
              </a:rPr>
              <a:t>HDF</a:t>
            </a:r>
            <a:endParaRPr lang="en-US" sz="950" dirty="0"/>
          </a:p>
        </p:txBody>
      </p:sp>
      <p:sp>
        <p:nvSpPr>
          <p:cNvPr id="16" name="Text 14"/>
          <p:cNvSpPr txBox="1"/>
          <p:nvPr/>
        </p:nvSpPr>
        <p:spPr>
          <a:xfrm>
            <a:off x="7443216" y="2578608"/>
            <a:ext cx="822960" cy="219456"/>
          </a:xfrm>
          <a:prstGeom prst="rect">
            <a:avLst/>
          </a:prstGeom>
          <a:noFill/>
          <a:ln/>
        </p:spPr>
        <p:txBody>
          <a:bodyPr wrap="square" lIns="0" tIns="0" rIns="0" bIns="0" rtlCol="0" anchor="ctr"/>
          <a:lstStyle/>
          <a:p>
            <a:pPr marL="0" indent="0">
              <a:buNone/>
            </a:pPr>
            <a:r>
              <a:rPr lang="en-US" sz="950" dirty="0">
                <a:solidFill>
                  <a:srgbClr val="9D174D"/>
                </a:solidFill>
              </a:rPr>
              <a:t>sim 0.488</a:t>
            </a:r>
            <a:endParaRPr lang="en-US" sz="950" dirty="0"/>
          </a:p>
        </p:txBody>
      </p:sp>
      <p:sp>
        <p:nvSpPr>
          <p:cNvPr id="17" name="Text 15"/>
          <p:cNvSpPr txBox="1"/>
          <p:nvPr/>
        </p:nvSpPr>
        <p:spPr>
          <a:xfrm>
            <a:off x="6858000" y="2798064"/>
            <a:ext cx="4480560" cy="256032"/>
          </a:xfrm>
          <a:prstGeom prst="rect">
            <a:avLst/>
          </a:prstGeom>
          <a:noFill/>
          <a:ln/>
        </p:spPr>
        <p:txBody>
          <a:bodyPr wrap="square" lIns="0" tIns="0" rIns="0" bIns="0" rtlCol="0" anchor="ctr"/>
          <a:lstStyle/>
          <a:p>
            <a:pPr marL="0" indent="0">
              <a:lnSpc>
                <a:spcPct val="105000"/>
              </a:lnSpc>
              <a:buNone/>
            </a:pPr>
            <a:r>
              <a:rPr lang="en-US" sz="950" dirty="0">
                <a:solidFill>
                  <a:srgbClr val="55617A"/>
                </a:solidFill>
              </a:rPr>
              <a:t>Process temperature reached 318.2 K, speed stayed low</a:t>
            </a:r>
            <a:endParaRPr lang="en-US" sz="950" dirty="0"/>
          </a:p>
        </p:txBody>
      </p:sp>
      <p:sp>
        <p:nvSpPr>
          <p:cNvPr id="18" name="hit1"/>
          <p:cNvSpPr/>
          <p:nvPr/>
        </p:nvSpPr>
        <p:spPr>
          <a:xfrm>
            <a:off x="6748272" y="3145536"/>
            <a:ext cx="4663440" cy="548640"/>
          </a:xfrm>
          <a:prstGeom prst="roundRect">
            <a:avLst>
              <a:gd name="adj" fmla="val 10000"/>
            </a:avLst>
          </a:prstGeom>
          <a:solidFill>
            <a:srgbClr val="FBEFF4"/>
          </a:solidFill>
          <a:ln/>
        </p:spPr>
      </p:sp>
      <p:sp>
        <p:nvSpPr>
          <p:cNvPr id="19" name="Text 17"/>
          <p:cNvSpPr txBox="1"/>
          <p:nvPr/>
        </p:nvSpPr>
        <p:spPr>
          <a:xfrm>
            <a:off x="6858000" y="3200400"/>
            <a:ext cx="530352" cy="219456"/>
          </a:xfrm>
          <a:prstGeom prst="rect">
            <a:avLst/>
          </a:prstGeom>
          <a:noFill/>
          <a:ln/>
        </p:spPr>
        <p:txBody>
          <a:bodyPr wrap="square" lIns="0" tIns="0" rIns="0" bIns="0" rtlCol="0" anchor="ctr"/>
          <a:lstStyle/>
          <a:p>
            <a:pPr marL="0" indent="0" algn="ctr">
              <a:buNone/>
            </a:pPr>
            <a:r>
              <a:rPr lang="en-US" sz="1000" b="1" dirty="0">
                <a:solidFill>
                  <a:srgbClr val="FFFFFF"/>
                </a:solidFill>
              </a:rPr>
              <a:t>HDF</a:t>
            </a:r>
            <a:endParaRPr lang="en-US" sz="1000" dirty="0"/>
          </a:p>
        </p:txBody>
      </p:sp>
      <p:sp>
        <p:nvSpPr>
          <p:cNvPr id="20" name="tag1"/>
          <p:cNvSpPr/>
          <p:nvPr/>
        </p:nvSpPr>
        <p:spPr>
          <a:xfrm>
            <a:off x="6858000" y="3200400"/>
            <a:ext cx="530352" cy="219456"/>
          </a:xfrm>
          <a:prstGeom prst="roundRect">
            <a:avLst>
              <a:gd name="adj" fmla="val 16667"/>
            </a:avLst>
          </a:prstGeom>
          <a:solidFill>
            <a:srgbClr val="9D174D"/>
          </a:solidFill>
          <a:ln/>
        </p:spPr>
      </p:sp>
      <p:sp>
        <p:nvSpPr>
          <p:cNvPr id="21" name="Text 19"/>
          <p:cNvSpPr txBox="1"/>
          <p:nvPr/>
        </p:nvSpPr>
        <p:spPr>
          <a:xfrm>
            <a:off x="6858000" y="3200400"/>
            <a:ext cx="530352" cy="219456"/>
          </a:xfrm>
          <a:prstGeom prst="rect">
            <a:avLst/>
          </a:prstGeom>
          <a:noFill/>
          <a:ln/>
        </p:spPr>
        <p:txBody>
          <a:bodyPr wrap="square" lIns="0" tIns="0" rIns="0" bIns="0" rtlCol="0" anchor="ctr"/>
          <a:lstStyle/>
          <a:p>
            <a:pPr marL="0" indent="0" algn="ctr">
              <a:buNone/>
            </a:pPr>
            <a:r>
              <a:rPr lang="en-US" sz="950" b="1" dirty="0">
                <a:solidFill>
                  <a:srgbClr val="FFFFFF"/>
                </a:solidFill>
              </a:rPr>
              <a:t>HDF</a:t>
            </a:r>
            <a:endParaRPr lang="en-US" sz="950" dirty="0"/>
          </a:p>
        </p:txBody>
      </p:sp>
      <p:sp>
        <p:nvSpPr>
          <p:cNvPr id="22" name="Text 20"/>
          <p:cNvSpPr txBox="1"/>
          <p:nvPr/>
        </p:nvSpPr>
        <p:spPr>
          <a:xfrm>
            <a:off x="7443216" y="3200400"/>
            <a:ext cx="822960" cy="219456"/>
          </a:xfrm>
          <a:prstGeom prst="rect">
            <a:avLst/>
          </a:prstGeom>
          <a:noFill/>
          <a:ln/>
        </p:spPr>
        <p:txBody>
          <a:bodyPr wrap="square" lIns="0" tIns="0" rIns="0" bIns="0" rtlCol="0" anchor="ctr"/>
          <a:lstStyle/>
          <a:p>
            <a:pPr marL="0" indent="0">
              <a:buNone/>
            </a:pPr>
            <a:r>
              <a:rPr lang="en-US" sz="950" dirty="0">
                <a:solidFill>
                  <a:srgbClr val="9D174D"/>
                </a:solidFill>
              </a:rPr>
              <a:t>sim 0.479</a:t>
            </a:r>
            <a:endParaRPr lang="en-US" sz="950" dirty="0"/>
          </a:p>
        </p:txBody>
      </p:sp>
      <p:sp>
        <p:nvSpPr>
          <p:cNvPr id="23" name="Text 21"/>
          <p:cNvSpPr txBox="1"/>
          <p:nvPr/>
        </p:nvSpPr>
        <p:spPr>
          <a:xfrm>
            <a:off x="6858000" y="3419856"/>
            <a:ext cx="4480560" cy="256032"/>
          </a:xfrm>
          <a:prstGeom prst="rect">
            <a:avLst/>
          </a:prstGeom>
          <a:noFill/>
          <a:ln/>
        </p:spPr>
        <p:txBody>
          <a:bodyPr wrap="square" lIns="0" tIns="0" rIns="0" bIns="0" rtlCol="0" anchor="ctr"/>
          <a:lstStyle/>
          <a:p>
            <a:pPr marL="0" indent="0">
              <a:lnSpc>
                <a:spcPct val="105000"/>
              </a:lnSpc>
              <a:buNone/>
            </a:pPr>
            <a:r>
              <a:rPr lang="en-US" sz="950" dirty="0">
                <a:solidFill>
                  <a:srgbClr val="55617A"/>
                </a:solidFill>
              </a:rPr>
              <a:t>Heat dissipation failure, coolant could not carry heat away</a:t>
            </a:r>
            <a:endParaRPr lang="en-US" sz="950" dirty="0"/>
          </a:p>
        </p:txBody>
      </p:sp>
      <p:sp>
        <p:nvSpPr>
          <p:cNvPr id="24" name="fail"/>
          <p:cNvSpPr/>
          <p:nvPr/>
        </p:nvSpPr>
        <p:spPr>
          <a:xfrm>
            <a:off x="502920" y="4041648"/>
            <a:ext cx="5806440" cy="1920240"/>
          </a:xfrm>
          <a:prstGeom prst="roundRect">
            <a:avLst>
              <a:gd name="adj" fmla="val 4762"/>
            </a:avLst>
          </a:prstGeom>
          <a:solidFill>
            <a:srgbClr val="FDF6EE"/>
          </a:solidFill>
          <a:ln w="12700">
            <a:solidFill>
              <a:srgbClr val="FDF6EE"/>
            </a:solidFill>
            <a:prstDash val="solid"/>
          </a:ln>
        </p:spPr>
      </p:sp>
      <p:sp>
        <p:nvSpPr>
          <p:cNvPr id="25" name="Text 23"/>
          <p:cNvSpPr txBox="1"/>
          <p:nvPr/>
        </p:nvSpPr>
        <p:spPr>
          <a:xfrm>
            <a:off x="777240" y="4206240"/>
            <a:ext cx="5257800" cy="274320"/>
          </a:xfrm>
          <a:prstGeom prst="rect">
            <a:avLst/>
          </a:prstGeom>
          <a:noFill/>
          <a:ln/>
        </p:spPr>
        <p:txBody>
          <a:bodyPr wrap="square" lIns="0" tIns="0" rIns="0" bIns="0" rtlCol="0" anchor="ctr"/>
          <a:lstStyle/>
          <a:p>
            <a:pPr marL="0" indent="0">
              <a:buNone/>
            </a:pPr>
            <a:r>
              <a:rPr lang="en-US" sz="1300" b="1" dirty="0">
                <a:solidFill>
                  <a:srgbClr val="8A6A52"/>
                </a:solidFill>
              </a:rPr>
              <a:t>The failure mode worth knowing</a:t>
            </a:r>
            <a:endParaRPr lang="en-US" sz="1300" dirty="0"/>
          </a:p>
        </p:txBody>
      </p:sp>
      <p:sp>
        <p:nvSpPr>
          <p:cNvPr id="26" name="Text 24"/>
          <p:cNvSpPr txBox="1"/>
          <p:nvPr/>
        </p:nvSpPr>
        <p:spPr>
          <a:xfrm>
            <a:off x="777240" y="4498848"/>
            <a:ext cx="5257800" cy="1280160"/>
          </a:xfrm>
          <a:prstGeom prst="rect">
            <a:avLst/>
          </a:prstGeom>
          <a:noFill/>
          <a:ln/>
        </p:spPr>
        <p:txBody>
          <a:bodyPr wrap="square" lIns="0" tIns="0" rIns="0" bIns="0" rtlCol="0" anchor="ctr"/>
          <a:lstStyle/>
          <a:p>
            <a:pPr marL="0" indent="0">
              <a:lnSpc>
                <a:spcPct val="118000"/>
              </a:lnSpc>
              <a:buNone/>
            </a:pPr>
            <a:r>
              <a:rPr lang="en-US" sz="1200" dirty="0">
                <a:solidFill>
                  <a:srgbClr val="7A5A3A"/>
                </a:solidFill>
              </a:rPr>
              <a:t>Embedding stored reports with one model and queries with another produces no error at all. Both vectors are valid, the distances compute, the results are nonsense. seed.py and app.py therefore call the same loader, and the schema's vector(384) is checked against the model's width at load time.</a:t>
            </a:r>
            <a:endParaRPr lang="en-US" sz="1200" dirty="0"/>
          </a:p>
        </p:txBody>
      </p:sp>
      <p:sp>
        <p:nvSpPr>
          <p:cNvPr id="27" name="off"/>
          <p:cNvSpPr/>
          <p:nvPr/>
        </p:nvSpPr>
        <p:spPr>
          <a:xfrm>
            <a:off x="6492240" y="4041648"/>
            <a:ext cx="5166360" cy="1920240"/>
          </a:xfrm>
          <a:prstGeom prst="roundRect">
            <a:avLst>
              <a:gd name="adj" fmla="val 4762"/>
            </a:avLst>
          </a:prstGeom>
          <a:solidFill>
            <a:srgbClr val="EEF4F5"/>
          </a:solidFill>
          <a:ln w="12700">
            <a:solidFill>
              <a:srgbClr val="EEF4F5"/>
            </a:solidFill>
            <a:prstDash val="solid"/>
          </a:ln>
        </p:spPr>
      </p:sp>
      <p:sp>
        <p:nvSpPr>
          <p:cNvPr id="28" name="Text 26"/>
          <p:cNvSpPr txBox="1"/>
          <p:nvPr/>
        </p:nvSpPr>
        <p:spPr>
          <a:xfrm>
            <a:off x="6748272" y="4206240"/>
            <a:ext cx="4663440" cy="274320"/>
          </a:xfrm>
          <a:prstGeom prst="rect">
            <a:avLst/>
          </a:prstGeom>
          <a:noFill/>
          <a:ln/>
        </p:spPr>
        <p:txBody>
          <a:bodyPr wrap="square" lIns="0" tIns="0" rIns="0" bIns="0" rtlCol="0" anchor="ctr"/>
          <a:lstStyle/>
          <a:p>
            <a:pPr marL="0" indent="0">
              <a:buNone/>
            </a:pPr>
            <a:r>
              <a:rPr lang="en-US" sz="1300" b="1" dirty="0">
                <a:solidFill>
                  <a:srgbClr val="0E7490"/>
                </a:solidFill>
              </a:rPr>
              <a:t>It works without the internet</a:t>
            </a:r>
            <a:endParaRPr lang="en-US" sz="1300" dirty="0"/>
          </a:p>
        </p:txBody>
      </p:sp>
      <p:sp>
        <p:nvSpPr>
          <p:cNvPr id="29" name="Text 27"/>
          <p:cNvSpPr txBox="1"/>
          <p:nvPr/>
        </p:nvSpPr>
        <p:spPr>
          <a:xfrm>
            <a:off x="6748272" y="4498848"/>
            <a:ext cx="4663440" cy="1316736"/>
          </a:xfrm>
          <a:prstGeom prst="rect">
            <a:avLst/>
          </a:prstGeom>
          <a:noFill/>
          <a:ln/>
        </p:spPr>
        <p:txBody>
          <a:bodyPr wrap="square" lIns="0" tIns="0" rIns="0" bIns="0" rtlCol="0" anchor="ctr"/>
          <a:lstStyle/>
          <a:p>
            <a:pPr marL="0" indent="0">
              <a:lnSpc>
                <a:spcPct val="118000"/>
              </a:lnSpc>
              <a:buNone/>
            </a:pPr>
            <a:r>
              <a:rPr lang="en-US" sz="1200" dirty="0">
                <a:solidFill>
                  <a:srgbClr val="35505A"/>
                </a:solidFill>
              </a:rPr>
              <a:t>If the model cannot be downloaded, seed.py falls back to a deterministic lexical embedder: synonym-folded bag of words, IDF-weighted, same 384 dimensions, same index, same queries. It returns the correct failure mode on all five test symptoms. The demo cannot be taken down by the venue's wifi.</a:t>
            </a:r>
            <a:endParaRPr lang="en-US" sz="1200" dirty="0"/>
          </a:p>
        </p:txBody>
      </p:sp>
      <p:sp>
        <p:nvSpPr>
          <p:cNvPr id="31"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endParaRPr lang="en-US" sz="3000" dirty="0"/>
          </a:p>
        </p:txBody>
      </p:sp>
      <p:sp>
        <p:nvSpPr>
          <p:cNvPr id="32"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endParaRPr lang="en-US" sz="1350" dirty="0"/>
          </a:p>
        </p:txBody>
      </p:sp>
      <p:sp>
        <p:nvSpPr>
          <p:cNvPr id="30"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Measured, not estimated</a:t>
            </a: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r>
              <a:rPr lang="en-US" sz="1350" dirty="0">
                <a:solidFill>
                  <a:srgbClr val="67718A"/>
                </a:solidFill>
              </a:rPr>
              <a:t>Baseline is the identical rows in one unpartitioned heap, no indexes. Median of 7 runs, 5,090,501 readings — figures read live from benchmark_results.csv.</a:t>
            </a:r>
            <a:endParaRPr lang="en-US" sz="1350" dirty="0"/>
          </a:p>
        </p:txBody>
      </p:sp>
      <p:graphicFrame>
        <p:nvGraphicFramePr>
          <p:cNvPr id="4" name="Chart 0"/>
          <p:cNvGraphicFramePr/>
          <p:nvPr/>
        </p:nvGraphicFramePr>
        <p:xfrm>
          <a:off x="502920" y="1499616"/>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635240" y="1499616"/>
            <a:ext cx="4023360" cy="237744"/>
          </a:xfrm>
          <a:prstGeom prst="rect">
            <a:avLst/>
          </a:prstGeom>
          <a:noFill/>
          <a:ln/>
        </p:spPr>
        <p:txBody>
          <a:bodyPr wrap="square" lIns="0" tIns="0" rIns="0" bIns="0" rtlCol="0" anchor="ctr"/>
          <a:lstStyle/>
          <a:p>
            <a:pPr marL="0" indent="0">
              <a:buNone/>
            </a:pPr>
            <a:r>
              <a:rPr lang="en-US" sz="1050" b="1" kern="0" spc="140" dirty="0">
                <a:solidFill>
                  <a:srgbClr val="67718A"/>
                </a:solidFill>
              </a:rPr>
              <a:t>RAW TIMINGS</a:t>
            </a:r>
            <a:endParaRPr lang="en-US" sz="1050" dirty="0"/>
          </a:p>
        </p:txBody>
      </p:sp>
      <p:sp>
        <p:nvSpPr>
          <p:cNvPr id="6" name="Text 3"/>
          <p:cNvSpPr txBox="1"/>
          <p:nvPr/>
        </p:nvSpPr>
        <p:spPr>
          <a:xfrm>
            <a:off x="9921240" y="1773936"/>
            <a:ext cx="868680" cy="219456"/>
          </a:xfrm>
          <a:prstGeom prst="rect">
            <a:avLst/>
          </a:prstGeom>
          <a:noFill/>
          <a:ln/>
        </p:spPr>
        <p:txBody>
          <a:bodyPr wrap="square" lIns="0" tIns="0" rIns="0" bIns="0" rtlCol="0" anchor="ctr"/>
          <a:lstStyle/>
          <a:p>
            <a:pPr marL="0" indent="0" algn="r">
              <a:buNone/>
            </a:pPr>
            <a:r>
              <a:rPr lang="en-US" sz="950" dirty="0">
                <a:solidFill>
                  <a:srgbClr val="67718A"/>
                </a:solidFill>
              </a:rPr>
              <a:t>baseline</a:t>
            </a:r>
            <a:endParaRPr lang="en-US" sz="950" dirty="0"/>
          </a:p>
        </p:txBody>
      </p:sp>
      <p:sp>
        <p:nvSpPr>
          <p:cNvPr id="7" name="Text 4"/>
          <p:cNvSpPr txBox="1"/>
          <p:nvPr/>
        </p:nvSpPr>
        <p:spPr>
          <a:xfrm>
            <a:off x="10835640" y="1773936"/>
            <a:ext cx="713232" cy="219456"/>
          </a:xfrm>
          <a:prstGeom prst="rect">
            <a:avLst/>
          </a:prstGeom>
          <a:noFill/>
          <a:ln/>
        </p:spPr>
        <p:txBody>
          <a:bodyPr wrap="square" lIns="0" tIns="0" rIns="0" bIns="0" rtlCol="0" anchor="ctr"/>
          <a:lstStyle/>
          <a:p>
            <a:pPr marL="0" indent="0" algn="r">
              <a:buNone/>
            </a:pPr>
            <a:r>
              <a:rPr lang="en-US" sz="950" dirty="0">
                <a:solidFill>
                  <a:srgbClr val="E07A1F"/>
                </a:solidFill>
              </a:rPr>
              <a:t>optimised</a:t>
            </a:r>
            <a:endParaRPr lang="en-US" sz="950" dirty="0"/>
          </a:p>
        </p:txBody>
      </p:sp>
      <p:sp>
        <p:nvSpPr>
          <p:cNvPr id="8" name="rt0"/>
          <p:cNvSpPr/>
          <p:nvPr/>
        </p:nvSpPr>
        <p:spPr>
          <a:xfrm>
            <a:off x="7635240" y="1993392"/>
            <a:ext cx="4023360" cy="475488"/>
          </a:xfrm>
          <a:prstGeom prst="rect">
            <a:avLst/>
          </a:prstGeom>
          <a:solidFill>
            <a:srgbClr val="F7F8FA"/>
          </a:solidFill>
          <a:ln/>
        </p:spPr>
      </p:sp>
      <p:sp>
        <p:nvSpPr>
          <p:cNvPr id="9" name="Text 6"/>
          <p:cNvSpPr txBox="1"/>
          <p:nvPr/>
        </p:nvSpPr>
        <p:spPr>
          <a:xfrm>
            <a:off x="7744968" y="2048256"/>
            <a:ext cx="2286000" cy="365760"/>
          </a:xfrm>
          <a:prstGeom prst="rect">
            <a:avLst/>
          </a:prstGeom>
          <a:noFill/>
          <a:ln/>
        </p:spPr>
        <p:txBody>
          <a:bodyPr wrap="square" lIns="0" tIns="0" rIns="0" bIns="0" rtlCol="0" anchor="ctr"/>
          <a:lstStyle/>
          <a:p>
            <a:pPr marL="0" indent="0">
              <a:lnSpc>
                <a:spcPct val="100000"/>
              </a:lnSpc>
              <a:buNone/>
            </a:pPr>
            <a:r>
              <a:rPr lang="en-US" sz="1000" dirty="0">
                <a:solidFill>
                  <a:srgbClr val="11151C"/>
                </a:solidFill>
              </a:rPr>
              <a:t>Avg temp, 1 machine, last 24h</a:t>
            </a:r>
            <a:endParaRPr lang="en-US" sz="1000" dirty="0"/>
          </a:p>
        </p:txBody>
      </p:sp>
      <p:sp>
        <p:nvSpPr>
          <p:cNvPr id="10" name="Text 7"/>
          <p:cNvSpPr txBox="1"/>
          <p:nvPr/>
        </p:nvSpPr>
        <p:spPr>
          <a:xfrm>
            <a:off x="9921240" y="2048256"/>
            <a:ext cx="868680" cy="365760"/>
          </a:xfrm>
          <a:prstGeom prst="rect">
            <a:avLst/>
          </a:prstGeom>
          <a:noFill/>
          <a:ln/>
        </p:spPr>
        <p:txBody>
          <a:bodyPr wrap="square" lIns="0" tIns="0" rIns="0" bIns="0" rtlCol="0" anchor="ctr"/>
          <a:lstStyle/>
          <a:p>
            <a:pPr marL="0" indent="0" algn="r">
              <a:buNone/>
            </a:pPr>
            <a:r>
              <a:rPr lang="en-US" sz="1050" dirty="0">
                <a:solidFill>
                  <a:srgbClr val="67718A"/>
                </a:solidFill>
              </a:rPr>
              <a:t>236.3 ms</a:t>
            </a:r>
            <a:endParaRPr lang="en-US" sz="1050" dirty="0"/>
          </a:p>
        </p:txBody>
      </p:sp>
      <p:sp>
        <p:nvSpPr>
          <p:cNvPr id="11" name="Text 8"/>
          <p:cNvSpPr txBox="1"/>
          <p:nvPr/>
        </p:nvSpPr>
        <p:spPr>
          <a:xfrm>
            <a:off x="10835640" y="2048256"/>
            <a:ext cx="713232" cy="365760"/>
          </a:xfrm>
          <a:prstGeom prst="rect">
            <a:avLst/>
          </a:prstGeom>
          <a:noFill/>
          <a:ln/>
        </p:spPr>
        <p:txBody>
          <a:bodyPr wrap="square" lIns="0" tIns="0" rIns="0" bIns="0" rtlCol="0" anchor="ctr"/>
          <a:lstStyle/>
          <a:p>
            <a:pPr marL="0" indent="0" algn="r">
              <a:buNone/>
            </a:pPr>
            <a:r>
              <a:rPr lang="en-US" sz="1050" b="1" dirty="0">
                <a:solidFill>
                  <a:srgbClr val="E07A1F"/>
                </a:solidFill>
              </a:rPr>
              <a:t>3.23 ms</a:t>
            </a:r>
            <a:endParaRPr lang="en-US" sz="1050" dirty="0"/>
          </a:p>
        </p:txBody>
      </p:sp>
      <p:sp>
        <p:nvSpPr>
          <p:cNvPr id="12" name="Text 9"/>
          <p:cNvSpPr txBox="1"/>
          <p:nvPr/>
        </p:nvSpPr>
        <p:spPr>
          <a:xfrm>
            <a:off x="7744968" y="2560320"/>
            <a:ext cx="2286000" cy="365760"/>
          </a:xfrm>
          <a:prstGeom prst="rect">
            <a:avLst/>
          </a:prstGeom>
          <a:noFill/>
          <a:ln/>
        </p:spPr>
        <p:txBody>
          <a:bodyPr wrap="square" lIns="0" tIns="0" rIns="0" bIns="0" rtlCol="0" anchor="ctr"/>
          <a:lstStyle/>
          <a:p>
            <a:pPr marL="0" indent="0">
              <a:lnSpc>
                <a:spcPct val="100000"/>
              </a:lnSpc>
              <a:buNone/>
            </a:pPr>
            <a:r>
              <a:rPr lang="en-US" sz="1000" dirty="0">
                <a:solidFill>
                  <a:srgbClr val="11151C"/>
                </a:solidFill>
              </a:rPr>
              <a:t>Daily averages, all machines, 30 days</a:t>
            </a:r>
            <a:endParaRPr lang="en-US" sz="1000" dirty="0"/>
          </a:p>
        </p:txBody>
      </p:sp>
      <p:sp>
        <p:nvSpPr>
          <p:cNvPr id="13" name="Text 10"/>
          <p:cNvSpPr txBox="1"/>
          <p:nvPr/>
        </p:nvSpPr>
        <p:spPr>
          <a:xfrm>
            <a:off x="9921240" y="2560320"/>
            <a:ext cx="868680" cy="365760"/>
          </a:xfrm>
          <a:prstGeom prst="rect">
            <a:avLst/>
          </a:prstGeom>
          <a:noFill/>
          <a:ln/>
        </p:spPr>
        <p:txBody>
          <a:bodyPr wrap="square" lIns="0" tIns="0" rIns="0" bIns="0" rtlCol="0" anchor="ctr"/>
          <a:lstStyle/>
          <a:p>
            <a:pPr marL="0" indent="0" algn="r">
              <a:buNone/>
            </a:pPr>
            <a:r>
              <a:rPr lang="en-US" sz="1050" dirty="0">
                <a:solidFill>
                  <a:srgbClr val="67718A"/>
                </a:solidFill>
              </a:rPr>
              <a:t>1253.2 ms</a:t>
            </a:r>
            <a:endParaRPr lang="en-US" sz="1050" dirty="0"/>
          </a:p>
        </p:txBody>
      </p:sp>
      <p:sp>
        <p:nvSpPr>
          <p:cNvPr id="14" name="Text 11"/>
          <p:cNvSpPr txBox="1"/>
          <p:nvPr/>
        </p:nvSpPr>
        <p:spPr>
          <a:xfrm>
            <a:off x="10835640" y="2560320"/>
            <a:ext cx="713232" cy="365760"/>
          </a:xfrm>
          <a:prstGeom prst="rect">
            <a:avLst/>
          </a:prstGeom>
          <a:noFill/>
          <a:ln/>
        </p:spPr>
        <p:txBody>
          <a:bodyPr wrap="square" lIns="0" tIns="0" rIns="0" bIns="0" rtlCol="0" anchor="ctr"/>
          <a:lstStyle/>
          <a:p>
            <a:pPr marL="0" indent="0" algn="r">
              <a:buNone/>
            </a:pPr>
            <a:r>
              <a:rPr lang="en-US" sz="1050" b="1" dirty="0">
                <a:solidFill>
                  <a:srgbClr val="E07A1F"/>
                </a:solidFill>
              </a:rPr>
              <a:t>44.92 ms</a:t>
            </a:r>
            <a:endParaRPr lang="en-US" sz="1050" dirty="0"/>
          </a:p>
        </p:txBody>
      </p:sp>
      <p:sp>
        <p:nvSpPr>
          <p:cNvPr id="15" name="rt2"/>
          <p:cNvSpPr/>
          <p:nvPr/>
        </p:nvSpPr>
        <p:spPr>
          <a:xfrm>
            <a:off x="7635240" y="3017520"/>
            <a:ext cx="4023360" cy="475488"/>
          </a:xfrm>
          <a:prstGeom prst="rect">
            <a:avLst/>
          </a:prstGeom>
          <a:solidFill>
            <a:srgbClr val="F7F8FA"/>
          </a:solidFill>
          <a:ln/>
        </p:spPr>
      </p:sp>
      <p:sp>
        <p:nvSpPr>
          <p:cNvPr id="16" name="Text 13"/>
          <p:cNvSpPr txBox="1"/>
          <p:nvPr/>
        </p:nvSpPr>
        <p:spPr>
          <a:xfrm>
            <a:off x="7744968" y="3072384"/>
            <a:ext cx="2286000" cy="365760"/>
          </a:xfrm>
          <a:prstGeom prst="rect">
            <a:avLst/>
          </a:prstGeom>
          <a:noFill/>
          <a:ln/>
        </p:spPr>
        <p:txBody>
          <a:bodyPr wrap="square" lIns="0" tIns="0" rIns="0" bIns="0" rtlCol="0" anchor="ctr"/>
          <a:lstStyle/>
          <a:p>
            <a:pPr marL="0" indent="0">
              <a:lnSpc>
                <a:spcPct val="100000"/>
              </a:lnSpc>
              <a:buNone/>
            </a:pPr>
            <a:r>
              <a:rPr lang="en-US" sz="1000" dirty="0">
                <a:solidFill>
                  <a:srgbClr val="11151C"/>
                </a:solidFill>
              </a:rPr>
              <a:t>Readings above threshold, 1-hour window</a:t>
            </a:r>
            <a:endParaRPr lang="en-US" sz="1000" dirty="0"/>
          </a:p>
        </p:txBody>
      </p:sp>
      <p:sp>
        <p:nvSpPr>
          <p:cNvPr id="17" name="Text 14"/>
          <p:cNvSpPr txBox="1"/>
          <p:nvPr/>
        </p:nvSpPr>
        <p:spPr>
          <a:xfrm>
            <a:off x="9921240" y="3072384"/>
            <a:ext cx="868680" cy="365760"/>
          </a:xfrm>
          <a:prstGeom prst="rect">
            <a:avLst/>
          </a:prstGeom>
          <a:noFill/>
          <a:ln/>
        </p:spPr>
        <p:txBody>
          <a:bodyPr wrap="square" lIns="0" tIns="0" rIns="0" bIns="0" rtlCol="0" anchor="ctr"/>
          <a:lstStyle/>
          <a:p>
            <a:pPr marL="0" indent="0" algn="r">
              <a:buNone/>
            </a:pPr>
            <a:r>
              <a:rPr lang="en-US" sz="1050" dirty="0">
                <a:solidFill>
                  <a:srgbClr val="67718A"/>
                </a:solidFill>
              </a:rPr>
              <a:t>252.9 ms</a:t>
            </a:r>
            <a:endParaRPr lang="en-US" sz="1050" dirty="0"/>
          </a:p>
        </p:txBody>
      </p:sp>
      <p:sp>
        <p:nvSpPr>
          <p:cNvPr id="18" name="Text 15"/>
          <p:cNvSpPr txBox="1"/>
          <p:nvPr/>
        </p:nvSpPr>
        <p:spPr>
          <a:xfrm>
            <a:off x="10835640" y="3072384"/>
            <a:ext cx="713232" cy="365760"/>
          </a:xfrm>
          <a:prstGeom prst="rect">
            <a:avLst/>
          </a:prstGeom>
          <a:noFill/>
          <a:ln/>
        </p:spPr>
        <p:txBody>
          <a:bodyPr wrap="square" lIns="0" tIns="0" rIns="0" bIns="0" rtlCol="0" anchor="ctr"/>
          <a:lstStyle/>
          <a:p>
            <a:pPr marL="0" indent="0" algn="r">
              <a:buNone/>
            </a:pPr>
            <a:r>
              <a:rPr lang="en-US" sz="1050" b="1" dirty="0">
                <a:solidFill>
                  <a:srgbClr val="E07A1F"/>
                </a:solidFill>
              </a:rPr>
              <a:t>57.01 ms</a:t>
            </a:r>
            <a:endParaRPr lang="en-US" sz="1050" dirty="0"/>
          </a:p>
        </p:txBody>
      </p:sp>
      <p:sp>
        <p:nvSpPr>
          <p:cNvPr id="19" name="Text 16"/>
          <p:cNvSpPr txBox="1"/>
          <p:nvPr/>
        </p:nvSpPr>
        <p:spPr>
          <a:xfrm>
            <a:off x="7744968" y="3584448"/>
            <a:ext cx="2286000" cy="365760"/>
          </a:xfrm>
          <a:prstGeom prst="rect">
            <a:avLst/>
          </a:prstGeom>
          <a:noFill/>
          <a:ln/>
        </p:spPr>
        <p:txBody>
          <a:bodyPr wrap="square" lIns="0" tIns="0" rIns="0" bIns="0" rtlCol="0" anchor="ctr"/>
          <a:lstStyle/>
          <a:p>
            <a:pPr marL="0" indent="0">
              <a:lnSpc>
                <a:spcPct val="100000"/>
              </a:lnSpc>
              <a:buNone/>
            </a:pPr>
            <a:r>
              <a:rPr lang="en-US" sz="1000" dirty="0">
                <a:solidFill>
                  <a:srgbClr val="11151C"/>
                </a:solidFill>
              </a:rPr>
              <a:t>Similar-report search, 20k vectors</a:t>
            </a:r>
            <a:endParaRPr lang="en-US" sz="1000" dirty="0"/>
          </a:p>
        </p:txBody>
      </p:sp>
      <p:sp>
        <p:nvSpPr>
          <p:cNvPr id="20" name="Text 17"/>
          <p:cNvSpPr txBox="1"/>
          <p:nvPr/>
        </p:nvSpPr>
        <p:spPr>
          <a:xfrm>
            <a:off x="9921240" y="3584448"/>
            <a:ext cx="868680" cy="365760"/>
          </a:xfrm>
          <a:prstGeom prst="rect">
            <a:avLst/>
          </a:prstGeom>
          <a:noFill/>
          <a:ln/>
        </p:spPr>
        <p:txBody>
          <a:bodyPr wrap="square" lIns="0" tIns="0" rIns="0" bIns="0" rtlCol="0" anchor="ctr"/>
          <a:lstStyle/>
          <a:p>
            <a:pPr marL="0" indent="0" algn="r">
              <a:buNone/>
            </a:pPr>
            <a:r>
              <a:rPr lang="en-US" sz="1050" dirty="0">
                <a:solidFill>
                  <a:srgbClr val="67718A"/>
                </a:solidFill>
              </a:rPr>
              <a:t>15.5 ms</a:t>
            </a:r>
            <a:endParaRPr lang="en-US" sz="1050" dirty="0"/>
          </a:p>
        </p:txBody>
      </p:sp>
      <p:sp>
        <p:nvSpPr>
          <p:cNvPr id="21" name="Text 18"/>
          <p:cNvSpPr txBox="1"/>
          <p:nvPr/>
        </p:nvSpPr>
        <p:spPr>
          <a:xfrm>
            <a:off x="10835640" y="3584448"/>
            <a:ext cx="713232" cy="365760"/>
          </a:xfrm>
          <a:prstGeom prst="rect">
            <a:avLst/>
          </a:prstGeom>
          <a:noFill/>
          <a:ln/>
        </p:spPr>
        <p:txBody>
          <a:bodyPr wrap="square" lIns="0" tIns="0" rIns="0" bIns="0" rtlCol="0" anchor="ctr"/>
          <a:lstStyle/>
          <a:p>
            <a:pPr marL="0" indent="0" algn="r">
              <a:buNone/>
            </a:pPr>
            <a:r>
              <a:rPr lang="en-US" sz="1050" b="1" dirty="0">
                <a:solidFill>
                  <a:srgbClr val="E07A1F"/>
                </a:solidFill>
              </a:rPr>
              <a:t>2.13 ms</a:t>
            </a:r>
            <a:endParaRPr lang="en-US" sz="1050" dirty="0"/>
          </a:p>
        </p:txBody>
      </p:sp>
      <p:sp>
        <p:nvSpPr>
          <p:cNvPr id="22" name="roll"/>
          <p:cNvSpPr/>
          <p:nvPr/>
        </p:nvSpPr>
        <p:spPr>
          <a:xfrm>
            <a:off x="7635240" y="4224528"/>
            <a:ext cx="4023360" cy="841248"/>
          </a:xfrm>
          <a:prstGeom prst="roundRect">
            <a:avLst>
              <a:gd name="adj" fmla="val 10870"/>
            </a:avLst>
          </a:prstGeom>
          <a:solidFill>
            <a:srgbClr val="EEF4F5"/>
          </a:solidFill>
          <a:ln w="12700">
            <a:solidFill>
              <a:srgbClr val="EEF4F5"/>
            </a:solidFill>
            <a:prstDash val="solid"/>
          </a:ln>
        </p:spPr>
      </p:sp>
      <p:sp>
        <p:nvSpPr>
          <p:cNvPr id="23" name="Text 20"/>
          <p:cNvSpPr txBox="1"/>
          <p:nvPr/>
        </p:nvSpPr>
        <p:spPr>
          <a:xfrm>
            <a:off x="7818120" y="4370832"/>
            <a:ext cx="3657600" cy="548640"/>
          </a:xfrm>
          <a:prstGeom prst="rect">
            <a:avLst/>
          </a:prstGeom>
          <a:noFill/>
          <a:ln/>
        </p:spPr>
        <p:txBody>
          <a:bodyPr wrap="square" lIns="0" tIns="0" rIns="0" bIns="0" rtlCol="0" anchor="ctr"/>
          <a:lstStyle/>
          <a:p>
            <a:pPr marL="0" indent="0">
              <a:lnSpc>
                <a:spcPct val="115000"/>
              </a:lnSpc>
              <a:buNone/>
            </a:pPr>
            <a:r>
              <a:rPr lang="en-US" sz="1600" b="1" dirty="0">
                <a:solidFill>
                  <a:srgbClr val="0E7490"/>
                </a:solidFill>
              </a:rPr>
              <a:t>10 MB</a:t>
            </a:r>
            <a:r>
              <a:rPr lang="en-US" sz="1150" dirty="0">
                <a:solidFill>
                  <a:srgbClr val="35505A"/>
                </a:solidFill>
              </a:rPr>
              <a:t>  answers the 30-day question that would otherwise scan </a:t>
            </a:r>
            <a:r>
              <a:rPr lang="en-US" sz="1150" b="1" dirty="0">
                <a:solidFill>
                  <a:srgbClr val="0E7490"/>
                </a:solidFill>
              </a:rPr>
              <a:t>551 MB</a:t>
            </a:r>
            <a:endParaRPr lang="en-US" sz="1150" dirty="0"/>
          </a:p>
        </p:txBody>
      </p:sp>
      <p:sp>
        <p:nvSpPr>
          <p:cNvPr id="24" name="cost"/>
          <p:cNvSpPr/>
          <p:nvPr/>
        </p:nvSpPr>
        <p:spPr>
          <a:xfrm>
            <a:off x="502920" y="5248656"/>
            <a:ext cx="11155680" cy="950976"/>
          </a:xfrm>
          <a:prstGeom prst="roundRect">
            <a:avLst>
              <a:gd name="adj" fmla="val 9615"/>
            </a:avLst>
          </a:prstGeom>
          <a:solidFill>
            <a:srgbClr val="FDF6EE"/>
          </a:solidFill>
          <a:ln w="12700">
            <a:solidFill>
              <a:srgbClr val="FDF6EE"/>
            </a:solidFill>
            <a:prstDash val="solid"/>
          </a:ln>
        </p:spPr>
      </p:sp>
      <p:sp>
        <p:nvSpPr>
          <p:cNvPr id="25" name="Text 22"/>
          <p:cNvSpPr txBox="1"/>
          <p:nvPr/>
        </p:nvSpPr>
        <p:spPr>
          <a:xfrm>
            <a:off x="822960" y="5413248"/>
            <a:ext cx="10515600" cy="640080"/>
          </a:xfrm>
          <a:prstGeom prst="rect">
            <a:avLst/>
          </a:prstGeom>
          <a:noFill/>
          <a:ln/>
        </p:spPr>
        <p:txBody>
          <a:bodyPr wrap="square" lIns="0" tIns="0" rIns="0" bIns="0" rtlCol="0" anchor="ctr"/>
          <a:lstStyle/>
          <a:p>
            <a:pPr marL="0" indent="0">
              <a:lnSpc>
                <a:spcPct val="115000"/>
              </a:lnSpc>
              <a:buNone/>
            </a:pPr>
            <a:r>
              <a:rPr lang="en-US" sz="1250" b="1" dirty="0">
                <a:solidFill>
                  <a:srgbClr val="8A6A52"/>
                </a:solidFill>
              </a:rPr>
              <a:t>The cost, stated plainly:  </a:t>
            </a:r>
            <a:r>
              <a:rPr lang="en-US" sz="1250" dirty="0">
                <a:solidFill>
                  <a:srgbClr val="7A5A3A"/>
                </a:solidFill>
              </a:rPr>
              <a:t>the optimised table occupies 551 MB against the baseline's 293 MB. The indexes are 88% more storage. That is the deal we are making — disk is cheap, the operator waiting on a dashboard is not.</a:t>
            </a:r>
            <a:endParaRPr lang="en-US" sz="1250" dirty="0"/>
          </a:p>
        </p:txBody>
      </p:sp>
      <p:sp>
        <p:nvSpPr>
          <p:cNvPr id="26"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11155680" cy="749808"/>
          </a:xfrm>
          <a:prstGeom prst="rect">
            <a:avLst/>
          </a:prstGeom>
          <a:noFill/>
          <a:ln/>
        </p:spPr>
        <p:txBody>
          <a:bodyPr wrap="square" lIns="0" tIns="0" rIns="0" bIns="0" rtlCol="0" anchor="ctr"/>
          <a:lstStyle/>
          <a:p>
            <a:pPr marL="0" indent="0" algn="l">
              <a:buNone/>
            </a:pPr>
            <a:r>
              <a:rPr lang="en-US" sz="3000" b="1" dirty="0">
                <a:solidFill>
                  <a:schemeClr val="tx1"/>
                </a:solidFill>
                <a:latin typeface="Cambria" pitchFamily="34" charset="0"/>
                <a:ea typeface="Cambria" pitchFamily="34" charset="-122"/>
                <a:cs typeface="Cambria" pitchFamily="34" charset="-120"/>
              </a:rPr>
              <a:t>What we got wrong, and fixed</a:t>
            </a:r>
            <a:endParaRPr lang="en-US" sz="3000" dirty="0"/>
          </a:p>
        </p:txBody>
      </p:sp>
      <p:sp>
        <p:nvSpPr>
          <p:cNvPr id="3" name="Text 0"/>
          <p:cNvSpPr>
            <a:spLocks noGrp="1"/>
          </p:cNvSpPr>
          <p:nvPr>
            <p:ph type="body" idx="101" hasCustomPrompt="1"/>
          </p:nvPr>
        </p:nvSpPr>
        <p:spPr>
          <a:xfrm>
            <a:off x="502920" y="1078992"/>
            <a:ext cx="11155680" cy="310896"/>
          </a:xfrm>
          <a:prstGeom prst="rect">
            <a:avLst/>
          </a:prstGeom>
          <a:noFill/>
          <a:ln/>
        </p:spPr>
        <p:txBody>
          <a:bodyPr wrap="square" lIns="0" tIns="0" rIns="0" bIns="0" rtlCol="0"/>
          <a:lstStyle/>
          <a:p>
            <a:pPr marL="0" indent="0" algn="l">
              <a:buNone/>
            </a:pPr>
            <a:r>
              <a:rPr lang="en-US" sz="1350" dirty="0">
                <a:solidFill>
                  <a:srgbClr val="67718A"/>
                </a:solidFill>
              </a:rPr>
              <a:t>Three findings from testing against a live database rather than reasoning about it.</a:t>
            </a:r>
            <a:endParaRPr lang="en-US" sz="1350" dirty="0"/>
          </a:p>
        </p:txBody>
      </p:sp>
      <p:sp>
        <p:nvSpPr>
          <p:cNvPr id="4" name="f0"/>
          <p:cNvSpPr/>
          <p:nvPr/>
        </p:nvSpPr>
        <p:spPr>
          <a:xfrm>
            <a:off x="502920" y="1517904"/>
            <a:ext cx="3529584" cy="4160520"/>
          </a:xfrm>
          <a:prstGeom prst="roundRect">
            <a:avLst>
              <a:gd name="adj" fmla="val 2591"/>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5" name="fd0"/>
          <p:cNvSpPr/>
          <p:nvPr/>
        </p:nvSpPr>
        <p:spPr>
          <a:xfrm>
            <a:off x="758952" y="1755648"/>
            <a:ext cx="146304" cy="146304"/>
          </a:xfrm>
          <a:prstGeom prst="ellipse">
            <a:avLst/>
          </a:prstGeom>
          <a:solidFill>
            <a:srgbClr val="E07A1F"/>
          </a:solidFill>
          <a:ln/>
        </p:spPr>
      </p:sp>
      <p:sp>
        <p:nvSpPr>
          <p:cNvPr id="6" name="Text 4"/>
          <p:cNvSpPr txBox="1"/>
          <p:nvPr/>
        </p:nvSpPr>
        <p:spPr>
          <a:xfrm>
            <a:off x="758952" y="1993392"/>
            <a:ext cx="3017520" cy="603504"/>
          </a:xfrm>
          <a:prstGeom prst="rect">
            <a:avLst/>
          </a:prstGeom>
          <a:noFill/>
          <a:ln/>
        </p:spPr>
        <p:txBody>
          <a:bodyPr wrap="square" lIns="0" tIns="0" rIns="0" bIns="0" rtlCol="0" anchor="t"/>
          <a:lstStyle/>
          <a:p>
            <a:pPr marL="0" indent="0">
              <a:lnSpc>
                <a:spcPct val="106000"/>
              </a:lnSpc>
              <a:buNone/>
            </a:pPr>
            <a:r>
              <a:rPr lang="en-US" sz="1450" b="1" dirty="0">
                <a:solidFill>
                  <a:srgbClr val="11151C"/>
                </a:solidFill>
              </a:rPr>
              <a:t>A z-score alone raised a false positive</a:t>
            </a:r>
            <a:endParaRPr lang="en-US" sz="1450" dirty="0"/>
          </a:p>
        </p:txBody>
      </p:sp>
      <p:sp>
        <p:nvSpPr>
          <p:cNvPr id="7" name="Text 5"/>
          <p:cNvSpPr txBox="1"/>
          <p:nvPr/>
        </p:nvSpPr>
        <p:spPr>
          <a:xfrm>
            <a:off x="758952" y="2651760"/>
            <a:ext cx="3017520" cy="1371600"/>
          </a:xfrm>
          <a:prstGeom prst="rect">
            <a:avLst/>
          </a:prstGeom>
          <a:noFill/>
          <a:ln/>
        </p:spPr>
        <p:txBody>
          <a:bodyPr wrap="square" lIns="0" tIns="0" rIns="0" bIns="0" rtlCol="0" anchor="ctr"/>
          <a:lstStyle/>
          <a:p>
            <a:pPr marL="0" indent="0">
              <a:lnSpc>
                <a:spcPct val="118000"/>
              </a:lnSpc>
              <a:buNone/>
            </a:pPr>
            <a:r>
              <a:rPr lang="en-US" sz="1150" dirty="0">
                <a:solidFill>
                  <a:srgbClr val="55617A"/>
                </a:solidFill>
              </a:rPr>
              <a:t>On a machine whose hourly average varies by 0.1 K, a 0.3 K drift crosses z &gt; 3. Testing surfaced exactly one such alert at z = 3.0, alongside the three real ones.</a:t>
            </a:r>
            <a:endParaRPr lang="en-US" sz="1150" dirty="0"/>
          </a:p>
        </p:txBody>
      </p:sp>
      <p:sp>
        <p:nvSpPr>
          <p:cNvPr id="8" name="fx0"/>
          <p:cNvSpPr/>
          <p:nvPr/>
        </p:nvSpPr>
        <p:spPr>
          <a:xfrm>
            <a:off x="758952" y="4041648"/>
            <a:ext cx="3017520" cy="1481328"/>
          </a:xfrm>
          <a:prstGeom prst="roundRect">
            <a:avLst>
              <a:gd name="adj" fmla="val 4321"/>
            </a:avLst>
          </a:prstGeom>
          <a:solidFill>
            <a:srgbClr val="FFFFFF"/>
          </a:solidFill>
          <a:ln w="12700">
            <a:solidFill>
              <a:srgbClr val="E07A1F"/>
            </a:solidFill>
            <a:prstDash val="solid"/>
          </a:ln>
        </p:spPr>
      </p:sp>
      <p:sp>
        <p:nvSpPr>
          <p:cNvPr id="9" name="Text 7"/>
          <p:cNvSpPr txBox="1"/>
          <p:nvPr/>
        </p:nvSpPr>
        <p:spPr>
          <a:xfrm>
            <a:off x="905256" y="4151376"/>
            <a:ext cx="1097280" cy="219456"/>
          </a:xfrm>
          <a:prstGeom prst="rect">
            <a:avLst/>
          </a:prstGeom>
          <a:noFill/>
          <a:ln/>
        </p:spPr>
        <p:txBody>
          <a:bodyPr wrap="square" lIns="0" tIns="0" rIns="0" bIns="0" rtlCol="0" anchor="ctr"/>
          <a:lstStyle/>
          <a:p>
            <a:pPr marL="0" indent="0">
              <a:buNone/>
            </a:pPr>
            <a:r>
              <a:rPr lang="en-US" sz="900" b="1" kern="0" spc="120" dirty="0">
                <a:solidFill>
                  <a:srgbClr val="E07A1F"/>
                </a:solidFill>
              </a:rPr>
              <a:t>FIXED</a:t>
            </a:r>
            <a:endParaRPr lang="en-US" sz="900" dirty="0"/>
          </a:p>
        </p:txBody>
      </p:sp>
      <p:sp>
        <p:nvSpPr>
          <p:cNvPr id="10" name="Text 8"/>
          <p:cNvSpPr txBox="1"/>
          <p:nvPr/>
        </p:nvSpPr>
        <p:spPr>
          <a:xfrm>
            <a:off x="905256" y="4389120"/>
            <a:ext cx="2724912" cy="1060704"/>
          </a:xfrm>
          <a:prstGeom prst="rect">
            <a:avLst/>
          </a:prstGeom>
          <a:noFill/>
          <a:ln/>
        </p:spPr>
        <p:txBody>
          <a:bodyPr wrap="square" lIns="0" tIns="0" rIns="0" bIns="0" rtlCol="0" anchor="ctr"/>
          <a:lstStyle/>
          <a:p>
            <a:pPr marL="0" indent="0">
              <a:lnSpc>
                <a:spcPct val="115000"/>
              </a:lnSpc>
              <a:buNone/>
            </a:pPr>
            <a:r>
              <a:rPr lang="en-US" sz="1100" dirty="0">
                <a:solidFill>
                  <a:srgbClr val="55617A"/>
                </a:solidFill>
              </a:rPr>
              <a:t>The query now requires an absolute rise of 1.0 K as well. Three injected anomalies, three detected, no false positives.</a:t>
            </a:r>
            <a:endParaRPr lang="en-US" sz="1100" dirty="0"/>
          </a:p>
        </p:txBody>
      </p:sp>
      <p:sp>
        <p:nvSpPr>
          <p:cNvPr id="11" name="f1"/>
          <p:cNvSpPr/>
          <p:nvPr/>
        </p:nvSpPr>
        <p:spPr>
          <a:xfrm>
            <a:off x="4315968" y="1517904"/>
            <a:ext cx="3529584" cy="4160520"/>
          </a:xfrm>
          <a:prstGeom prst="roundRect">
            <a:avLst>
              <a:gd name="adj" fmla="val 2591"/>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12" name="fd1"/>
          <p:cNvSpPr/>
          <p:nvPr/>
        </p:nvSpPr>
        <p:spPr>
          <a:xfrm>
            <a:off x="4572000" y="1755648"/>
            <a:ext cx="146304" cy="146304"/>
          </a:xfrm>
          <a:prstGeom prst="ellipse">
            <a:avLst/>
          </a:prstGeom>
          <a:solidFill>
            <a:srgbClr val="9D174D"/>
          </a:solidFill>
          <a:ln/>
        </p:spPr>
      </p:sp>
      <p:sp>
        <p:nvSpPr>
          <p:cNvPr id="13" name="Text 11"/>
          <p:cNvSpPr txBox="1"/>
          <p:nvPr/>
        </p:nvSpPr>
        <p:spPr>
          <a:xfrm>
            <a:off x="4572000" y="1993392"/>
            <a:ext cx="3017520" cy="603504"/>
          </a:xfrm>
          <a:prstGeom prst="rect">
            <a:avLst/>
          </a:prstGeom>
          <a:noFill/>
          <a:ln/>
        </p:spPr>
        <p:txBody>
          <a:bodyPr wrap="square" lIns="0" tIns="0" rIns="0" bIns="0" rtlCol="0" anchor="t"/>
          <a:lstStyle/>
          <a:p>
            <a:pPr marL="0" indent="0">
              <a:lnSpc>
                <a:spcPct val="106000"/>
              </a:lnSpc>
              <a:buNone/>
            </a:pPr>
            <a:r>
              <a:rPr lang="en-US" sz="1450" b="1" dirty="0">
                <a:solidFill>
                  <a:srgbClr val="11151C"/>
                </a:solidFill>
              </a:rPr>
              <a:t>The HNSW index is ignored on a small table</a:t>
            </a:r>
            <a:endParaRPr lang="en-US" sz="1450" dirty="0"/>
          </a:p>
        </p:txBody>
      </p:sp>
      <p:sp>
        <p:nvSpPr>
          <p:cNvPr id="14" name="Text 12"/>
          <p:cNvSpPr txBox="1"/>
          <p:nvPr/>
        </p:nvSpPr>
        <p:spPr>
          <a:xfrm>
            <a:off x="4572000" y="2651760"/>
            <a:ext cx="3017520" cy="1371600"/>
          </a:xfrm>
          <a:prstGeom prst="rect">
            <a:avLst/>
          </a:prstGeom>
          <a:noFill/>
          <a:ln/>
        </p:spPr>
        <p:txBody>
          <a:bodyPr wrap="square" lIns="0" tIns="0" rIns="0" bIns="0" rtlCol="0" anchor="ctr"/>
          <a:lstStyle/>
          <a:p>
            <a:pPr marL="0" indent="0">
              <a:lnSpc>
                <a:spcPct val="118000"/>
              </a:lnSpc>
              <a:buNone/>
            </a:pPr>
            <a:r>
              <a:rPr lang="en-US" sz="1150" dirty="0">
                <a:solidFill>
                  <a:srgbClr val="55617A"/>
                </a:solidFill>
              </a:rPr>
              <a:t>On a few hundred reports PostgreSQL picks a sequential scan — correctly, because scanning that many rows is cheaper than walking a graph index.</a:t>
            </a:r>
            <a:endParaRPr lang="en-US" sz="1150" dirty="0"/>
          </a:p>
        </p:txBody>
      </p:sp>
      <p:sp>
        <p:nvSpPr>
          <p:cNvPr id="15" name="fx1"/>
          <p:cNvSpPr/>
          <p:nvPr/>
        </p:nvSpPr>
        <p:spPr>
          <a:xfrm>
            <a:off x="4572000" y="4041648"/>
            <a:ext cx="3017520" cy="1481328"/>
          </a:xfrm>
          <a:prstGeom prst="roundRect">
            <a:avLst>
              <a:gd name="adj" fmla="val 4321"/>
            </a:avLst>
          </a:prstGeom>
          <a:solidFill>
            <a:srgbClr val="FFFFFF"/>
          </a:solidFill>
          <a:ln w="12700">
            <a:solidFill>
              <a:srgbClr val="9D174D"/>
            </a:solidFill>
            <a:prstDash val="solid"/>
          </a:ln>
        </p:spPr>
      </p:sp>
      <p:sp>
        <p:nvSpPr>
          <p:cNvPr id="16" name="Text 14"/>
          <p:cNvSpPr txBox="1"/>
          <p:nvPr/>
        </p:nvSpPr>
        <p:spPr>
          <a:xfrm>
            <a:off x="4718304" y="4151376"/>
            <a:ext cx="1097280" cy="219456"/>
          </a:xfrm>
          <a:prstGeom prst="rect">
            <a:avLst/>
          </a:prstGeom>
          <a:noFill/>
          <a:ln/>
        </p:spPr>
        <p:txBody>
          <a:bodyPr wrap="square" lIns="0" tIns="0" rIns="0" bIns="0" rtlCol="0" anchor="ctr"/>
          <a:lstStyle/>
          <a:p>
            <a:pPr marL="0" indent="0">
              <a:buNone/>
            </a:pPr>
            <a:r>
              <a:rPr lang="en-US" sz="900" b="1" kern="0" spc="120" dirty="0">
                <a:solidFill>
                  <a:srgbClr val="9D174D"/>
                </a:solidFill>
              </a:rPr>
              <a:t>FIXED</a:t>
            </a:r>
            <a:endParaRPr lang="en-US" sz="900" dirty="0"/>
          </a:p>
        </p:txBody>
      </p:sp>
      <p:sp>
        <p:nvSpPr>
          <p:cNvPr id="17" name="Text 15"/>
          <p:cNvSpPr txBox="1"/>
          <p:nvPr/>
        </p:nvSpPr>
        <p:spPr>
          <a:xfrm>
            <a:off x="4718304" y="4389120"/>
            <a:ext cx="2724912" cy="1060704"/>
          </a:xfrm>
          <a:prstGeom prst="rect">
            <a:avLst/>
          </a:prstGeom>
          <a:noFill/>
          <a:ln/>
        </p:spPr>
        <p:txBody>
          <a:bodyPr wrap="square" lIns="0" tIns="0" rIns="0" bIns="0" rtlCol="0" anchor="ctr"/>
          <a:lstStyle/>
          <a:p>
            <a:pPr marL="0" indent="0">
              <a:lnSpc>
                <a:spcPct val="115000"/>
              </a:lnSpc>
              <a:buNone/>
            </a:pPr>
            <a:r>
              <a:rPr lang="en-US" sz="1100" dirty="0">
                <a:solidFill>
                  <a:srgbClr val="55617A"/>
                </a:solidFill>
              </a:rPr>
              <a:t>The benchmark uses 20,000 vectors, where HNSW wins by the margin on the results slide. The test suite asserts the index is used there and records the sequential scan on the small table rather than hiding it.</a:t>
            </a:r>
            <a:endParaRPr lang="en-US" sz="1100" dirty="0"/>
          </a:p>
        </p:txBody>
      </p:sp>
      <p:sp>
        <p:nvSpPr>
          <p:cNvPr id="18" name="f2"/>
          <p:cNvSpPr/>
          <p:nvPr/>
        </p:nvSpPr>
        <p:spPr>
          <a:xfrm>
            <a:off x="8129016" y="1517904"/>
            <a:ext cx="3529584" cy="4160520"/>
          </a:xfrm>
          <a:prstGeom prst="roundRect">
            <a:avLst>
              <a:gd name="adj" fmla="val 2591"/>
            </a:avLst>
          </a:prstGeom>
          <a:solidFill>
            <a:srgbClr val="F2F4F6"/>
          </a:solidFill>
          <a:ln w="12700">
            <a:solidFill>
              <a:srgbClr val="F2F4F6"/>
            </a:solidFill>
            <a:prstDash val="solid"/>
          </a:ln>
          <a:effectLst>
            <a:outerShdw blurRad="88900" dist="17780" dir="5400000" algn="bl" rotWithShape="0">
              <a:srgbClr val="9AA3B2">
                <a:alpha val="16000"/>
              </a:srgbClr>
            </a:outerShdw>
          </a:effectLst>
        </p:spPr>
      </p:sp>
      <p:sp>
        <p:nvSpPr>
          <p:cNvPr id="19" name="fd2"/>
          <p:cNvSpPr/>
          <p:nvPr/>
        </p:nvSpPr>
        <p:spPr>
          <a:xfrm>
            <a:off x="8385048" y="1755648"/>
            <a:ext cx="146304" cy="146304"/>
          </a:xfrm>
          <a:prstGeom prst="ellipse">
            <a:avLst/>
          </a:prstGeom>
          <a:solidFill>
            <a:srgbClr val="0E7490"/>
          </a:solidFill>
          <a:ln/>
        </p:spPr>
      </p:sp>
      <p:sp>
        <p:nvSpPr>
          <p:cNvPr id="20" name="Text 18"/>
          <p:cNvSpPr txBox="1"/>
          <p:nvPr/>
        </p:nvSpPr>
        <p:spPr>
          <a:xfrm>
            <a:off x="8385048" y="1993392"/>
            <a:ext cx="3017520" cy="603504"/>
          </a:xfrm>
          <a:prstGeom prst="rect">
            <a:avLst/>
          </a:prstGeom>
          <a:noFill/>
          <a:ln/>
        </p:spPr>
        <p:txBody>
          <a:bodyPr wrap="square" lIns="0" tIns="0" rIns="0" bIns="0" rtlCol="0" anchor="t"/>
          <a:lstStyle/>
          <a:p>
            <a:pPr marL="0" indent="0">
              <a:lnSpc>
                <a:spcPct val="106000"/>
              </a:lnSpc>
              <a:buNone/>
            </a:pPr>
            <a:r>
              <a:rPr lang="en-US" sz="1450" b="1" dirty="0">
                <a:solidFill>
                  <a:srgbClr val="11151C"/>
                </a:solidFill>
              </a:rPr>
              <a:t>The demo decayed as the clock advanced</a:t>
            </a:r>
            <a:endParaRPr lang="en-US" sz="1450" dirty="0"/>
          </a:p>
        </p:txBody>
      </p:sp>
      <p:sp>
        <p:nvSpPr>
          <p:cNvPr id="21" name="Text 19"/>
          <p:cNvSpPr txBox="1"/>
          <p:nvPr/>
        </p:nvSpPr>
        <p:spPr>
          <a:xfrm>
            <a:off x="8385048" y="2651760"/>
            <a:ext cx="3017520" cy="1371600"/>
          </a:xfrm>
          <a:prstGeom prst="rect">
            <a:avLst/>
          </a:prstGeom>
          <a:noFill/>
          <a:ln/>
        </p:spPr>
        <p:txBody>
          <a:bodyPr wrap="square" lIns="0" tIns="0" rIns="0" bIns="0" rtlCol="0" anchor="ctr"/>
          <a:lstStyle/>
          <a:p>
            <a:pPr marL="0" indent="0">
              <a:lnSpc>
                <a:spcPct val="118000"/>
              </a:lnSpc>
              <a:buNone/>
            </a:pPr>
            <a:r>
              <a:rPr lang="en-US" sz="1150" dirty="0">
                <a:solidFill>
                  <a:srgbClr val="55617A"/>
                </a:solidFill>
              </a:rPr>
              <a:t>The anomaly is injected relative to seed time, but the query compares windows relative to now(). After an hour the injected rows drift into the baseline they are measured against and the z-scores collapse.</a:t>
            </a:r>
            <a:endParaRPr lang="en-US" sz="1150" dirty="0"/>
          </a:p>
        </p:txBody>
      </p:sp>
      <p:sp>
        <p:nvSpPr>
          <p:cNvPr id="22" name="fx2"/>
          <p:cNvSpPr/>
          <p:nvPr/>
        </p:nvSpPr>
        <p:spPr>
          <a:xfrm>
            <a:off x="8385048" y="4041648"/>
            <a:ext cx="3017520" cy="1481328"/>
          </a:xfrm>
          <a:prstGeom prst="roundRect">
            <a:avLst>
              <a:gd name="adj" fmla="val 4321"/>
            </a:avLst>
          </a:prstGeom>
          <a:solidFill>
            <a:srgbClr val="FFFFFF"/>
          </a:solidFill>
          <a:ln w="12700">
            <a:solidFill>
              <a:srgbClr val="0E7490"/>
            </a:solidFill>
            <a:prstDash val="solid"/>
          </a:ln>
        </p:spPr>
      </p:sp>
      <p:sp>
        <p:nvSpPr>
          <p:cNvPr id="23" name="Text 21"/>
          <p:cNvSpPr txBox="1"/>
          <p:nvPr/>
        </p:nvSpPr>
        <p:spPr>
          <a:xfrm>
            <a:off x="8531352" y="4151376"/>
            <a:ext cx="1097280" cy="219456"/>
          </a:xfrm>
          <a:prstGeom prst="rect">
            <a:avLst/>
          </a:prstGeom>
          <a:noFill/>
          <a:ln/>
        </p:spPr>
        <p:txBody>
          <a:bodyPr wrap="square" lIns="0" tIns="0" rIns="0" bIns="0" rtlCol="0" anchor="ctr"/>
          <a:lstStyle/>
          <a:p>
            <a:pPr marL="0" indent="0">
              <a:buNone/>
            </a:pPr>
            <a:r>
              <a:rPr lang="en-US" sz="900" b="1" kern="0" spc="120" dirty="0">
                <a:solidFill>
                  <a:srgbClr val="0E7490"/>
                </a:solidFill>
              </a:rPr>
              <a:t>FIXED</a:t>
            </a:r>
            <a:endParaRPr lang="en-US" sz="900" dirty="0"/>
          </a:p>
        </p:txBody>
      </p:sp>
      <p:sp>
        <p:nvSpPr>
          <p:cNvPr id="24" name="Text 22"/>
          <p:cNvSpPr txBox="1"/>
          <p:nvPr/>
        </p:nvSpPr>
        <p:spPr>
          <a:xfrm>
            <a:off x="8531352" y="4389120"/>
            <a:ext cx="2724912" cy="1060704"/>
          </a:xfrm>
          <a:prstGeom prst="rect">
            <a:avLst/>
          </a:prstGeom>
          <a:noFill/>
          <a:ln/>
        </p:spPr>
        <p:txBody>
          <a:bodyPr wrap="square" lIns="0" tIns="0" rIns="0" bIns="0" rtlCol="0" anchor="ctr"/>
          <a:lstStyle/>
          <a:p>
            <a:pPr marL="0" indent="0">
              <a:lnSpc>
                <a:spcPct val="115000"/>
              </a:lnSpc>
              <a:buNone/>
            </a:pPr>
            <a:r>
              <a:rPr lang="en-US" sz="1100" dirty="0">
                <a:solidFill>
                  <a:srgbClr val="55617A"/>
                </a:solidFill>
              </a:rPr>
              <a:t>make demo reverts the previous injection exactly and re-applies it at the current time, in one transaction. Run it before presenting.</a:t>
            </a:r>
            <a:endParaRPr lang="en-US" sz="1100" dirty="0"/>
          </a:p>
        </p:txBody>
      </p:sp>
      <p:sp>
        <p:nvSpPr>
          <p:cNvPr id="25" name="Text 23"/>
          <p:cNvSpPr txBox="1"/>
          <p:nvPr/>
        </p:nvSpPr>
        <p:spPr>
          <a:xfrm>
            <a:off x="502920" y="5870448"/>
            <a:ext cx="11155680" cy="365760"/>
          </a:xfrm>
          <a:prstGeom prst="rect">
            <a:avLst/>
          </a:prstGeom>
          <a:noFill/>
          <a:ln/>
        </p:spPr>
        <p:txBody>
          <a:bodyPr wrap="square" lIns="0" tIns="0" rIns="0" bIns="0" rtlCol="0" anchor="ctr"/>
          <a:lstStyle/>
          <a:p>
            <a:pPr marL="0" indent="0">
              <a:buNone/>
            </a:pPr>
            <a:r>
              <a:rPr lang="en-US" sz="1250" i="1" dirty="0">
                <a:solidFill>
                  <a:srgbClr val="67718A"/>
                </a:solidFill>
              </a:rPr>
              <a:t>Everything in this deck was run against a live PostgreSQL 16 database. 34 tests and 28 runtime self-checks pass.</a:t>
            </a:r>
            <a:endParaRPr lang="en-US" sz="1250" dirty="0"/>
          </a:p>
        </p:txBody>
      </p:sp>
      <p:sp>
        <p:nvSpPr>
          <p:cNvPr id="26" name="Slide Number Placeholder 0"/>
          <p:cNvSpPr>
            <a:spLocks noGrp="1"/>
          </p:cNvSpPr>
          <p:nvPr>
            <p:ph type="sldNum" sz="quarter" idx="4294967295"/>
          </p:nvPr>
        </p:nvSpPr>
        <p:spPr>
          <a:xfrm>
            <a:off x="1147572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7718A"/>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914400" y="2651760"/>
            <a:ext cx="10332720" cy="1005840"/>
          </a:xfrm>
          <a:prstGeom prst="rect">
            <a:avLst/>
          </a:prstGeom>
          <a:noFill/>
          <a:ln/>
        </p:spPr>
        <p:txBody>
          <a:bodyPr wrap="square" lIns="0" tIns="0" rIns="0" bIns="0" rtlCol="0"/>
          <a:lstStyle/>
          <a:p>
            <a:pPr marL="0" indent="0" algn="l">
              <a:buNone/>
            </a:pPr>
            <a:r>
              <a:rPr lang="en-US" sz="4000" b="1" dirty="0">
                <a:solidFill>
                  <a:schemeClr val="bg1"/>
                </a:solidFill>
                <a:latin typeface="Cambria" pitchFamily="34" charset="0"/>
                <a:ea typeface="Cambria" pitchFamily="34" charset="-122"/>
                <a:cs typeface="Cambria" pitchFamily="34" charset="-120"/>
              </a:rPr>
              <a:t>One database. Three capabilities. 73× faster.</a:t>
            </a:r>
            <a:endParaRPr lang="en-US" sz="4000" dirty="0"/>
          </a:p>
        </p:txBody>
      </p:sp>
      <p:sp>
        <p:nvSpPr>
          <p:cNvPr id="3" name="Text 0"/>
          <p:cNvSpPr>
            <a:spLocks noGrp="1"/>
          </p:cNvSpPr>
          <p:nvPr>
            <p:ph type="body" idx="101" hasCustomPrompt="1"/>
          </p:nvPr>
        </p:nvSpPr>
        <p:spPr>
          <a:xfrm>
            <a:off x="914400" y="3703320"/>
            <a:ext cx="9509760" cy="822960"/>
          </a:xfrm>
          <a:prstGeom prst="rect">
            <a:avLst/>
          </a:prstGeom>
          <a:noFill/>
          <a:ln/>
        </p:spPr>
        <p:txBody>
          <a:bodyPr wrap="square" lIns="0" tIns="0" rIns="0" bIns="0" rtlCol="0"/>
          <a:lstStyle/>
          <a:p>
            <a:pPr marL="0" indent="0" algn="l">
              <a:buNone/>
            </a:pPr>
            <a:r>
              <a:rPr lang="en-US" sz="1600" dirty="0">
                <a:solidFill>
                  <a:srgbClr val="C8D0DA"/>
                </a:solidFill>
              </a:rPr>
              <a:t>Run it yourself:  docker compose up -d  ·  make all  ·  make app</a:t>
            </a:r>
            <a:endParaRPr lang="en-US" sz="1600" dirty="0"/>
          </a:p>
        </p:txBody>
      </p:sp>
      <p:sp>
        <p:nvSpPr>
          <p:cNvPr id="4" name="c0"/>
          <p:cNvSpPr/>
          <p:nvPr/>
        </p:nvSpPr>
        <p:spPr>
          <a:xfrm>
            <a:off x="914400" y="4572000"/>
            <a:ext cx="4846320" cy="1508760"/>
          </a:xfrm>
          <a:prstGeom prst="roundRect">
            <a:avLst>
              <a:gd name="adj" fmla="val 6061"/>
            </a:avLst>
          </a:prstGeom>
          <a:solidFill>
            <a:srgbClr val="2A3542"/>
          </a:solidFill>
          <a:ln/>
        </p:spPr>
      </p:sp>
      <p:sp>
        <p:nvSpPr>
          <p:cNvPr id="5" name="Text 3"/>
          <p:cNvSpPr txBox="1"/>
          <p:nvPr/>
        </p:nvSpPr>
        <p:spPr>
          <a:xfrm>
            <a:off x="1188720" y="4754880"/>
            <a:ext cx="4297680" cy="274320"/>
          </a:xfrm>
          <a:prstGeom prst="rect">
            <a:avLst/>
          </a:prstGeom>
          <a:noFill/>
          <a:ln/>
        </p:spPr>
        <p:txBody>
          <a:bodyPr wrap="square" lIns="0" tIns="0" rIns="0" bIns="0" rtlCol="0" anchor="ctr"/>
          <a:lstStyle/>
          <a:p>
            <a:pPr marL="0" indent="0">
              <a:buNone/>
            </a:pPr>
            <a:r>
              <a:rPr lang="en-US" sz="1300" b="1" dirty="0">
                <a:solidFill>
                  <a:srgbClr val="E07A1F"/>
                </a:solidFill>
              </a:rPr>
              <a:t>Where it goes next</a:t>
            </a:r>
            <a:endParaRPr lang="en-US" sz="1300" dirty="0"/>
          </a:p>
        </p:txBody>
      </p:sp>
      <p:sp>
        <p:nvSpPr>
          <p:cNvPr id="6" name="Text 4"/>
          <p:cNvSpPr txBox="1"/>
          <p:nvPr/>
        </p:nvSpPr>
        <p:spPr>
          <a:xfrm>
            <a:off x="1188720" y="5047488"/>
            <a:ext cx="4297680" cy="914400"/>
          </a:xfrm>
          <a:prstGeom prst="rect">
            <a:avLst/>
          </a:prstGeom>
          <a:noFill/>
          <a:ln/>
        </p:spPr>
        <p:txBody>
          <a:bodyPr wrap="square" lIns="0" tIns="0" rIns="0" bIns="0" rtlCol="0" anchor="ctr"/>
          <a:lstStyle/>
          <a:p>
            <a:pPr marL="0" indent="0">
              <a:lnSpc>
                <a:spcPct val="118000"/>
              </a:lnSpc>
              <a:buNone/>
            </a:pPr>
            <a:r>
              <a:rPr lang="en-US" sz="1150" dirty="0">
                <a:solidFill>
                  <a:srgbClr val="B9C2CF"/>
                </a:solidFill>
              </a:rPr>
              <a:t>Streaming ingestion with logical replication; alert routing from the cascade result; compression policies on chunks older than 7 days.</a:t>
            </a:r>
            <a:endParaRPr lang="en-US" sz="1150" dirty="0"/>
          </a:p>
        </p:txBody>
      </p:sp>
      <p:sp>
        <p:nvSpPr>
          <p:cNvPr id="7" name="c1"/>
          <p:cNvSpPr/>
          <p:nvPr/>
        </p:nvSpPr>
        <p:spPr>
          <a:xfrm>
            <a:off x="6172200" y="4572000"/>
            <a:ext cx="4846320" cy="1508760"/>
          </a:xfrm>
          <a:prstGeom prst="roundRect">
            <a:avLst>
              <a:gd name="adj" fmla="val 6061"/>
            </a:avLst>
          </a:prstGeom>
          <a:solidFill>
            <a:srgbClr val="2A3542"/>
          </a:solidFill>
          <a:ln/>
        </p:spPr>
      </p:sp>
      <p:sp>
        <p:nvSpPr>
          <p:cNvPr id="8" name="Text 6"/>
          <p:cNvSpPr txBox="1"/>
          <p:nvPr/>
        </p:nvSpPr>
        <p:spPr>
          <a:xfrm>
            <a:off x="6446520" y="4754880"/>
            <a:ext cx="4297680" cy="274320"/>
          </a:xfrm>
          <a:prstGeom prst="rect">
            <a:avLst/>
          </a:prstGeom>
          <a:noFill/>
          <a:ln/>
        </p:spPr>
        <p:txBody>
          <a:bodyPr wrap="square" lIns="0" tIns="0" rIns="0" bIns="0" rtlCol="0" anchor="ctr"/>
          <a:lstStyle/>
          <a:p>
            <a:pPr marL="0" indent="0">
              <a:buNone/>
            </a:pPr>
            <a:r>
              <a:rPr lang="en-US" sz="1300" b="1" dirty="0">
                <a:solidFill>
                  <a:srgbClr val="5EC5D8"/>
                </a:solidFill>
              </a:rPr>
              <a:t>What it already proves</a:t>
            </a:r>
            <a:endParaRPr lang="en-US" sz="1300" dirty="0"/>
          </a:p>
        </p:txBody>
      </p:sp>
      <p:sp>
        <p:nvSpPr>
          <p:cNvPr id="9" name="Text 7"/>
          <p:cNvSpPr txBox="1"/>
          <p:nvPr/>
        </p:nvSpPr>
        <p:spPr>
          <a:xfrm>
            <a:off x="6446520" y="5047488"/>
            <a:ext cx="4297680" cy="914400"/>
          </a:xfrm>
          <a:prstGeom prst="rect">
            <a:avLst/>
          </a:prstGeom>
          <a:noFill/>
          <a:ln/>
        </p:spPr>
        <p:txBody>
          <a:bodyPr wrap="square" lIns="0" tIns="0" rIns="0" bIns="0" rtlCol="0" anchor="ctr"/>
          <a:lstStyle/>
          <a:p>
            <a:pPr marL="0" indent="0">
              <a:lnSpc>
                <a:spcPct val="118000"/>
              </a:lnSpc>
              <a:buNone/>
            </a:pPr>
            <a:r>
              <a:rPr lang="en-US" sz="1150" dirty="0">
                <a:solidFill>
                  <a:srgbClr val="B9C2CF"/>
                </a:solidFill>
              </a:rPr>
              <a:t>Time-series, graph and vector workloads coexist in PostgreSQL at plant scale — with one backup, one security model and joins across all three.</a:t>
            </a:r>
            <a:endParaRPr lang="en-US" sz="1150" dirty="0"/>
          </a:p>
        </p:txBody>
      </p:sp>
      <p:sp>
        <p:nvSpPr>
          <p:cNvPr id="10" name="cd0"/>
          <p:cNvSpPr/>
          <p:nvPr/>
        </p:nvSpPr>
        <p:spPr>
          <a:xfrm>
            <a:off x="914400" y="2103120"/>
            <a:ext cx="237744" cy="237744"/>
          </a:xfrm>
          <a:prstGeom prst="ellipse">
            <a:avLst/>
          </a:prstGeom>
          <a:solidFill>
            <a:srgbClr val="0E7490"/>
          </a:solidFill>
          <a:ln/>
        </p:spPr>
      </p:sp>
      <p:sp>
        <p:nvSpPr>
          <p:cNvPr id="11" name="cd1"/>
          <p:cNvSpPr/>
          <p:nvPr/>
        </p:nvSpPr>
        <p:spPr>
          <a:xfrm>
            <a:off x="1298448" y="2103120"/>
            <a:ext cx="237744" cy="237744"/>
          </a:xfrm>
          <a:prstGeom prst="ellipse">
            <a:avLst/>
          </a:prstGeom>
          <a:solidFill>
            <a:srgbClr val="4338CA"/>
          </a:solidFill>
          <a:ln/>
        </p:spPr>
      </p:sp>
      <p:sp>
        <p:nvSpPr>
          <p:cNvPr id="12" name="cd2"/>
          <p:cNvSpPr/>
          <p:nvPr/>
        </p:nvSpPr>
        <p:spPr>
          <a:xfrm>
            <a:off x="1682496" y="2103120"/>
            <a:ext cx="237744" cy="237744"/>
          </a:xfrm>
          <a:prstGeom prst="ellipse">
            <a:avLst/>
          </a:prstGeom>
          <a:solidFill>
            <a:srgbClr val="9D174D"/>
          </a:solidFill>
          <a:ln/>
        </p:spPr>
      </p:sp>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3708A"/>
                </a:solidFill>
              </a:defRPr>
            </a:lvl1pPr>
          </a:lstStyle>
          <a:p>
            <a:pPr algn="l"/>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InfraTwin">
  <a:themeElements>
    <a:clrScheme name="InfraTwin">
      <a:dk1>
        <a:srgbClr val="11151C"/>
      </a:dk1>
      <a:lt1>
        <a:srgbClr val="FFFFFF"/>
      </a:lt1>
      <a:dk2>
        <a:srgbClr val="1E2630"/>
      </a:dk2>
      <a:lt2>
        <a:srgbClr val="F2F4F6"/>
      </a:lt2>
      <a:accent1>
        <a:srgbClr val="E07A1F"/>
      </a:accent1>
      <a:accent2>
        <a:srgbClr val="0E7490"/>
      </a:accent2>
      <a:accent3>
        <a:srgbClr val="9D174D"/>
      </a:accent3>
      <a:accent4>
        <a:srgbClr val="15803D"/>
      </a:accent4>
      <a:accent5>
        <a:srgbClr val="4338CA"/>
      </a:accent5>
      <a:accent6>
        <a:srgbClr val="67718A"/>
      </a:accent6>
      <a:hlink>
        <a:srgbClr val="0E7490"/>
      </a:hlink>
      <a:folHlink>
        <a:srgbClr val="9D174D"/>
      </a:folHlink>
    </a:clrScheme>
    <a:fontScheme name="Infra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2914</Words>
  <Application>Microsoft Office PowerPoint</Application>
  <PresentationFormat>Widescreen</PresentationFormat>
  <Paragraphs>328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InfraTwin</vt:lpstr>
      <vt:lpstr>InfraTwin</vt:lpstr>
      <vt:lpstr>Three questions, three systems</vt:lpstr>
      <vt:lpstr>So we put all three in one database</vt:lpstr>
      <vt:lpstr>How it fits together</vt:lpstr>
      <vt:lpstr>Technology stack</vt:lpstr>
      <vt:lpstr>Database design</vt:lpstr>
      <vt:lpstr>Database relations</vt:lpstr>
      <vt:lpstr>Three design decisions worth defending</vt:lpstr>
      <vt:lpstr>Integrity lives in the database, not the application</vt:lpstr>
      <vt:lpstr>PowerPoint Presentation</vt:lpstr>
      <vt:lpstr>PowerPoint Presentation</vt:lpstr>
      <vt:lpstr>PowerPoint Presentation</vt:lpstr>
      <vt:lpstr>Measured, not estimated</vt:lpstr>
      <vt:lpstr>What we got wrong, and fixed</vt:lpstr>
      <vt:lpstr>One database. Three capabilities. 73× faster.</vt:lpstr>
    </vt:vector>
  </TitlesOfParts>
  <Company>DBTHON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InfraTwin - predictive maintenance on one PostgreSQL database</dc:title>
  <dc:subject>PptxGenJS Presentation</dc:subject>
  <dc:creator>InfraTwin team</dc:creator>
  <cp:lastModifiedBy>Aditya Chhabra</cp:lastModifiedBy>
  <cp:revision>1</cp:revision>
  <dcterms:created xsi:type="dcterms:W3CDTF">2026-10-08T05:04:49Z</dcterms:created>
  <dcterms:modified xsi:type="dcterms:W3CDTF">2026-10-08T07:08:24Z</dcterms:modified>
</cp:coreProperties>
</file>